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5"/>
  </p:sldMasterIdLst>
  <p:notesMasterIdLst>
    <p:notesMasterId r:id="rId7"/>
  </p:notesMasterIdLst>
  <p:handoutMasterIdLst>
    <p:handoutMasterId r:id="rId8"/>
  </p:handoutMasterIdLst>
  <p:sldIdLst>
    <p:sldId id="259" r:id="rId6"/>
  </p:sldIdLst>
  <p:sldSz cx="32399288" cy="43205400"/>
  <p:notesSz cx="6858000" cy="9144000"/>
  <p:defaultTextStyle>
    <a:defPPr>
      <a:defRPr lang="he-IL"/>
    </a:defPPr>
    <a:lvl1pPr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59000" indent="-1701800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4319588" indent="-3405188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6480175" indent="-5108575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8640763" indent="-6811963" algn="l" defTabSz="4319588" rtl="0" eaLnBrk="0" fontAlgn="base" hangingPunct="0">
      <a:spcBef>
        <a:spcPct val="0"/>
      </a:spcBef>
      <a:spcAft>
        <a:spcPct val="0"/>
      </a:spcAft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85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D26E93C3-6A02-4BDB-B582-751AAC33016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608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  <a:srgbClr val="E8773D"/>
    <a:srgbClr val="1A7A8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273" autoAdjust="0"/>
    <p:restoredTop sz="94003" autoAdjust="0"/>
  </p:normalViewPr>
  <p:slideViewPr>
    <p:cSldViewPr>
      <p:cViewPr>
        <p:scale>
          <a:sx n="25" d="100"/>
          <a:sy n="25" d="100"/>
        </p:scale>
        <p:origin x="816" y="-124"/>
      </p:cViewPr>
      <p:guideLst>
        <p:guide orient="horz" pos="13608"/>
        <p:guide pos="1020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21" d="100"/>
          <a:sy n="121" d="100"/>
        </p:scale>
        <p:origin x="416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F2848BA3-65B5-9CE8-5457-020CF80DAF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7795A76-9F84-447E-BB3C-0E99DC9A7893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32C7B179-2E6D-0F3E-3AA5-31C56C1F6C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A3B4240-7A02-3306-A010-8598FD9904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CE76302-23F1-4F8A-AFF7-68C9E725906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>
            <a:extLst>
              <a:ext uri="{FF2B5EF4-FFF2-40B4-BE49-F238E27FC236}">
                <a16:creationId xmlns:a16="http://schemas.microsoft.com/office/drawing/2014/main" id="{DB713015-E60D-C0F3-AA54-0D0FC4136D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2342818-AFE6-04E9-D584-09518AEE5B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20832A8-C210-4F33-AE43-195174582F37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4" name="מציין מיקום של תמונת שקופית 3">
            <a:extLst>
              <a:ext uri="{FF2B5EF4-FFF2-40B4-BE49-F238E27FC236}">
                <a16:creationId xmlns:a16="http://schemas.microsoft.com/office/drawing/2014/main" id="{8226FDC5-989C-BF91-346E-D814B236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>
            <a:extLst>
              <a:ext uri="{FF2B5EF4-FFF2-40B4-BE49-F238E27FC236}">
                <a16:creationId xmlns:a16="http://schemas.microsoft.com/office/drawing/2014/main" id="{C4799B09-5F3B-5842-1636-08A3A7D87F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838119-1D8B-E16B-441F-6C668EF167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BC2D3BC-F833-CA4B-E0EA-0575EC7AA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rtl="1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93A560B-3F5C-43F4-A174-91AE6E23805E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59000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19588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480175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640763" algn="r" defTabSz="4319588" rtl="1" eaLnBrk="0" fontAlgn="base" hangingPunct="0">
      <a:spcBef>
        <a:spcPct val="30000"/>
      </a:spcBef>
      <a:spcAft>
        <a:spcPct val="0"/>
      </a:spcAft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80135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296162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12189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282160" algn="r" defTabSz="4320540" rtl="1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C0F3-4906-FBB8-97F5-FECA15AF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מציין מיקום של תמונת שקופית 1">
            <a:extLst>
              <a:ext uri="{FF2B5EF4-FFF2-40B4-BE49-F238E27FC236}">
                <a16:creationId xmlns:a16="http://schemas.microsoft.com/office/drawing/2014/main" id="{9E959A30-0060-48E4-4E8F-E55559C856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מציין מיקום של הערות 2">
            <a:extLst>
              <a:ext uri="{FF2B5EF4-FFF2-40B4-BE49-F238E27FC236}">
                <a16:creationId xmlns:a16="http://schemas.microsoft.com/office/drawing/2014/main" id="{8089C9D0-CACE-F78E-D6A0-7CD8F4222E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he-IL" altLang="he-IL" dirty="0"/>
          </a:p>
        </p:txBody>
      </p:sp>
      <p:sp>
        <p:nvSpPr>
          <p:cNvPr id="15364" name="מציין מיקום של מספר שקופית 3">
            <a:extLst>
              <a:ext uri="{FF2B5EF4-FFF2-40B4-BE49-F238E27FC236}">
                <a16:creationId xmlns:a16="http://schemas.microsoft.com/office/drawing/2014/main" id="{26FA4E26-8639-EC5C-BBFD-7CE8B9CE8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30000"/>
              </a:spcBef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defTabSz="4319588" rtl="1" eaLnBrk="0" fontAlgn="base" hangingPunct="0">
              <a:spcBef>
                <a:spcPct val="30000"/>
              </a:spcBef>
              <a:spcAft>
                <a:spcPct val="0"/>
              </a:spcAft>
              <a:defRPr sz="57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</a:pPr>
            <a:fld id="{E87EBD30-EAB9-4B9A-BA4A-6BA3390DBE6B}" type="slidenum">
              <a:rPr lang="he-IL" altLang="he-IL" sz="1200" smtClean="0"/>
              <a:pPr algn="l">
                <a:spcBef>
                  <a:spcPct val="0"/>
                </a:spcBef>
              </a:pPr>
              <a:t>1</a:t>
            </a:fld>
            <a:endParaRPr lang="he-IL" altLang="he-IL" sz="1200"/>
          </a:p>
        </p:txBody>
      </p:sp>
    </p:spTree>
    <p:extLst>
      <p:ext uri="{BB962C8B-B14F-4D97-AF65-F5344CB8AC3E}">
        <p14:creationId xmlns:p14="http://schemas.microsoft.com/office/powerpoint/2010/main" val="3640775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446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619965" y="10081264"/>
            <a:ext cx="29159359" cy="2851356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0FEDBB-C8F6-42E4-F66F-93FDC6A2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68CE9EEE-6AB5-45AD-9FB2-02BB5B08798B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649503-D1FA-48F4-F5ED-5AA6D061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78A0DC1-D689-E89C-A19B-736431E9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8A12231-A109-4469-97F8-435614A629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63727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559320" y="27763474"/>
            <a:ext cx="27539395" cy="8581073"/>
          </a:xfrm>
          <a:prstGeom prst="rect">
            <a:avLst/>
          </a:prstGeom>
        </p:spPr>
        <p:txBody>
          <a:bodyPr anchor="t"/>
          <a:lstStyle>
            <a:lvl1pPr algn="r">
              <a:defRPr sz="189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2559320" y="18312295"/>
            <a:ext cx="27539395" cy="945117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60270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20540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8081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41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CB5305-3D4A-51E2-529C-F1486CF0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F0223FEA-D0D4-4859-AA8A-E2A4EFDE6830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A39721-D078-3F4D-BA85-E802D8D1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580AC5C-22A9-855F-ED50-5CEE0401C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9C14FCD-94FB-440C-B541-A5AE4DADB4B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418513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5743002" y="63507941"/>
            <a:ext cx="51394494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57677483" y="63507941"/>
            <a:ext cx="51394497" cy="179642453"/>
          </a:xfrm>
          <a:prstGeom prst="rect">
            <a:avLst/>
          </a:prstGeo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295C321-5736-9B3A-20F6-108071AE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58C302A-08B9-4825-9654-B73B34953AE7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8F5B535-50D6-CE43-01F5-3407CA76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157703F-DC3B-41E3-B625-D7B85256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5495EC9-8999-4217-A4B7-9DC4794C59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994375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619965" y="9671213"/>
            <a:ext cx="14315312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1619965" y="13701713"/>
            <a:ext cx="14315312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6458390" y="9671213"/>
            <a:ext cx="14320935" cy="40305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1300" b="1"/>
            </a:lvl1pPr>
            <a:lvl2pPr marL="2160270" indent="0">
              <a:buNone/>
              <a:defRPr sz="9500" b="1"/>
            </a:lvl2pPr>
            <a:lvl3pPr marL="4320540" indent="0">
              <a:buNone/>
              <a:defRPr sz="8500" b="1"/>
            </a:lvl3pPr>
            <a:lvl4pPr marL="6480810" indent="0">
              <a:buNone/>
              <a:defRPr sz="7600" b="1"/>
            </a:lvl4pPr>
            <a:lvl5pPr marL="8641080" indent="0">
              <a:buNone/>
              <a:defRPr sz="7600" b="1"/>
            </a:lvl5pPr>
            <a:lvl6pPr marL="10801350" indent="0">
              <a:buNone/>
              <a:defRPr sz="7600" b="1"/>
            </a:lvl6pPr>
            <a:lvl7pPr marL="12961620" indent="0">
              <a:buNone/>
              <a:defRPr sz="7600" b="1"/>
            </a:lvl7pPr>
            <a:lvl8pPr marL="15121890" indent="0">
              <a:buNone/>
              <a:defRPr sz="7600" b="1"/>
            </a:lvl8pPr>
            <a:lvl9pPr marL="17282160" indent="0">
              <a:buNone/>
              <a:defRPr sz="7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6458390" y="13701713"/>
            <a:ext cx="14320935" cy="24893114"/>
          </a:xfrm>
          <a:prstGeom prst="rect">
            <a:avLst/>
          </a:prstGeo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A634082-DD9B-A726-9BD1-C8F8DF9B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21A1918-2A6A-4839-98EA-0EBF0977D8DB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631EA81-F8AD-A730-0A50-23119BA8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F82B6D9-EB34-C539-328C-494884C2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BCBE21B-2B6C-4D11-AB2E-6AF6FB5AE2D7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40993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6B67FCD-BB45-AC11-0654-6D2B255A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25E352A1-907E-4DF5-89D4-707D0AA8EA97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8044744-4F40-C962-7883-E2FFB7F8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D207B73-E429-8F61-F30D-DB6F7236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264D37E-92A3-40D6-9467-8097877C145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57339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BBC5082-AF5F-FFAE-1919-C72612FF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5683FB42-B98B-4F15-AF70-E60A1DCFD56F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3C98F9A-C5FA-3C78-F2A2-58EACBC0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EF5914B-C953-D217-0F8E-6CBF7D5C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0E7FD5C-B32F-4823-ADCB-59DD5FE8D898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40338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7" y="1720216"/>
            <a:ext cx="10659142" cy="7320915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2667221" y="1720218"/>
            <a:ext cx="18112102" cy="36874612"/>
          </a:xfrm>
          <a:prstGeom prst="rect">
            <a:avLst/>
          </a:prstGeo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619967" y="9041133"/>
            <a:ext cx="10659142" cy="295536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EF6A2C-5CAC-1FE0-F52F-8225D9F64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D5C35976-970E-4CA3-BFD9-EE7A59D01FEC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AA95B7F-6AC8-86B3-EF2F-4DB1D4C3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86B0D65-49E4-52CE-67F5-5C841493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C965446-4229-4EA8-9B22-8F7C60A504CC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152347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50488" y="30243781"/>
            <a:ext cx="19439573" cy="3570449"/>
          </a:xfrm>
          <a:prstGeom prst="rect">
            <a:avLst/>
          </a:prstGeom>
        </p:spPr>
        <p:txBody>
          <a:bodyPr anchor="b"/>
          <a:lstStyle>
            <a:lvl1pPr algn="r">
              <a:defRPr sz="95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6350488" y="3860483"/>
            <a:ext cx="19439573" cy="259232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100"/>
            </a:lvl1pPr>
            <a:lvl2pPr marL="2160270" indent="0">
              <a:buNone/>
              <a:defRPr sz="13200"/>
            </a:lvl2pPr>
            <a:lvl3pPr marL="4320540" indent="0">
              <a:buNone/>
              <a:defRPr sz="11300"/>
            </a:lvl3pPr>
            <a:lvl4pPr marL="6480810" indent="0">
              <a:buNone/>
              <a:defRPr sz="9500"/>
            </a:lvl4pPr>
            <a:lvl5pPr marL="8641080" indent="0">
              <a:buNone/>
              <a:defRPr sz="9500"/>
            </a:lvl5pPr>
            <a:lvl6pPr marL="10801350" indent="0">
              <a:buNone/>
              <a:defRPr sz="9500"/>
            </a:lvl6pPr>
            <a:lvl7pPr marL="12961620" indent="0">
              <a:buNone/>
              <a:defRPr sz="9500"/>
            </a:lvl7pPr>
            <a:lvl8pPr marL="15121890" indent="0">
              <a:buNone/>
              <a:defRPr sz="9500"/>
            </a:lvl8pPr>
            <a:lvl9pPr marL="17282160" indent="0">
              <a:buNone/>
              <a:defRPr sz="9500"/>
            </a:lvl9pPr>
          </a:lstStyle>
          <a:p>
            <a:pPr lvl="0"/>
            <a:endParaRPr lang="he-IL" noProof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6350488" y="33814230"/>
            <a:ext cx="19439573" cy="50706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600"/>
            </a:lvl1pPr>
            <a:lvl2pPr marL="2160270" indent="0">
              <a:buNone/>
              <a:defRPr sz="5700"/>
            </a:lvl2pPr>
            <a:lvl3pPr marL="4320540" indent="0">
              <a:buNone/>
              <a:defRPr sz="4700"/>
            </a:lvl3pPr>
            <a:lvl4pPr marL="6480810" indent="0">
              <a:buNone/>
              <a:defRPr sz="4300"/>
            </a:lvl4pPr>
            <a:lvl5pPr marL="8641080" indent="0">
              <a:buNone/>
              <a:defRPr sz="4300"/>
            </a:lvl5pPr>
            <a:lvl6pPr marL="10801350" indent="0">
              <a:buNone/>
              <a:defRPr sz="4300"/>
            </a:lvl6pPr>
            <a:lvl7pPr marL="12961620" indent="0">
              <a:buNone/>
              <a:defRPr sz="4300"/>
            </a:lvl7pPr>
            <a:lvl8pPr marL="15121890" indent="0">
              <a:buNone/>
              <a:defRPr sz="4300"/>
            </a:lvl8pPr>
            <a:lvl9pPr marL="17282160" indent="0">
              <a:buNone/>
              <a:defRPr sz="43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641CAC8-4ED5-983F-FCE1-5C192B18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46AFD69E-0FE1-4124-80E3-40F9D34C6CE2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58C393A-BAC2-1A7E-2CAD-ADC2B1040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DDDBE70-4FDC-DC9E-2390-187FDBD9A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2551AAC-806D-4901-ADBE-F6AF4E5779BF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221633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19965" y="1730219"/>
            <a:ext cx="29159359" cy="7200900"/>
          </a:xfrm>
          <a:prstGeom prst="rect">
            <a:avLst/>
          </a:prstGeo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1619965" y="10081264"/>
            <a:ext cx="29159359" cy="2851356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2B9587F-7629-EBFB-ED1B-6E8D5BA8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C7AB82E0-787E-43E2-BD7F-426675C2181F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6357D10-E57E-72AD-3905-0EF7140D5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0FDF1EB-3FD1-48C5-6964-4702BC61B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C9FEA2-3C52-4520-8496-639D7CC35BD1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238392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3242547" y="10901365"/>
            <a:ext cx="25829433" cy="232249028"/>
          </a:xfrm>
          <a:prstGeom prst="rect">
            <a:avLst/>
          </a:prstGeo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5743003" y="10901365"/>
            <a:ext cx="76959559" cy="23224902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84D4C18-12A5-D7C1-7E82-2630E4B9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220126" y="40044689"/>
            <a:ext cx="7558564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0C393ED9-2E3E-4405-B19D-C0FAC804C521}" type="datetimeFigureOut">
              <a:rPr lang="he-IL"/>
              <a:pPr>
                <a:defRPr/>
              </a:pPr>
              <a:t>כ"ה/סיון/תשפ"ו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6BBA733-6B86-B644-4361-87A51B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69598" y="40044689"/>
            <a:ext cx="10260092" cy="2300287"/>
          </a:xfrm>
          <a:prstGeom prst="rect">
            <a:avLst/>
          </a:prstGeom>
        </p:spPr>
        <p:txBody>
          <a:bodyPr/>
          <a:lstStyle>
            <a:lvl1pPr algn="r" defTabSz="4320540" rtl="1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C0D585C-A3EA-05A6-C2F9-C125FDA1D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20600" y="40044689"/>
            <a:ext cx="7558564" cy="230028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FBA5E06-9577-4D8C-9A00-0B6B078439FD}" type="slidenum">
              <a:rPr lang="he-IL" altLang="he-IL"/>
              <a:pPr>
                <a:defRPr/>
              </a:pPr>
              <a:t>‹#›</a:t>
            </a:fld>
            <a:endParaRPr lang="he-IL" altLang="he-IL"/>
          </a:p>
        </p:txBody>
      </p:sp>
    </p:spTree>
    <p:extLst>
      <p:ext uri="{BB962C8B-B14F-4D97-AF65-F5344CB8AC3E}">
        <p14:creationId xmlns:p14="http://schemas.microsoft.com/office/powerpoint/2010/main" val="355060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CE1790A6-50DB-F538-88D4-587D38680000}"/>
              </a:ext>
            </a:extLst>
          </p:cNvPr>
          <p:cNvSpPr>
            <a:spLocks/>
          </p:cNvSpPr>
          <p:nvPr userDrawn="1"/>
        </p:nvSpPr>
        <p:spPr>
          <a:xfrm>
            <a:off x="0" y="-42863"/>
            <a:ext cx="32399288" cy="6480176"/>
          </a:xfrm>
          <a:prstGeom prst="rect">
            <a:avLst/>
          </a:prstGeom>
          <a:solidFill>
            <a:srgbClr val="FFF5E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defTabSz="4320540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he-IL" sz="8500"/>
          </a:p>
        </p:txBody>
      </p:sp>
      <p:pic>
        <p:nvPicPr>
          <p:cNvPr id="1027" name="Picture 2" descr="C:\Documents and Settings\adam\Desktop\Ben Gurion Logo.jpg">
            <a:extLst>
              <a:ext uri="{FF2B5EF4-FFF2-40B4-BE49-F238E27FC236}">
                <a16:creationId xmlns:a16="http://schemas.microsoft.com/office/drawing/2014/main" id="{2D370979-3C3B-361A-B5D2-AFCE761AC1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1350" y="1"/>
            <a:ext cx="21597938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ctr" defTabSz="4319588" rtl="1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2pPr>
      <a:lvl3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3pPr>
      <a:lvl4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4pPr>
      <a:lvl5pPr algn="ctr" defTabSz="4319588" rtl="1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5pPr>
      <a:lvl6pPr marL="4572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6pPr>
      <a:lvl7pPr marL="9144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7pPr>
      <a:lvl8pPr marL="13716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8pPr>
      <a:lvl9pPr marL="1828800" algn="ctr" defTabSz="4319588" rtl="1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itchFamily="34" charset="0"/>
          <a:cs typeface="Times New Roman" pitchFamily="18" charset="0"/>
        </a:defRPr>
      </a:lvl9pPr>
    </p:titleStyle>
    <p:bodyStyle>
      <a:lvl1pPr marL="1619250" indent="-161925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963" indent="-1349375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9675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0263" indent="-1079500" algn="r" defTabSz="4319588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r" defTabSz="4320540" rtl="1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r" defTabSz="4320540" rtl="1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7E0B64-F867-EF80-DE33-82643142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2" name="Group 14371">
            <a:extLst>
              <a:ext uri="{FF2B5EF4-FFF2-40B4-BE49-F238E27FC236}">
                <a16:creationId xmlns:a16="http://schemas.microsoft.com/office/drawing/2014/main" id="{39A227F3-21EA-D773-9C70-979D9176C506}"/>
              </a:ext>
            </a:extLst>
          </p:cNvPr>
          <p:cNvGrpSpPr/>
          <p:nvPr/>
        </p:nvGrpSpPr>
        <p:grpSpPr>
          <a:xfrm>
            <a:off x="18308668" y="24483020"/>
            <a:ext cx="13107164" cy="17425936"/>
            <a:chOff x="14060468" y="24813430"/>
            <a:chExt cx="17355364" cy="17639049"/>
          </a:xfrm>
        </p:grpSpPr>
        <p:grpSp>
          <p:nvGrpSpPr>
            <p:cNvPr id="14370" name="Group 14369">
              <a:extLst>
                <a:ext uri="{FF2B5EF4-FFF2-40B4-BE49-F238E27FC236}">
                  <a16:creationId xmlns:a16="http://schemas.microsoft.com/office/drawing/2014/main" id="{34CCB485-C461-F0BC-534F-C0669164188E}"/>
                </a:ext>
              </a:extLst>
            </p:cNvPr>
            <p:cNvGrpSpPr/>
            <p:nvPr/>
          </p:nvGrpSpPr>
          <p:grpSpPr>
            <a:xfrm>
              <a:off x="14060468" y="24813430"/>
              <a:ext cx="17355364" cy="17639049"/>
              <a:chOff x="2732712" y="25406449"/>
              <a:chExt cx="10220642" cy="12479215"/>
            </a:xfrm>
          </p:grpSpPr>
          <p:sp>
            <p:nvSpPr>
              <p:cNvPr id="14980" name="Rectangle 14979"/>
              <p:cNvSpPr/>
              <p:nvPr/>
            </p:nvSpPr>
            <p:spPr>
              <a:xfrm>
                <a:off x="2732712" y="25406449"/>
                <a:ext cx="10220642" cy="12479215"/>
              </a:xfrm>
              <a:prstGeom prst="roundRect">
                <a:avLst>
                  <a:gd name="adj" fmla="val 2484"/>
                </a:avLst>
              </a:prstGeom>
              <a:solidFill>
                <a:srgbClr val="F0F3F4"/>
              </a:solidFill>
              <a:ln w="19050">
                <a:solidFill>
                  <a:srgbClr val="E8773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4364" name="Rectangle 14980">
                <a:extLst>
                  <a:ext uri="{FF2B5EF4-FFF2-40B4-BE49-F238E27FC236}">
                    <a16:creationId xmlns:a16="http://schemas.microsoft.com/office/drawing/2014/main" id="{2AFCBC28-5F65-9254-2968-86FE8A211582}"/>
                  </a:ext>
                </a:extLst>
              </p:cNvPr>
              <p:cNvSpPr/>
              <p:nvPr/>
            </p:nvSpPr>
            <p:spPr>
              <a:xfrm>
                <a:off x="2732712" y="25625240"/>
                <a:ext cx="10220642" cy="930679"/>
              </a:xfrm>
              <a:prstGeom prst="roundRect">
                <a:avLst>
                  <a:gd name="adj" fmla="val 0"/>
                </a:avLst>
              </a:prstGeom>
              <a:solidFill>
                <a:srgbClr val="E8773D"/>
              </a:solidFill>
              <a:ln>
                <a:noFill/>
              </a:ln>
              <a:effectLst>
                <a:outerShdw blurRad="177800" dist="23000" dir="12000000" sx="40000" sy="40000" rotWithShape="0">
                  <a:srgbClr val="000000">
                    <a:alpha val="35000"/>
                  </a:srgb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2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4981" name="Rectangle 14980"/>
              <p:cNvSpPr/>
              <p:nvPr/>
            </p:nvSpPr>
            <p:spPr>
              <a:xfrm>
                <a:off x="2732712" y="25406452"/>
                <a:ext cx="10220642" cy="502920"/>
              </a:xfrm>
              <a:prstGeom prst="roundRect">
                <a:avLst>
                  <a:gd name="adj" fmla="val 50000"/>
                </a:avLst>
              </a:prstGeom>
              <a:solidFill>
                <a:srgbClr val="E8773D"/>
              </a:solidFill>
              <a:ln>
                <a:noFill/>
              </a:ln>
              <a:effectLst>
                <a:outerShdw blurRad="177800" dist="23000" dir="12000000" sx="1000" sy="1000" rotWithShape="0">
                  <a:srgbClr val="000000">
                    <a:alpha val="35000"/>
                  </a:srgb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4800" b="1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4371" name="TextBox 14370">
              <a:extLst>
                <a:ext uri="{FF2B5EF4-FFF2-40B4-BE49-F238E27FC236}">
                  <a16:creationId xmlns:a16="http://schemas.microsoft.com/office/drawing/2014/main" id="{87F7EE82-8283-0B17-4F58-429673EB7ACA}"/>
                </a:ext>
              </a:extLst>
            </p:cNvPr>
            <p:cNvSpPr txBox="1"/>
            <p:nvPr/>
          </p:nvSpPr>
          <p:spPr>
            <a:xfrm>
              <a:off x="20725757" y="24987076"/>
              <a:ext cx="4024793" cy="13396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he-IL" sz="80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תוצאות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B5610E37-1E55-1209-F8FC-9009E2A131AE}"/>
              </a:ext>
            </a:extLst>
          </p:cNvPr>
          <p:cNvSpPr/>
          <p:nvPr/>
        </p:nvSpPr>
        <p:spPr>
          <a:xfrm>
            <a:off x="-2382" y="1"/>
            <a:ext cx="32404051" cy="6378883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en-IL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5F21BE7-7F1B-6561-C94C-B10E7CC7D878}"/>
              </a:ext>
            </a:extLst>
          </p:cNvPr>
          <p:cNvGrpSpPr/>
          <p:nvPr/>
        </p:nvGrpSpPr>
        <p:grpSpPr>
          <a:xfrm>
            <a:off x="983457" y="2781837"/>
            <a:ext cx="30432375" cy="3521911"/>
            <a:chOff x="674758" y="2781837"/>
            <a:chExt cx="30432375" cy="3521911"/>
          </a:xfrm>
        </p:grpSpPr>
        <p:sp>
          <p:nvSpPr>
            <p:cNvPr id="14338" name="TextBox 6">
              <a:extLst>
                <a:ext uri="{FF2B5EF4-FFF2-40B4-BE49-F238E27FC236}">
                  <a16:creationId xmlns:a16="http://schemas.microsoft.com/office/drawing/2014/main" id="{CEA09501-7B0E-C8E7-2976-88274B211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758" y="2781837"/>
              <a:ext cx="30432375" cy="27089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319588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>
                <a:lnSpc>
                  <a:spcPts val="10000"/>
                </a:lnSpc>
              </a:pPr>
              <a:r>
                <a:rPr lang="he-IL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שימוש בכלים חישוביים לגילוי סמנים ביולוגיים </a:t>
              </a:r>
              <a:br>
                <a:rPr lang="en-US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he-IL" altLang="he-IL" sz="1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מנתוני ספירת דם</a:t>
              </a:r>
            </a:p>
          </p:txBody>
        </p:sp>
        <p:sp>
          <p:nvSpPr>
            <p:cNvPr id="14340" name="TextBox 10">
              <a:extLst>
                <a:ext uri="{FF2B5EF4-FFF2-40B4-BE49-F238E27FC236}">
                  <a16:creationId xmlns:a16="http://schemas.microsoft.com/office/drawing/2014/main" id="{9DCA0798-FD27-C326-DD8A-430228706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9633" y="5103419"/>
              <a:ext cx="21002625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68375"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68375" eaLnBrk="0" fontAlgn="base" hangingPunct="0">
                <a:spcBef>
                  <a:spcPct val="0"/>
                </a:spcBef>
                <a:spcAft>
                  <a:spcPct val="0"/>
                </a:spcAft>
                <a:defRPr sz="85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rtl="1" eaLnBrk="1" hangingPunct="1"/>
              <a:r>
                <a:rPr lang="he-IL" altLang="he-IL" sz="7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אופק וילקרסטון | מנחה: פרופ' נעה דגן</a:t>
              </a:r>
              <a:endParaRPr lang="en-US" altLang="he-IL" sz="7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4342" name="TextBox 1">
            <a:extLst>
              <a:ext uri="{FF2B5EF4-FFF2-40B4-BE49-F238E27FC236}">
                <a16:creationId xmlns:a16="http://schemas.microsoft.com/office/drawing/2014/main" id="{BD7AD89D-0925-7571-62FA-FC1B6B470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54" y="362187"/>
            <a:ext cx="520223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he-IL" altLang="he-IL" sz="7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en-US" altLang="he-IL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תמונה 4">
            <a:extLst>
              <a:ext uri="{FF2B5EF4-FFF2-40B4-BE49-F238E27FC236}">
                <a16:creationId xmlns:a16="http://schemas.microsoft.com/office/drawing/2014/main" id="{D2BEE38C-F7CB-4D36-D425-A889497CE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7502" y="169093"/>
            <a:ext cx="13198805" cy="2135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823F7A04-2A1E-27B4-42EA-0F2096379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4420" y="1551345"/>
            <a:ext cx="8523916" cy="12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319588" eaLnBrk="0" fontAlgn="base" hangingPunct="0">
              <a:spcBef>
                <a:spcPct val="0"/>
              </a:spcBef>
              <a:spcAft>
                <a:spcPct val="0"/>
              </a:spcAft>
              <a:defRPr sz="8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 eaLnBrk="1" hangingPunct="1">
              <a:lnSpc>
                <a:spcPts val="10000"/>
              </a:lnSpc>
            </a:pPr>
            <a:r>
              <a:rPr lang="he-IL" altLang="he-IL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התוכנית להנדסת מערכות מידע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C3779-5BBA-DFE6-D36F-D60F241CE7CA}"/>
              </a:ext>
            </a:extLst>
          </p:cNvPr>
          <p:cNvSpPr/>
          <p:nvPr/>
        </p:nvSpPr>
        <p:spPr>
          <a:xfrm>
            <a:off x="0" y="42245280"/>
            <a:ext cx="32399288" cy="9601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7317BF-2BF5-AA34-5A2B-6DEC934FA76E}"/>
              </a:ext>
            </a:extLst>
          </p:cNvPr>
          <p:cNvGrpSpPr/>
          <p:nvPr/>
        </p:nvGrpSpPr>
        <p:grpSpPr>
          <a:xfrm>
            <a:off x="628254" y="12817723"/>
            <a:ext cx="31080082" cy="10903338"/>
            <a:chOff x="14060468" y="24634435"/>
            <a:chExt cx="17355364" cy="1355325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22338D8-14D7-E84E-61D1-63AC5A1FBBCC}"/>
                </a:ext>
              </a:extLst>
            </p:cNvPr>
            <p:cNvGrpSpPr/>
            <p:nvPr/>
          </p:nvGrpSpPr>
          <p:grpSpPr>
            <a:xfrm>
              <a:off x="14060468" y="24813430"/>
              <a:ext cx="17355364" cy="13374262"/>
              <a:chOff x="2732712" y="25406452"/>
              <a:chExt cx="10220642" cy="9461979"/>
            </a:xfrm>
          </p:grpSpPr>
          <p:sp>
            <p:nvSpPr>
              <p:cNvPr id="10" name="Rectangle 14979">
                <a:extLst>
                  <a:ext uri="{FF2B5EF4-FFF2-40B4-BE49-F238E27FC236}">
                    <a16:creationId xmlns:a16="http://schemas.microsoft.com/office/drawing/2014/main" id="{60D456B6-DBD6-99E3-8B2B-CD5DC5EF1BDE}"/>
                  </a:ext>
                </a:extLst>
              </p:cNvPr>
              <p:cNvSpPr/>
              <p:nvPr/>
            </p:nvSpPr>
            <p:spPr>
              <a:xfrm>
                <a:off x="2732712" y="25406454"/>
                <a:ext cx="10220642" cy="9461977"/>
              </a:xfrm>
              <a:prstGeom prst="roundRect">
                <a:avLst>
                  <a:gd name="adj" fmla="val 2484"/>
                </a:avLst>
              </a:prstGeom>
              <a:solidFill>
                <a:srgbClr val="F0F3F4"/>
              </a:solidFill>
              <a:ln w="19050">
                <a:solidFill>
                  <a:srgbClr val="2C3E5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ectangle 14980">
                <a:extLst>
                  <a:ext uri="{FF2B5EF4-FFF2-40B4-BE49-F238E27FC236}">
                    <a16:creationId xmlns:a16="http://schemas.microsoft.com/office/drawing/2014/main" id="{EC636BE3-C3F7-10BD-2170-C5C9B33ECE78}"/>
                  </a:ext>
                </a:extLst>
              </p:cNvPr>
              <p:cNvSpPr/>
              <p:nvPr/>
            </p:nvSpPr>
            <p:spPr>
              <a:xfrm>
                <a:off x="2732712" y="25625240"/>
                <a:ext cx="10220642" cy="930679"/>
              </a:xfrm>
              <a:prstGeom prst="roundRect">
                <a:avLst>
                  <a:gd name="adj" fmla="val 0"/>
                </a:avLst>
              </a:prstGeom>
              <a:solidFill>
                <a:srgbClr val="2C3E50"/>
              </a:solidFill>
              <a:ln>
                <a:noFill/>
              </a:ln>
              <a:effectLst>
                <a:outerShdw blurRad="177800" dist="23000" dir="12000000" sx="40000" sy="40000" rotWithShape="0">
                  <a:srgbClr val="000000">
                    <a:alpha val="35000"/>
                  </a:srgb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26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12" name="Rectangle 14980">
                <a:extLst>
                  <a:ext uri="{FF2B5EF4-FFF2-40B4-BE49-F238E27FC236}">
                    <a16:creationId xmlns:a16="http://schemas.microsoft.com/office/drawing/2014/main" id="{321F930F-4591-DBD7-362C-A0DEB7E28246}"/>
                  </a:ext>
                </a:extLst>
              </p:cNvPr>
              <p:cNvSpPr/>
              <p:nvPr/>
            </p:nvSpPr>
            <p:spPr>
              <a:xfrm>
                <a:off x="2732712" y="25406452"/>
                <a:ext cx="10220642" cy="502920"/>
              </a:xfrm>
              <a:prstGeom prst="roundRect">
                <a:avLst>
                  <a:gd name="adj" fmla="val 50000"/>
                </a:avLst>
              </a:prstGeom>
              <a:solidFill>
                <a:srgbClr val="2C3E50"/>
              </a:solidFill>
              <a:ln>
                <a:noFill/>
              </a:ln>
              <a:effectLst>
                <a:outerShdw blurRad="177800" dist="23000" dir="12000000" sx="1000" sy="1000" rotWithShape="0">
                  <a:srgbClr val="000000">
                    <a:alpha val="35000"/>
                  </a:srgb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sz="4800" b="1" dirty="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492EAD-215A-741A-A89E-1C0622DF5FB3}"/>
                </a:ext>
              </a:extLst>
            </p:cNvPr>
            <p:cNvSpPr txBox="1"/>
            <p:nvPr/>
          </p:nvSpPr>
          <p:spPr>
            <a:xfrm>
              <a:off x="19475581" y="24634435"/>
              <a:ext cx="6525164" cy="14376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he-IL" sz="80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ארכיטקטורה</a:t>
              </a:r>
              <a:endParaRPr lang="LID4096" sz="8000" b="1" spc="0" baseline="0" dirty="0">
                <a:ln/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  <a:rtl val="0"/>
              </a:endParaRPr>
            </a:p>
          </p:txBody>
        </p:sp>
      </p:grpSp>
      <p:grpSp>
        <p:nvGrpSpPr>
          <p:cNvPr id="14369" name="Group 14368">
            <a:extLst>
              <a:ext uri="{FF2B5EF4-FFF2-40B4-BE49-F238E27FC236}">
                <a16:creationId xmlns:a16="http://schemas.microsoft.com/office/drawing/2014/main" id="{7BB8E75F-8FB9-AB54-64A7-9155EEE195AB}"/>
              </a:ext>
            </a:extLst>
          </p:cNvPr>
          <p:cNvGrpSpPr/>
          <p:nvPr/>
        </p:nvGrpSpPr>
        <p:grpSpPr>
          <a:xfrm>
            <a:off x="983457" y="14505302"/>
            <a:ext cx="30439276" cy="8969606"/>
            <a:chOff x="830220" y="13668896"/>
            <a:chExt cx="30439276" cy="897076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460E2CE-E73C-F72B-126C-E756CFCFECB8}"/>
                </a:ext>
              </a:extLst>
            </p:cNvPr>
            <p:cNvSpPr/>
            <p:nvPr/>
          </p:nvSpPr>
          <p:spPr>
            <a:xfrm>
              <a:off x="6325172" y="18168368"/>
              <a:ext cx="791074" cy="34394"/>
            </a:xfrm>
            <a:custGeom>
              <a:avLst/>
              <a:gdLst>
                <a:gd name="csX0" fmla="*/ 0 w 791074"/>
                <a:gd name="csY0" fmla="*/ 0 h 34394"/>
                <a:gd name="csX1" fmla="*/ 791074 w 791074"/>
                <a:gd name="csY1" fmla="*/ 0 h 34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91074" h="34394">
                  <a:moveTo>
                    <a:pt x="0" y="0"/>
                  </a:moveTo>
                  <a:lnTo>
                    <a:pt x="791074" y="0"/>
                  </a:lnTo>
                </a:path>
              </a:pathLst>
            </a:custGeom>
            <a:ln w="85963" cap="flat">
              <a:solidFill>
                <a:srgbClr val="1A7A8A"/>
              </a:solidFill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6E6E8D6-9E96-1864-DC7A-ED4278F1C9E1}"/>
                </a:ext>
              </a:extLst>
            </p:cNvPr>
            <p:cNvSpPr/>
            <p:nvPr/>
          </p:nvSpPr>
          <p:spPr>
            <a:xfrm>
              <a:off x="7219430" y="13697078"/>
              <a:ext cx="4471288" cy="8942578"/>
            </a:xfrm>
            <a:prstGeom prst="roundRect">
              <a:avLst>
                <a:gd name="adj" fmla="val 6153"/>
              </a:avLst>
            </a:prstGeom>
            <a:solidFill>
              <a:srgbClr val="2C3E50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BF3B2A8-8639-EC2C-EEDF-3CA90B3295AC}"/>
                </a:ext>
              </a:extLst>
            </p:cNvPr>
            <p:cNvSpPr txBox="1"/>
            <p:nvPr/>
          </p:nvSpPr>
          <p:spPr>
            <a:xfrm>
              <a:off x="7705811" y="14288377"/>
              <a:ext cx="361150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4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Pre-processing</a:t>
              </a:r>
            </a:p>
          </p:txBody>
        </p:sp>
        <p:grpSp>
          <p:nvGrpSpPr>
            <p:cNvPr id="34" name="Graphic 7">
              <a:extLst>
                <a:ext uri="{FF2B5EF4-FFF2-40B4-BE49-F238E27FC236}">
                  <a16:creationId xmlns:a16="http://schemas.microsoft.com/office/drawing/2014/main" id="{3D3ECE86-1A93-6072-05B9-B6BE7B59DD8F}"/>
                </a:ext>
              </a:extLst>
            </p:cNvPr>
            <p:cNvGrpSpPr/>
            <p:nvPr/>
          </p:nvGrpSpPr>
          <p:grpSpPr>
            <a:xfrm>
              <a:off x="7763160" y="16390104"/>
              <a:ext cx="3568734" cy="4422495"/>
              <a:chOff x="8227759" y="15043598"/>
              <a:chExt cx="3568734" cy="4422495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58F6EFA-8012-1801-8D18-BDF116976706}"/>
                  </a:ext>
                </a:extLst>
              </p:cNvPr>
              <p:cNvSpPr txBox="1"/>
              <p:nvPr/>
            </p:nvSpPr>
            <p:spPr>
              <a:xfrm>
                <a:off x="8227759" y="15043598"/>
                <a:ext cx="356873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90-day lookback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E5302F-A5DD-552C-A99D-AA54460E1219}"/>
                  </a:ext>
                </a:extLst>
              </p:cNvPr>
              <p:cNvSpPr txBox="1"/>
              <p:nvPr/>
            </p:nvSpPr>
            <p:spPr>
              <a:xfrm>
                <a:off x="8345150" y="15662699"/>
                <a:ext cx="321927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First 24h index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849CDE7-A5F1-1FD5-81B8-BE8039600D5C}"/>
                  </a:ext>
                </a:extLst>
              </p:cNvPr>
              <p:cNvSpPr txBox="1"/>
              <p:nvPr/>
            </p:nvSpPr>
            <p:spPr>
              <a:xfrm>
                <a:off x="8346074" y="16281801"/>
                <a:ext cx="321863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Last value agg.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65545D2-88D5-4283-261D-1E867AED442A}"/>
                  </a:ext>
                </a:extLst>
              </p:cNvPr>
              <p:cNvSpPr txBox="1"/>
              <p:nvPr/>
            </p:nvSpPr>
            <p:spPr>
              <a:xfrm>
                <a:off x="8589086" y="16900903"/>
                <a:ext cx="24979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Imputation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6FB02A-9CFF-1183-0B9D-824173710644}"/>
                  </a:ext>
                </a:extLst>
              </p:cNvPr>
              <p:cNvSpPr txBox="1"/>
              <p:nvPr/>
            </p:nvSpPr>
            <p:spPr>
              <a:xfrm>
                <a:off x="8380586" y="17520004"/>
                <a:ext cx="311931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Normalization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47FD86-2F8B-72C9-D5CF-BCB62EFEFE8A}"/>
                  </a:ext>
                </a:extLst>
              </p:cNvPr>
              <p:cNvSpPr txBox="1"/>
              <p:nvPr/>
            </p:nvSpPr>
            <p:spPr>
              <a:xfrm>
                <a:off x="8267645" y="18139106"/>
                <a:ext cx="344927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Train / Test split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80109C4-1FAC-F77C-CF3F-0A23959D4694}"/>
                  </a:ext>
                </a:extLst>
              </p:cNvPr>
              <p:cNvSpPr txBox="1"/>
              <p:nvPr/>
            </p:nvSpPr>
            <p:spPr>
              <a:xfrm>
                <a:off x="8766517" y="18758207"/>
                <a:ext cx="196399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>
                    <a:ln/>
                    <a:solidFill>
                      <a:srgbClr val="A0B0C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(80 / 20)</a:t>
                </a: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5BA2136-6EF0-4D13-28E4-4221E97C42DC}"/>
                </a:ext>
              </a:extLst>
            </p:cNvPr>
            <p:cNvSpPr/>
            <p:nvPr/>
          </p:nvSpPr>
          <p:spPr>
            <a:xfrm>
              <a:off x="11759508" y="18168368"/>
              <a:ext cx="791074" cy="34394"/>
            </a:xfrm>
            <a:custGeom>
              <a:avLst/>
              <a:gdLst>
                <a:gd name="csX0" fmla="*/ 0 w 791074"/>
                <a:gd name="csY0" fmla="*/ 0 h 34394"/>
                <a:gd name="csX1" fmla="*/ 791074 w 791074"/>
                <a:gd name="csY1" fmla="*/ 0 h 34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91074" h="34394">
                  <a:moveTo>
                    <a:pt x="0" y="0"/>
                  </a:moveTo>
                  <a:lnTo>
                    <a:pt x="791074" y="0"/>
                  </a:lnTo>
                </a:path>
              </a:pathLst>
            </a:custGeom>
            <a:ln w="85963" cap="flat">
              <a:solidFill>
                <a:srgbClr val="E8773D"/>
              </a:solidFill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grpSp>
          <p:nvGrpSpPr>
            <p:cNvPr id="14979" name="Group 14978">
              <a:extLst>
                <a:ext uri="{FF2B5EF4-FFF2-40B4-BE49-F238E27FC236}">
                  <a16:creationId xmlns:a16="http://schemas.microsoft.com/office/drawing/2014/main" id="{622F32E6-CCC3-CCB2-6BE6-70C2BF047654}"/>
                </a:ext>
              </a:extLst>
            </p:cNvPr>
            <p:cNvGrpSpPr/>
            <p:nvPr/>
          </p:nvGrpSpPr>
          <p:grpSpPr>
            <a:xfrm>
              <a:off x="12685792" y="13697078"/>
              <a:ext cx="12725976" cy="8942578"/>
              <a:chOff x="12653766" y="13009188"/>
              <a:chExt cx="12725976" cy="9630468"/>
            </a:xfrm>
          </p:grpSpPr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BEC824DE-1845-B067-70BA-B5789AC0A906}"/>
                  </a:ext>
                </a:extLst>
              </p:cNvPr>
              <p:cNvSpPr/>
              <p:nvPr/>
            </p:nvSpPr>
            <p:spPr>
              <a:xfrm>
                <a:off x="12653766" y="13009188"/>
                <a:ext cx="12725976" cy="9630468"/>
              </a:xfrm>
              <a:prstGeom prst="roundRect">
                <a:avLst>
                  <a:gd name="adj" fmla="val 2666"/>
                </a:avLst>
              </a:prstGeom>
              <a:solidFill>
                <a:srgbClr val="FFF3EC"/>
              </a:solidFill>
              <a:ln w="68771" cap="flat">
                <a:solidFill>
                  <a:srgbClr val="E8773D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873768F-5203-8E3E-4FEE-E61FB9E0B9F6}"/>
                  </a:ext>
                </a:extLst>
              </p:cNvPr>
              <p:cNvSpPr txBox="1"/>
              <p:nvPr/>
            </p:nvSpPr>
            <p:spPr>
              <a:xfrm>
                <a:off x="14386897" y="13147850"/>
                <a:ext cx="925971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4400" b="1" spc="0" baseline="0" dirty="0">
                    <a:ln/>
                    <a:solidFill>
                      <a:srgbClr val="E8773D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Interchangeable Logic — Plug-and-Play</a:t>
                </a:r>
              </a:p>
            </p:txBody>
          </p:sp>
          <p:grpSp>
            <p:nvGrpSpPr>
              <p:cNvPr id="14978" name="Group 14977">
                <a:extLst>
                  <a:ext uri="{FF2B5EF4-FFF2-40B4-BE49-F238E27FC236}">
                    <a16:creationId xmlns:a16="http://schemas.microsoft.com/office/drawing/2014/main" id="{CB6D2A50-80FB-3649-2035-4373AEAB2D96}"/>
                  </a:ext>
                </a:extLst>
              </p:cNvPr>
              <p:cNvGrpSpPr/>
              <p:nvPr/>
            </p:nvGrpSpPr>
            <p:grpSpPr>
              <a:xfrm>
                <a:off x="13066501" y="21120719"/>
                <a:ext cx="11900507" cy="1238203"/>
                <a:chOff x="13066500" y="19888094"/>
                <a:chExt cx="11900507" cy="1238203"/>
              </a:xfrm>
            </p:grpSpPr>
            <p:sp>
              <p:nvSpPr>
                <p:cNvPr id="14336" name="Rectangle: Rounded Corners 14335">
                  <a:extLst>
                    <a:ext uri="{FF2B5EF4-FFF2-40B4-BE49-F238E27FC236}">
                      <a16:creationId xmlns:a16="http://schemas.microsoft.com/office/drawing/2014/main" id="{AD8ACCE3-B968-2469-F7B0-95D67C79B0B1}"/>
                    </a:ext>
                  </a:extLst>
                </p:cNvPr>
                <p:cNvSpPr/>
                <p:nvPr/>
              </p:nvSpPr>
              <p:spPr>
                <a:xfrm>
                  <a:off x="13066500" y="19888094"/>
                  <a:ext cx="11900507" cy="1238203"/>
                </a:xfrm>
                <a:prstGeom prst="roundRect">
                  <a:avLst>
                    <a:gd name="adj" fmla="val 16666"/>
                  </a:avLst>
                </a:prstGeom>
                <a:solidFill>
                  <a:srgbClr val="7F8C8D"/>
                </a:solidFill>
                <a:ln w="3438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LID4096" sz="16600"/>
                </a:p>
              </p:txBody>
            </p:sp>
            <p:sp>
              <p:nvSpPr>
                <p:cNvPr id="14337" name="TextBox 14336">
                  <a:extLst>
                    <a:ext uri="{FF2B5EF4-FFF2-40B4-BE49-F238E27FC236}">
                      <a16:creationId xmlns:a16="http://schemas.microsoft.com/office/drawing/2014/main" id="{7C8307A1-DEB1-25D4-67AA-393C45A686E2}"/>
                    </a:ext>
                  </a:extLst>
                </p:cNvPr>
                <p:cNvSpPr txBox="1"/>
                <p:nvPr/>
              </p:nvSpPr>
              <p:spPr>
                <a:xfrm>
                  <a:off x="14176390" y="20153252"/>
                  <a:ext cx="9680727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LID4096" sz="4000" b="1" spc="0" baseline="0" dirty="0">
                      <a:ln/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  <a:rtl val="0"/>
                    </a:rPr>
                    <a:t>Baseline: Logistic Regression (all 14 features)</a:t>
                  </a:r>
                </a:p>
              </p:txBody>
            </p:sp>
          </p:grpSp>
        </p:grpSp>
        <p:grpSp>
          <p:nvGrpSpPr>
            <p:cNvPr id="14975" name="Group 14974">
              <a:extLst>
                <a:ext uri="{FF2B5EF4-FFF2-40B4-BE49-F238E27FC236}">
                  <a16:creationId xmlns:a16="http://schemas.microsoft.com/office/drawing/2014/main" id="{B4C8CC9F-249D-1CB0-E167-085322BC1955}"/>
                </a:ext>
              </a:extLst>
            </p:cNvPr>
            <p:cNvGrpSpPr/>
            <p:nvPr/>
          </p:nvGrpSpPr>
          <p:grpSpPr>
            <a:xfrm>
              <a:off x="13078860" y="14635256"/>
              <a:ext cx="5709491" cy="2545195"/>
              <a:chOff x="13130281" y="14109813"/>
              <a:chExt cx="5709491" cy="2545195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BEA23B74-A9B3-5D53-CDBC-332177B8FA4C}"/>
                  </a:ext>
                </a:extLst>
              </p:cNvPr>
              <p:cNvSpPr/>
              <p:nvPr/>
            </p:nvSpPr>
            <p:spPr>
              <a:xfrm>
                <a:off x="13130281" y="14109813"/>
                <a:ext cx="5709491" cy="2545195"/>
              </a:xfrm>
              <a:prstGeom prst="roundRect">
                <a:avLst>
                  <a:gd name="adj" fmla="val 8108"/>
                </a:avLst>
              </a:prstGeom>
              <a:solidFill>
                <a:srgbClr val="2C3E5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91EAA76-6F0E-73D6-4E19-BF5AC48DD2B0}"/>
                  </a:ext>
                </a:extLst>
              </p:cNvPr>
              <p:cNvSpPr txBox="1"/>
              <p:nvPr/>
            </p:nvSpPr>
            <p:spPr>
              <a:xfrm>
                <a:off x="13604278" y="14391748"/>
                <a:ext cx="476149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M1 — Threshold Opt.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2594DD3-2A21-9FAE-1CD1-6FA472E5FE9B}"/>
                  </a:ext>
                </a:extLst>
              </p:cNvPr>
              <p:cNvSpPr txBox="1"/>
              <p:nvPr/>
            </p:nvSpPr>
            <p:spPr>
              <a:xfrm>
                <a:off x="14492374" y="14991183"/>
                <a:ext cx="29853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>
                    <a:ln/>
                    <a:solidFill>
                      <a:srgbClr val="A0B8C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Youden's Index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C35BA6A-191A-C610-BBF1-B5F51196EA23}"/>
                  </a:ext>
                </a:extLst>
              </p:cNvPr>
              <p:cNvSpPr txBox="1"/>
              <p:nvPr/>
            </p:nvSpPr>
            <p:spPr>
              <a:xfrm>
                <a:off x="14286388" y="15541496"/>
                <a:ext cx="33972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A0B8C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Literature cutoffs</a:t>
                </a:r>
              </a:p>
            </p:txBody>
          </p:sp>
        </p:grpSp>
        <p:grpSp>
          <p:nvGrpSpPr>
            <p:cNvPr id="14585" name="Group 14584">
              <a:extLst>
                <a:ext uri="{FF2B5EF4-FFF2-40B4-BE49-F238E27FC236}">
                  <a16:creationId xmlns:a16="http://schemas.microsoft.com/office/drawing/2014/main" id="{3CB32794-355F-4BCE-DA1C-3552816A0601}"/>
                </a:ext>
              </a:extLst>
            </p:cNvPr>
            <p:cNvGrpSpPr/>
            <p:nvPr/>
          </p:nvGrpSpPr>
          <p:grpSpPr>
            <a:xfrm>
              <a:off x="19309209" y="14673098"/>
              <a:ext cx="5709491" cy="2545195"/>
              <a:chOff x="19367904" y="14109813"/>
              <a:chExt cx="5709491" cy="2545195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F4700ACA-C073-7E12-30FB-9774F7FA32B3}"/>
                  </a:ext>
                </a:extLst>
              </p:cNvPr>
              <p:cNvSpPr/>
              <p:nvPr/>
            </p:nvSpPr>
            <p:spPr>
              <a:xfrm>
                <a:off x="19367904" y="14109813"/>
                <a:ext cx="5709491" cy="2545195"/>
              </a:xfrm>
              <a:prstGeom prst="roundRect">
                <a:avLst>
                  <a:gd name="adj" fmla="val 8108"/>
                </a:avLst>
              </a:prstGeom>
              <a:solidFill>
                <a:srgbClr val="2C3E5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B6A7BE0-6388-F19D-39C0-E9C28B54EFCE}"/>
                  </a:ext>
                </a:extLst>
              </p:cNvPr>
              <p:cNvSpPr txBox="1"/>
              <p:nvPr/>
            </p:nvSpPr>
            <p:spPr>
              <a:xfrm>
                <a:off x="19767906" y="14391748"/>
                <a:ext cx="490948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M2 — Random Search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CC8BB52-997C-2DE3-9478-41F9418C4C27}"/>
                  </a:ext>
                </a:extLst>
              </p:cNvPr>
              <p:cNvSpPr txBox="1"/>
              <p:nvPr/>
            </p:nvSpPr>
            <p:spPr>
              <a:xfrm>
                <a:off x="20608297" y="14991183"/>
                <a:ext cx="322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A0B8C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10,000 formulas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A3F69FC-BA9F-E60D-88C4-EDDD4DFE76E7}"/>
                  </a:ext>
                </a:extLst>
              </p:cNvPr>
              <p:cNvSpPr txBox="1"/>
              <p:nvPr/>
            </p:nvSpPr>
            <p:spPr>
              <a:xfrm>
                <a:off x="21179736" y="15541496"/>
                <a:ext cx="208582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A0B8C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± × ÷ √ log</a:t>
                </a:r>
              </a:p>
            </p:txBody>
          </p:sp>
        </p:grpSp>
        <p:grpSp>
          <p:nvGrpSpPr>
            <p:cNvPr id="14977" name="Group 14976">
              <a:extLst>
                <a:ext uri="{FF2B5EF4-FFF2-40B4-BE49-F238E27FC236}">
                  <a16:creationId xmlns:a16="http://schemas.microsoft.com/office/drawing/2014/main" id="{E9ABD2D4-2ECE-EE5B-EE45-2F7EC7BFB9C5}"/>
                </a:ext>
              </a:extLst>
            </p:cNvPr>
            <p:cNvGrpSpPr/>
            <p:nvPr/>
          </p:nvGrpSpPr>
          <p:grpSpPr>
            <a:xfrm>
              <a:off x="13078860" y="17894294"/>
              <a:ext cx="5709491" cy="2605403"/>
              <a:chOff x="13465942" y="16998953"/>
              <a:chExt cx="5709491" cy="2605403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CC9C9435-E399-AD64-0BDF-5DABCE2902F8}"/>
                  </a:ext>
                </a:extLst>
              </p:cNvPr>
              <p:cNvSpPr/>
              <p:nvPr/>
            </p:nvSpPr>
            <p:spPr>
              <a:xfrm>
                <a:off x="13465942" y="16998953"/>
                <a:ext cx="5709491" cy="2545195"/>
              </a:xfrm>
              <a:prstGeom prst="roundRect">
                <a:avLst>
                  <a:gd name="adj" fmla="val 8108"/>
                </a:avLst>
              </a:prstGeom>
              <a:solidFill>
                <a:srgbClr val="E8773D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558809-78DF-BB20-8935-F5628B63FE6E}"/>
                  </a:ext>
                </a:extLst>
              </p:cNvPr>
              <p:cNvSpPr txBox="1"/>
              <p:nvPr/>
            </p:nvSpPr>
            <p:spPr>
              <a:xfrm>
                <a:off x="14098861" y="17034951"/>
                <a:ext cx="444365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M3 — Genetic Prog.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DE33F699-FD88-25BA-8B80-0AD0B422F436}"/>
                  </a:ext>
                </a:extLst>
              </p:cNvPr>
              <p:cNvSpPr txBox="1"/>
              <p:nvPr/>
            </p:nvSpPr>
            <p:spPr>
              <a:xfrm>
                <a:off x="14478676" y="17880324"/>
                <a:ext cx="368402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gplearn | pop=500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FEB519E-E4CD-666D-8C06-237EE7E10E2A}"/>
                  </a:ext>
                </a:extLst>
              </p:cNvPr>
              <p:cNvSpPr txBox="1"/>
              <p:nvPr/>
            </p:nvSpPr>
            <p:spPr>
              <a:xfrm>
                <a:off x="13472536" y="18430636"/>
                <a:ext cx="569630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gen=100 | parsimony=0.0001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ECB486F-D0A1-5CCB-D671-366473F8FB90}"/>
                  </a:ext>
                </a:extLst>
              </p:cNvPr>
              <p:cNvSpPr txBox="1"/>
              <p:nvPr/>
            </p:nvSpPr>
            <p:spPr>
              <a:xfrm>
                <a:off x="14439627" y="18958025"/>
                <a:ext cx="376212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FDEBD7"/>
                    </a:solidFill>
                    <a:latin typeface="Segoe UI Emoji"/>
                    <a:ea typeface="Segoe UI Emoji"/>
                    <a:sym typeface="Segoe UI Emoji"/>
                    <a:rtl val="0"/>
                  </a:rPr>
                  <a:t>🏆</a:t>
                </a:r>
                <a:r>
                  <a:rPr lang="LID4096" sz="3600" spc="0" baseline="0" dirty="0">
                    <a:ln/>
                    <a:solidFill>
                      <a:srgbClr val="FDEBD7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 Best performer</a:t>
                </a:r>
              </a:p>
            </p:txBody>
          </p:sp>
        </p:grpSp>
        <p:grpSp>
          <p:nvGrpSpPr>
            <p:cNvPr id="14976" name="Group 14975">
              <a:extLst>
                <a:ext uri="{FF2B5EF4-FFF2-40B4-BE49-F238E27FC236}">
                  <a16:creationId xmlns:a16="http://schemas.microsoft.com/office/drawing/2014/main" id="{1841BCD3-6555-43A2-7985-13E7112740A2}"/>
                </a:ext>
              </a:extLst>
            </p:cNvPr>
            <p:cNvGrpSpPr/>
            <p:nvPr/>
          </p:nvGrpSpPr>
          <p:grpSpPr>
            <a:xfrm>
              <a:off x="19309209" y="17858284"/>
              <a:ext cx="5709491" cy="2611309"/>
              <a:chOff x="19257516" y="16932839"/>
              <a:chExt cx="5709491" cy="2611309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0D886FAD-F6B7-D120-11A0-343EF4BB823A}"/>
                  </a:ext>
                </a:extLst>
              </p:cNvPr>
              <p:cNvSpPr/>
              <p:nvPr/>
            </p:nvSpPr>
            <p:spPr>
              <a:xfrm>
                <a:off x="19257516" y="16998953"/>
                <a:ext cx="5709491" cy="2545195"/>
              </a:xfrm>
              <a:prstGeom prst="roundRect">
                <a:avLst>
                  <a:gd name="adj" fmla="val 8108"/>
                </a:avLst>
              </a:prstGeom>
              <a:solidFill>
                <a:srgbClr val="1A7A8A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3B69873-79A6-78A1-497E-3D470E607E5E}"/>
                  </a:ext>
                </a:extLst>
              </p:cNvPr>
              <p:cNvSpPr txBox="1"/>
              <p:nvPr/>
            </p:nvSpPr>
            <p:spPr>
              <a:xfrm>
                <a:off x="20876987" y="16932839"/>
                <a:ext cx="24705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M4 — LLM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0626BBC-B419-DF9E-A28C-B9558A709909}"/>
                  </a:ext>
                </a:extLst>
              </p:cNvPr>
              <p:cNvSpPr txBox="1"/>
              <p:nvPr/>
            </p:nvSpPr>
            <p:spPr>
              <a:xfrm>
                <a:off x="20481847" y="17880324"/>
                <a:ext cx="32608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>
                    <a:ln/>
                    <a:solidFill>
                      <a:srgbClr val="D6EAF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Med-Gemma 4B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CFAF59D-AD06-C025-9B0A-4768415D2686}"/>
                  </a:ext>
                </a:extLst>
              </p:cNvPr>
              <p:cNvSpPr txBox="1"/>
              <p:nvPr/>
            </p:nvSpPr>
            <p:spPr>
              <a:xfrm>
                <a:off x="20484989" y="18430636"/>
                <a:ext cx="325454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D6EAF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Seeded prompts</a:t>
                </a:r>
              </a:p>
            </p:txBody>
          </p:sp>
        </p:grpSp>
        <p:sp>
          <p:nvSpPr>
            <p:cNvPr id="14339" name="Freeform: Shape 14338">
              <a:extLst>
                <a:ext uri="{FF2B5EF4-FFF2-40B4-BE49-F238E27FC236}">
                  <a16:creationId xmlns:a16="http://schemas.microsoft.com/office/drawing/2014/main" id="{C11C9D6D-B311-4AEE-6546-A49278D35033}"/>
                </a:ext>
              </a:extLst>
            </p:cNvPr>
            <p:cNvSpPr/>
            <p:nvPr/>
          </p:nvSpPr>
          <p:spPr>
            <a:xfrm>
              <a:off x="25633706" y="18168368"/>
              <a:ext cx="791074" cy="34394"/>
            </a:xfrm>
            <a:custGeom>
              <a:avLst/>
              <a:gdLst>
                <a:gd name="csX0" fmla="*/ 0 w 791074"/>
                <a:gd name="csY0" fmla="*/ 0 h 34394"/>
                <a:gd name="csX1" fmla="*/ 791074 w 791074"/>
                <a:gd name="csY1" fmla="*/ 0 h 343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91074" h="34394">
                  <a:moveTo>
                    <a:pt x="0" y="0"/>
                  </a:moveTo>
                  <a:lnTo>
                    <a:pt x="791074" y="0"/>
                  </a:lnTo>
                </a:path>
              </a:pathLst>
            </a:custGeom>
            <a:ln w="85963" cap="flat">
              <a:solidFill>
                <a:srgbClr val="1A7A8A"/>
              </a:solidFill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4341" name="Rectangle: Rounded Corners 14340">
              <a:extLst>
                <a:ext uri="{FF2B5EF4-FFF2-40B4-BE49-F238E27FC236}">
                  <a16:creationId xmlns:a16="http://schemas.microsoft.com/office/drawing/2014/main" id="{972DF191-0D0E-2B4D-FD33-81C9292F0E31}"/>
                </a:ext>
              </a:extLst>
            </p:cNvPr>
            <p:cNvSpPr/>
            <p:nvPr/>
          </p:nvSpPr>
          <p:spPr>
            <a:xfrm>
              <a:off x="26591840" y="13697078"/>
              <a:ext cx="4677656" cy="8942578"/>
            </a:xfrm>
            <a:prstGeom prst="roundRect">
              <a:avLst>
                <a:gd name="adj" fmla="val 5882"/>
              </a:avLst>
            </a:prstGeom>
            <a:solidFill>
              <a:srgbClr val="1A7A8A"/>
            </a:solidFill>
            <a:ln w="3438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16600"/>
            </a:p>
          </p:txBody>
        </p:sp>
        <p:sp>
          <p:nvSpPr>
            <p:cNvPr id="14877" name="TextBox 14876">
              <a:extLst>
                <a:ext uri="{FF2B5EF4-FFF2-40B4-BE49-F238E27FC236}">
                  <a16:creationId xmlns:a16="http://schemas.microsoft.com/office/drawing/2014/main" id="{0B790388-51BB-2166-41CC-367EEFF84C67}"/>
                </a:ext>
              </a:extLst>
            </p:cNvPr>
            <p:cNvSpPr txBox="1"/>
            <p:nvPr/>
          </p:nvSpPr>
          <p:spPr>
            <a:xfrm>
              <a:off x="27611685" y="13883064"/>
              <a:ext cx="263796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44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Evaluation</a:t>
              </a:r>
            </a:p>
          </p:txBody>
        </p:sp>
        <p:grpSp>
          <p:nvGrpSpPr>
            <p:cNvPr id="14974" name="Group 14973">
              <a:extLst>
                <a:ext uri="{FF2B5EF4-FFF2-40B4-BE49-F238E27FC236}">
                  <a16:creationId xmlns:a16="http://schemas.microsoft.com/office/drawing/2014/main" id="{2F1F0CC6-0160-656B-CC9A-1B00AE311CAB}"/>
                </a:ext>
              </a:extLst>
            </p:cNvPr>
            <p:cNvGrpSpPr/>
            <p:nvPr/>
          </p:nvGrpSpPr>
          <p:grpSpPr>
            <a:xfrm>
              <a:off x="27004575" y="14980580"/>
              <a:ext cx="3852187" cy="1208446"/>
              <a:chOff x="27004575" y="14689881"/>
              <a:chExt cx="3852187" cy="1208446"/>
            </a:xfrm>
          </p:grpSpPr>
          <p:sp>
            <p:nvSpPr>
              <p:cNvPr id="14879" name="Rectangle: Rounded Corners 14878">
                <a:extLst>
                  <a:ext uri="{FF2B5EF4-FFF2-40B4-BE49-F238E27FC236}">
                    <a16:creationId xmlns:a16="http://schemas.microsoft.com/office/drawing/2014/main" id="{8D2BEE12-CCF2-A6DE-FE82-5EB2AEA3A0B1}"/>
                  </a:ext>
                </a:extLst>
              </p:cNvPr>
              <p:cNvSpPr/>
              <p:nvPr/>
            </p:nvSpPr>
            <p:spPr>
              <a:xfrm>
                <a:off x="27004575" y="14689881"/>
                <a:ext cx="3852187" cy="1208446"/>
              </a:xfrm>
              <a:prstGeom prst="roundRect">
                <a:avLst>
                  <a:gd name="adj" fmla="val 14285"/>
                </a:avLst>
              </a:prstGeom>
              <a:solidFill>
                <a:srgbClr val="E8773D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 dirty="0"/>
              </a:p>
            </p:txBody>
          </p:sp>
          <p:sp>
            <p:nvSpPr>
              <p:cNvPr id="14880" name="TextBox 14879">
                <a:extLst>
                  <a:ext uri="{FF2B5EF4-FFF2-40B4-BE49-F238E27FC236}">
                    <a16:creationId xmlns:a16="http://schemas.microsoft.com/office/drawing/2014/main" id="{CB8D7D5D-9AD2-5EAC-C664-F9ED30723E57}"/>
                  </a:ext>
                </a:extLst>
              </p:cNvPr>
              <p:cNvSpPr txBox="1"/>
              <p:nvPr/>
            </p:nvSpPr>
            <p:spPr>
              <a:xfrm>
                <a:off x="27626048" y="14689932"/>
                <a:ext cx="260924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AUC-PR Lift</a:t>
                </a:r>
              </a:p>
            </p:txBody>
          </p:sp>
          <p:sp>
            <p:nvSpPr>
              <p:cNvPr id="14881" name="TextBox 14880">
                <a:extLst>
                  <a:ext uri="{FF2B5EF4-FFF2-40B4-BE49-F238E27FC236}">
                    <a16:creationId xmlns:a16="http://schemas.microsoft.com/office/drawing/2014/main" id="{3C8CDBAD-63C1-0E94-8F0C-4020C75A2754}"/>
                  </a:ext>
                </a:extLst>
              </p:cNvPr>
              <p:cNvSpPr txBox="1"/>
              <p:nvPr/>
            </p:nvSpPr>
            <p:spPr>
              <a:xfrm>
                <a:off x="27447858" y="15173708"/>
                <a:ext cx="296562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Primary metric</a:t>
                </a:r>
              </a:p>
            </p:txBody>
          </p:sp>
        </p:grpSp>
        <p:grpSp>
          <p:nvGrpSpPr>
            <p:cNvPr id="14973" name="Group 14972">
              <a:extLst>
                <a:ext uri="{FF2B5EF4-FFF2-40B4-BE49-F238E27FC236}">
                  <a16:creationId xmlns:a16="http://schemas.microsoft.com/office/drawing/2014/main" id="{6ABBBE1F-A7FE-83E2-8AB9-A6DE7D0096CB}"/>
                </a:ext>
              </a:extLst>
            </p:cNvPr>
            <p:cNvGrpSpPr/>
            <p:nvPr/>
          </p:nvGrpSpPr>
          <p:grpSpPr>
            <a:xfrm>
              <a:off x="27004575" y="16517101"/>
              <a:ext cx="3852187" cy="756679"/>
              <a:chOff x="27004575" y="16173485"/>
              <a:chExt cx="3852187" cy="756679"/>
            </a:xfrm>
          </p:grpSpPr>
          <p:sp>
            <p:nvSpPr>
              <p:cNvPr id="14882" name="Rectangle: Rounded Corners 14881">
                <a:extLst>
                  <a:ext uri="{FF2B5EF4-FFF2-40B4-BE49-F238E27FC236}">
                    <a16:creationId xmlns:a16="http://schemas.microsoft.com/office/drawing/2014/main" id="{472E9EFA-7C5E-811A-575B-2BAD528C8AB7}"/>
                  </a:ext>
                </a:extLst>
              </p:cNvPr>
              <p:cNvSpPr/>
              <p:nvPr/>
            </p:nvSpPr>
            <p:spPr>
              <a:xfrm>
                <a:off x="27004575" y="16173485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1260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14883" name="TextBox 14882">
                <a:extLst>
                  <a:ext uri="{FF2B5EF4-FFF2-40B4-BE49-F238E27FC236}">
                    <a16:creationId xmlns:a16="http://schemas.microsoft.com/office/drawing/2014/main" id="{1C17F9A3-77B5-33C6-69F6-4BD40EC2BF9B}"/>
                  </a:ext>
                </a:extLst>
              </p:cNvPr>
              <p:cNvSpPr txBox="1"/>
              <p:nvPr/>
            </p:nvSpPr>
            <p:spPr>
              <a:xfrm>
                <a:off x="27870217" y="16214294"/>
                <a:ext cx="212090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AUC-ROC</a:t>
                </a:r>
              </a:p>
            </p:txBody>
          </p:sp>
        </p:grpSp>
        <p:grpSp>
          <p:nvGrpSpPr>
            <p:cNvPr id="14972" name="Group 14971">
              <a:extLst>
                <a:ext uri="{FF2B5EF4-FFF2-40B4-BE49-F238E27FC236}">
                  <a16:creationId xmlns:a16="http://schemas.microsoft.com/office/drawing/2014/main" id="{0F6EE94E-D0DF-6070-F0ED-D04D946071A5}"/>
                </a:ext>
              </a:extLst>
            </p:cNvPr>
            <p:cNvGrpSpPr/>
            <p:nvPr/>
          </p:nvGrpSpPr>
          <p:grpSpPr>
            <a:xfrm>
              <a:off x="27004575" y="17601855"/>
              <a:ext cx="3852187" cy="767378"/>
              <a:chOff x="27004575" y="17194622"/>
              <a:chExt cx="3852187" cy="767378"/>
            </a:xfrm>
          </p:grpSpPr>
          <p:sp>
            <p:nvSpPr>
              <p:cNvPr id="14884" name="Rectangle: Rounded Corners 14883">
                <a:extLst>
                  <a:ext uri="{FF2B5EF4-FFF2-40B4-BE49-F238E27FC236}">
                    <a16:creationId xmlns:a16="http://schemas.microsoft.com/office/drawing/2014/main" id="{30493F6E-0915-3342-9339-4A12D6602FE9}"/>
                  </a:ext>
                </a:extLst>
              </p:cNvPr>
              <p:cNvSpPr/>
              <p:nvPr/>
            </p:nvSpPr>
            <p:spPr>
              <a:xfrm>
                <a:off x="27004575" y="17205321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1260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14885" name="TextBox 14884">
                <a:extLst>
                  <a:ext uri="{FF2B5EF4-FFF2-40B4-BE49-F238E27FC236}">
                    <a16:creationId xmlns:a16="http://schemas.microsoft.com/office/drawing/2014/main" id="{EF62B749-4A65-9400-B9CF-2B40894FA7DD}"/>
                  </a:ext>
                </a:extLst>
              </p:cNvPr>
              <p:cNvSpPr txBox="1"/>
              <p:nvPr/>
            </p:nvSpPr>
            <p:spPr>
              <a:xfrm>
                <a:off x="27557664" y="17194622"/>
                <a:ext cx="274600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Bootstrap CI</a:t>
                </a:r>
              </a:p>
            </p:txBody>
          </p:sp>
        </p:grpSp>
        <p:grpSp>
          <p:nvGrpSpPr>
            <p:cNvPr id="14971" name="Group 14970">
              <a:extLst>
                <a:ext uri="{FF2B5EF4-FFF2-40B4-BE49-F238E27FC236}">
                  <a16:creationId xmlns:a16="http://schemas.microsoft.com/office/drawing/2014/main" id="{2DA0D8EB-5B98-15CF-9A2C-72946D92F382}"/>
                </a:ext>
              </a:extLst>
            </p:cNvPr>
            <p:cNvGrpSpPr/>
            <p:nvPr/>
          </p:nvGrpSpPr>
          <p:grpSpPr>
            <a:xfrm>
              <a:off x="27004575" y="18697308"/>
              <a:ext cx="3852187" cy="794055"/>
              <a:chOff x="27010121" y="18758207"/>
              <a:chExt cx="3852187" cy="794055"/>
            </a:xfrm>
          </p:grpSpPr>
          <p:sp>
            <p:nvSpPr>
              <p:cNvPr id="14898" name="Rectangle: Rounded Corners 14897">
                <a:extLst>
                  <a:ext uri="{FF2B5EF4-FFF2-40B4-BE49-F238E27FC236}">
                    <a16:creationId xmlns:a16="http://schemas.microsoft.com/office/drawing/2014/main" id="{342CC5A9-A600-2E33-8A5E-B82CBB6F89C6}"/>
                  </a:ext>
                </a:extLst>
              </p:cNvPr>
              <p:cNvSpPr/>
              <p:nvPr/>
            </p:nvSpPr>
            <p:spPr>
              <a:xfrm>
                <a:off x="27010121" y="18795583"/>
                <a:ext cx="3852187" cy="756679"/>
              </a:xfrm>
              <a:prstGeom prst="roundRect">
                <a:avLst>
                  <a:gd name="adj" fmla="val 18181"/>
                </a:avLst>
              </a:prstGeom>
              <a:solidFill>
                <a:srgbClr val="1260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14962" name="TextBox 14961">
                <a:extLst>
                  <a:ext uri="{FF2B5EF4-FFF2-40B4-BE49-F238E27FC236}">
                    <a16:creationId xmlns:a16="http://schemas.microsoft.com/office/drawing/2014/main" id="{2C3B1110-73D6-B934-6E83-9FFB22C54BA5}"/>
                  </a:ext>
                </a:extLst>
              </p:cNvPr>
              <p:cNvSpPr txBox="1"/>
              <p:nvPr/>
            </p:nvSpPr>
            <p:spPr>
              <a:xfrm>
                <a:off x="27637141" y="18758207"/>
                <a:ext cx="259814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4000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vs. Baseline</a:t>
                </a:r>
              </a:p>
            </p:txBody>
          </p:sp>
        </p:grpSp>
        <p:grpSp>
          <p:nvGrpSpPr>
            <p:cNvPr id="14970" name="Group 14969">
              <a:extLst>
                <a:ext uri="{FF2B5EF4-FFF2-40B4-BE49-F238E27FC236}">
                  <a16:creationId xmlns:a16="http://schemas.microsoft.com/office/drawing/2014/main" id="{A9949170-EB83-F8E4-D25E-70A95E0D5932}"/>
                </a:ext>
              </a:extLst>
            </p:cNvPr>
            <p:cNvGrpSpPr/>
            <p:nvPr/>
          </p:nvGrpSpPr>
          <p:grpSpPr>
            <a:xfrm>
              <a:off x="27004575" y="19819436"/>
              <a:ext cx="3852187" cy="1724860"/>
              <a:chOff x="27004575" y="19819436"/>
              <a:chExt cx="3852187" cy="1724860"/>
            </a:xfrm>
          </p:grpSpPr>
          <p:sp>
            <p:nvSpPr>
              <p:cNvPr id="14969" name="Rectangle: Rounded Corners 14968">
                <a:extLst>
                  <a:ext uri="{FF2B5EF4-FFF2-40B4-BE49-F238E27FC236}">
                    <a16:creationId xmlns:a16="http://schemas.microsoft.com/office/drawing/2014/main" id="{CEEAF025-8488-B206-A7C3-783F5DF7F6AC}"/>
                  </a:ext>
                </a:extLst>
              </p:cNvPr>
              <p:cNvSpPr/>
              <p:nvPr/>
            </p:nvSpPr>
            <p:spPr>
              <a:xfrm>
                <a:off x="27004575" y="19819436"/>
                <a:ext cx="3852187" cy="1724860"/>
              </a:xfrm>
              <a:prstGeom prst="roundRect">
                <a:avLst>
                  <a:gd name="adj" fmla="val 18181"/>
                </a:avLst>
              </a:prstGeom>
              <a:solidFill>
                <a:srgbClr val="126070"/>
              </a:solidFill>
              <a:ln w="3438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16600"/>
              </a:p>
            </p:txBody>
          </p:sp>
          <p:sp>
            <p:nvSpPr>
              <p:cNvPr id="14963" name="TextBox 14962">
                <a:extLst>
                  <a:ext uri="{FF2B5EF4-FFF2-40B4-BE49-F238E27FC236}">
                    <a16:creationId xmlns:a16="http://schemas.microsoft.com/office/drawing/2014/main" id="{FD896418-B86A-AA95-55D4-9DE4FA7FB7AC}"/>
                  </a:ext>
                </a:extLst>
              </p:cNvPr>
              <p:cNvSpPr txBox="1"/>
              <p:nvPr/>
            </p:nvSpPr>
            <p:spPr>
              <a:xfrm>
                <a:off x="27082214" y="19874508"/>
                <a:ext cx="369690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External</a:t>
                </a:r>
                <a:r>
                  <a:rPr lang="en-US" sz="3600" spc="0" baseline="0" dirty="0">
                    <a:ln/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 Validation</a:t>
                </a:r>
                <a:endParaRPr lang="LID4096" sz="3600" spc="0" baseline="0" dirty="0">
                  <a:ln/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sp>
            <p:nvSpPr>
              <p:cNvPr id="14964" name="TextBox 14963">
                <a:extLst>
                  <a:ext uri="{FF2B5EF4-FFF2-40B4-BE49-F238E27FC236}">
                    <a16:creationId xmlns:a16="http://schemas.microsoft.com/office/drawing/2014/main" id="{1A527755-4EA7-8119-3619-384B913537E4}"/>
                  </a:ext>
                </a:extLst>
              </p:cNvPr>
              <p:cNvSpPr txBox="1"/>
              <p:nvPr/>
            </p:nvSpPr>
            <p:spPr>
              <a:xfrm>
                <a:off x="28046291" y="20321636"/>
                <a:ext cx="176875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NHANES</a:t>
                </a:r>
              </a:p>
            </p:txBody>
          </p:sp>
          <p:sp>
            <p:nvSpPr>
              <p:cNvPr id="14965" name="TextBox 14964">
                <a:extLst>
                  <a:ext uri="{FF2B5EF4-FFF2-40B4-BE49-F238E27FC236}">
                    <a16:creationId xmlns:a16="http://schemas.microsoft.com/office/drawing/2014/main" id="{2777063A-4480-D86F-2857-5D4473277443}"/>
                  </a:ext>
                </a:extLst>
              </p:cNvPr>
              <p:cNvSpPr txBox="1"/>
              <p:nvPr/>
            </p:nvSpPr>
            <p:spPr>
              <a:xfrm>
                <a:off x="27951490" y="20768765"/>
                <a:ext cx="19583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3600" spc="0" baseline="0" dirty="0">
                    <a:ln/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EHRSHOT</a:t>
                </a: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58D9542-20C4-F112-CCDC-0911AB0FADF2}"/>
                </a:ext>
              </a:extLst>
            </p:cNvPr>
            <p:cNvSpPr/>
            <p:nvPr/>
          </p:nvSpPr>
          <p:spPr>
            <a:xfrm>
              <a:off x="830220" y="13668896"/>
              <a:ext cx="5749137" cy="8942832"/>
            </a:xfrm>
            <a:prstGeom prst="roundRect">
              <a:avLst>
                <a:gd name="adj" fmla="val 4242"/>
              </a:avLst>
            </a:prstGeom>
            <a:solidFill>
              <a:srgbClr val="1A7A8A"/>
            </a:solidFill>
            <a:ln w="14028" cap="flat">
              <a:noFill/>
              <a:prstDash val="solid"/>
              <a:miter/>
            </a:ln>
          </p:spPr>
          <p:txBody>
            <a:bodyPr/>
            <a:lstStyle/>
            <a:p>
              <a:pPr algn="ctr"/>
              <a:endParaRPr lang="LID4096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649D3F0-460D-5A45-17F3-9CF47F4D701B}"/>
                </a:ext>
              </a:extLst>
            </p:cNvPr>
            <p:cNvSpPr txBox="1"/>
            <p:nvPr/>
          </p:nvSpPr>
          <p:spPr>
            <a:xfrm>
              <a:off x="2713267" y="14009949"/>
              <a:ext cx="198304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LID4096" sz="44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Dataset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5AF411F-C84F-9EA3-02AE-4F6BF7A5D00F}"/>
                </a:ext>
              </a:extLst>
            </p:cNvPr>
            <p:cNvSpPr txBox="1"/>
            <p:nvPr/>
          </p:nvSpPr>
          <p:spPr>
            <a:xfrm>
              <a:off x="2255021" y="14720519"/>
              <a:ext cx="28995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LID4096" sz="2800" spc="0" baseline="0" dirty="0">
                  <a:ln/>
                  <a:solidFill>
                    <a:srgbClr val="A8D5D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MIMIC-IV v3.1</a:t>
              </a:r>
            </a:p>
          </p:txBody>
        </p:sp>
        <p:grpSp>
          <p:nvGrpSpPr>
            <p:cNvPr id="14363" name="Group 14362">
              <a:extLst>
                <a:ext uri="{FF2B5EF4-FFF2-40B4-BE49-F238E27FC236}">
                  <a16:creationId xmlns:a16="http://schemas.microsoft.com/office/drawing/2014/main" id="{AD33C460-F5A5-7DED-E68B-92592862FEB6}"/>
                </a:ext>
              </a:extLst>
            </p:cNvPr>
            <p:cNvGrpSpPr/>
            <p:nvPr/>
          </p:nvGrpSpPr>
          <p:grpSpPr>
            <a:xfrm>
              <a:off x="1144336" y="15349256"/>
              <a:ext cx="5120904" cy="830115"/>
              <a:chOff x="1144336" y="15349256"/>
              <a:chExt cx="5120904" cy="830115"/>
            </a:xfrm>
          </p:grpSpPr>
          <p:sp>
            <p:nvSpPr>
              <p:cNvPr id="14343" name="Rectangle: Rounded Corners 14342">
                <a:extLst>
                  <a:ext uri="{FF2B5EF4-FFF2-40B4-BE49-F238E27FC236}">
                    <a16:creationId xmlns:a16="http://schemas.microsoft.com/office/drawing/2014/main" id="{A80EA239-61EE-0292-111B-9EC943D1DE00}"/>
                  </a:ext>
                </a:extLst>
              </p:cNvPr>
              <p:cNvSpPr/>
              <p:nvPr/>
            </p:nvSpPr>
            <p:spPr>
              <a:xfrm>
                <a:off x="1144336" y="15349256"/>
                <a:ext cx="5120904" cy="707886"/>
              </a:xfrm>
              <a:prstGeom prst="roundRect">
                <a:avLst>
                  <a:gd name="adj" fmla="val 15384"/>
                </a:avLst>
              </a:prstGeom>
              <a:solidFill>
                <a:srgbClr val="126070"/>
              </a:solidFill>
              <a:ln w="14028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4000"/>
              </a:p>
            </p:txBody>
          </p:sp>
          <p:sp>
            <p:nvSpPr>
              <p:cNvPr id="14344" name="TextBox 14343">
                <a:extLst>
                  <a:ext uri="{FF2B5EF4-FFF2-40B4-BE49-F238E27FC236}">
                    <a16:creationId xmlns:a16="http://schemas.microsoft.com/office/drawing/2014/main" id="{598F3CF7-9A8F-26D0-6B9D-4E0367552D72}"/>
                  </a:ext>
                </a:extLst>
              </p:cNvPr>
              <p:cNvSpPr txBox="1"/>
              <p:nvPr/>
            </p:nvSpPr>
            <p:spPr>
              <a:xfrm>
                <a:off x="1163937" y="15471485"/>
                <a:ext cx="50817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LID4096" sz="4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~223,000 patients</a:t>
                </a:r>
              </a:p>
            </p:txBody>
          </p:sp>
        </p:grpSp>
        <p:grpSp>
          <p:nvGrpSpPr>
            <p:cNvPr id="14362" name="Group 14361">
              <a:extLst>
                <a:ext uri="{FF2B5EF4-FFF2-40B4-BE49-F238E27FC236}">
                  <a16:creationId xmlns:a16="http://schemas.microsoft.com/office/drawing/2014/main" id="{44B40AA7-C22C-D982-F307-CF8CE64C4E47}"/>
                </a:ext>
              </a:extLst>
            </p:cNvPr>
            <p:cNvGrpSpPr/>
            <p:nvPr/>
          </p:nvGrpSpPr>
          <p:grpSpPr>
            <a:xfrm>
              <a:off x="1144336" y="16587843"/>
              <a:ext cx="5120904" cy="830115"/>
              <a:chOff x="1144336" y="16192167"/>
              <a:chExt cx="5120904" cy="830115"/>
            </a:xfrm>
          </p:grpSpPr>
          <p:sp>
            <p:nvSpPr>
              <p:cNvPr id="14345" name="Rectangle: Rounded Corners 14344">
                <a:extLst>
                  <a:ext uri="{FF2B5EF4-FFF2-40B4-BE49-F238E27FC236}">
                    <a16:creationId xmlns:a16="http://schemas.microsoft.com/office/drawing/2014/main" id="{4232FEDE-3C7B-5CA4-082E-814239F97F36}"/>
                  </a:ext>
                </a:extLst>
              </p:cNvPr>
              <p:cNvSpPr/>
              <p:nvPr/>
            </p:nvSpPr>
            <p:spPr>
              <a:xfrm>
                <a:off x="1144336" y="16192167"/>
                <a:ext cx="5120904" cy="707886"/>
              </a:xfrm>
              <a:prstGeom prst="roundRect">
                <a:avLst>
                  <a:gd name="adj" fmla="val 15384"/>
                </a:avLst>
              </a:prstGeom>
              <a:solidFill>
                <a:srgbClr val="126070"/>
              </a:solidFill>
              <a:ln w="14028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4000"/>
              </a:p>
            </p:txBody>
          </p:sp>
          <p:sp>
            <p:nvSpPr>
              <p:cNvPr id="14346" name="TextBox 14345">
                <a:extLst>
                  <a:ext uri="{FF2B5EF4-FFF2-40B4-BE49-F238E27FC236}">
                    <a16:creationId xmlns:a16="http://schemas.microsoft.com/office/drawing/2014/main" id="{C05EB189-894A-5F44-9163-A1CCEEF9E6B9}"/>
                  </a:ext>
                </a:extLst>
              </p:cNvPr>
              <p:cNvSpPr txBox="1"/>
              <p:nvPr/>
            </p:nvSpPr>
            <p:spPr>
              <a:xfrm>
                <a:off x="1384548" y="16314396"/>
                <a:ext cx="464048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LID4096" sz="4000" b="1" spc="0" baseline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1,950 cases (RA)</a:t>
                </a:r>
              </a:p>
            </p:txBody>
          </p:sp>
        </p:grpSp>
        <p:grpSp>
          <p:nvGrpSpPr>
            <p:cNvPr id="14361" name="Group 14360">
              <a:extLst>
                <a:ext uri="{FF2B5EF4-FFF2-40B4-BE49-F238E27FC236}">
                  <a16:creationId xmlns:a16="http://schemas.microsoft.com/office/drawing/2014/main" id="{8B340226-0346-2B65-2AD0-BBD4207CF86D}"/>
                </a:ext>
              </a:extLst>
            </p:cNvPr>
            <p:cNvGrpSpPr/>
            <p:nvPr/>
          </p:nvGrpSpPr>
          <p:grpSpPr>
            <a:xfrm>
              <a:off x="1144336" y="17826430"/>
              <a:ext cx="5120904" cy="759872"/>
              <a:chOff x="1144336" y="17035078"/>
              <a:chExt cx="5120904" cy="759872"/>
            </a:xfrm>
          </p:grpSpPr>
          <p:sp>
            <p:nvSpPr>
              <p:cNvPr id="14347" name="Rectangle: Rounded Corners 14346">
                <a:extLst>
                  <a:ext uri="{FF2B5EF4-FFF2-40B4-BE49-F238E27FC236}">
                    <a16:creationId xmlns:a16="http://schemas.microsoft.com/office/drawing/2014/main" id="{4700B7B5-261E-1233-57E4-09F5DC70BA10}"/>
                  </a:ext>
                </a:extLst>
              </p:cNvPr>
              <p:cNvSpPr/>
              <p:nvPr/>
            </p:nvSpPr>
            <p:spPr>
              <a:xfrm>
                <a:off x="1144336" y="17035078"/>
                <a:ext cx="5120904" cy="707886"/>
              </a:xfrm>
              <a:prstGeom prst="roundRect">
                <a:avLst>
                  <a:gd name="adj" fmla="val 15384"/>
                </a:avLst>
              </a:prstGeom>
              <a:solidFill>
                <a:srgbClr val="0D4F5C"/>
              </a:solidFill>
              <a:ln w="14028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4000"/>
              </a:p>
            </p:txBody>
          </p:sp>
          <p:sp>
            <p:nvSpPr>
              <p:cNvPr id="14348" name="TextBox 14347">
                <a:extLst>
                  <a:ext uri="{FF2B5EF4-FFF2-40B4-BE49-F238E27FC236}">
                    <a16:creationId xmlns:a16="http://schemas.microsoft.com/office/drawing/2014/main" id="{51E52AEC-A551-7E91-D07C-C5A0A4B62DEE}"/>
                  </a:ext>
                </a:extLst>
              </p:cNvPr>
              <p:cNvSpPr txBox="1"/>
              <p:nvPr/>
            </p:nvSpPr>
            <p:spPr>
              <a:xfrm>
                <a:off x="1339151" y="17087064"/>
                <a:ext cx="47312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LID4096" sz="4000" b="1" spc="0" baseline="0">
                    <a:ln/>
                    <a:solidFill>
                      <a:srgbClr val="A8D5D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221,502 controls</a:t>
                </a:r>
              </a:p>
            </p:txBody>
          </p:sp>
        </p:grpSp>
        <p:grpSp>
          <p:nvGrpSpPr>
            <p:cNvPr id="14360" name="Group 14359">
              <a:extLst>
                <a:ext uri="{FF2B5EF4-FFF2-40B4-BE49-F238E27FC236}">
                  <a16:creationId xmlns:a16="http://schemas.microsoft.com/office/drawing/2014/main" id="{DFBE5A28-AC96-FCCE-1E01-115B48F28959}"/>
                </a:ext>
              </a:extLst>
            </p:cNvPr>
            <p:cNvGrpSpPr/>
            <p:nvPr/>
          </p:nvGrpSpPr>
          <p:grpSpPr>
            <a:xfrm>
              <a:off x="1144336" y="18994774"/>
              <a:ext cx="5120904" cy="759873"/>
              <a:chOff x="1144336" y="17877988"/>
              <a:chExt cx="5120904" cy="759873"/>
            </a:xfrm>
          </p:grpSpPr>
          <p:sp>
            <p:nvSpPr>
              <p:cNvPr id="14349" name="Rectangle: Rounded Corners 14348">
                <a:extLst>
                  <a:ext uri="{FF2B5EF4-FFF2-40B4-BE49-F238E27FC236}">
                    <a16:creationId xmlns:a16="http://schemas.microsoft.com/office/drawing/2014/main" id="{5704E3CF-1F50-8D8E-F34B-D9E0E4E66378}"/>
                  </a:ext>
                </a:extLst>
              </p:cNvPr>
              <p:cNvSpPr/>
              <p:nvPr/>
            </p:nvSpPr>
            <p:spPr>
              <a:xfrm>
                <a:off x="1144336" y="17877988"/>
                <a:ext cx="5120904" cy="707886"/>
              </a:xfrm>
              <a:prstGeom prst="roundRect">
                <a:avLst>
                  <a:gd name="adj" fmla="val 15384"/>
                </a:avLst>
              </a:prstGeom>
              <a:solidFill>
                <a:srgbClr val="0D4F5C"/>
              </a:solidFill>
              <a:ln w="14028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4000"/>
              </a:p>
            </p:txBody>
          </p:sp>
          <p:sp>
            <p:nvSpPr>
              <p:cNvPr id="14350" name="TextBox 14349">
                <a:extLst>
                  <a:ext uri="{FF2B5EF4-FFF2-40B4-BE49-F238E27FC236}">
                    <a16:creationId xmlns:a16="http://schemas.microsoft.com/office/drawing/2014/main" id="{0B3F3A54-716E-8915-7A61-1FC9B705EBF5}"/>
                  </a:ext>
                </a:extLst>
              </p:cNvPr>
              <p:cNvSpPr txBox="1"/>
              <p:nvPr/>
            </p:nvSpPr>
            <p:spPr>
              <a:xfrm>
                <a:off x="1463165" y="17929975"/>
                <a:ext cx="448324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LID4096" sz="4000" b="1" spc="0" baseline="0">
                    <a:ln/>
                    <a:solidFill>
                      <a:srgbClr val="A8D5D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~1% prevalence</a:t>
                </a:r>
              </a:p>
            </p:txBody>
          </p:sp>
        </p:grpSp>
        <p:grpSp>
          <p:nvGrpSpPr>
            <p:cNvPr id="14359" name="Group 14358">
              <a:extLst>
                <a:ext uri="{FF2B5EF4-FFF2-40B4-BE49-F238E27FC236}">
                  <a16:creationId xmlns:a16="http://schemas.microsoft.com/office/drawing/2014/main" id="{738F14AC-DA8C-167E-C8DF-FC9D8980B3A0}"/>
                </a:ext>
              </a:extLst>
            </p:cNvPr>
            <p:cNvGrpSpPr/>
            <p:nvPr/>
          </p:nvGrpSpPr>
          <p:grpSpPr>
            <a:xfrm>
              <a:off x="1144336" y="20163119"/>
              <a:ext cx="5120904" cy="759872"/>
              <a:chOff x="1144336" y="18720899"/>
              <a:chExt cx="5120904" cy="759872"/>
            </a:xfrm>
          </p:grpSpPr>
          <p:sp>
            <p:nvSpPr>
              <p:cNvPr id="14351" name="Rectangle: Rounded Corners 14350">
                <a:extLst>
                  <a:ext uri="{FF2B5EF4-FFF2-40B4-BE49-F238E27FC236}">
                    <a16:creationId xmlns:a16="http://schemas.microsoft.com/office/drawing/2014/main" id="{9A67A420-279C-B72A-4089-65E5C8A85AFF}"/>
                  </a:ext>
                </a:extLst>
              </p:cNvPr>
              <p:cNvSpPr/>
              <p:nvPr/>
            </p:nvSpPr>
            <p:spPr>
              <a:xfrm>
                <a:off x="1144336" y="18720899"/>
                <a:ext cx="5120904" cy="707886"/>
              </a:xfrm>
              <a:prstGeom prst="roundRect">
                <a:avLst>
                  <a:gd name="adj" fmla="val 15384"/>
                </a:avLst>
              </a:prstGeom>
              <a:solidFill>
                <a:srgbClr val="0D4F5C"/>
              </a:solidFill>
              <a:ln w="14028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4000"/>
              </a:p>
            </p:txBody>
          </p:sp>
          <p:sp>
            <p:nvSpPr>
              <p:cNvPr id="14352" name="TextBox 14351">
                <a:extLst>
                  <a:ext uri="{FF2B5EF4-FFF2-40B4-BE49-F238E27FC236}">
                    <a16:creationId xmlns:a16="http://schemas.microsoft.com/office/drawing/2014/main" id="{3CFE552E-6F9C-D822-4C4B-4D563716B2F1}"/>
                  </a:ext>
                </a:extLst>
              </p:cNvPr>
              <p:cNvSpPr txBox="1"/>
              <p:nvPr/>
            </p:nvSpPr>
            <p:spPr>
              <a:xfrm>
                <a:off x="1375272" y="18772885"/>
                <a:ext cx="46590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LID4096" sz="4000" b="1" spc="0" baseline="0">
                    <a:ln/>
                    <a:solidFill>
                      <a:srgbClr val="A8D5D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90-day lookback</a:t>
                </a:r>
              </a:p>
            </p:txBody>
          </p:sp>
        </p:grpSp>
        <p:grpSp>
          <p:nvGrpSpPr>
            <p:cNvPr id="14358" name="Group 14357">
              <a:extLst>
                <a:ext uri="{FF2B5EF4-FFF2-40B4-BE49-F238E27FC236}">
                  <a16:creationId xmlns:a16="http://schemas.microsoft.com/office/drawing/2014/main" id="{0455FFEF-8582-8613-3A4B-0A748F4F75D1}"/>
                </a:ext>
              </a:extLst>
            </p:cNvPr>
            <p:cNvGrpSpPr/>
            <p:nvPr/>
          </p:nvGrpSpPr>
          <p:grpSpPr>
            <a:xfrm>
              <a:off x="1103452" y="21331464"/>
              <a:ext cx="5120904" cy="737938"/>
              <a:chOff x="1144336" y="19563810"/>
              <a:chExt cx="5120904" cy="737938"/>
            </a:xfrm>
          </p:grpSpPr>
          <p:sp>
            <p:nvSpPr>
              <p:cNvPr id="14353" name="Rectangle: Rounded Corners 14352">
                <a:extLst>
                  <a:ext uri="{FF2B5EF4-FFF2-40B4-BE49-F238E27FC236}">
                    <a16:creationId xmlns:a16="http://schemas.microsoft.com/office/drawing/2014/main" id="{2E76775A-09A6-B0DA-53A5-1C426A02888F}"/>
                  </a:ext>
                </a:extLst>
              </p:cNvPr>
              <p:cNvSpPr/>
              <p:nvPr/>
            </p:nvSpPr>
            <p:spPr>
              <a:xfrm>
                <a:off x="1144336" y="19563810"/>
                <a:ext cx="5120904" cy="707886"/>
              </a:xfrm>
              <a:prstGeom prst="roundRect">
                <a:avLst>
                  <a:gd name="adj" fmla="val 15384"/>
                </a:avLst>
              </a:prstGeom>
              <a:solidFill>
                <a:srgbClr val="0D4F5C"/>
              </a:solidFill>
              <a:ln w="14028" cap="flat">
                <a:noFill/>
                <a:prstDash val="solid"/>
                <a:miter/>
              </a:ln>
            </p:spPr>
            <p:txBody>
              <a:bodyPr/>
              <a:lstStyle/>
              <a:p>
                <a:pPr algn="ctr"/>
                <a:endParaRPr lang="LID4096" sz="4000"/>
              </a:p>
            </p:txBody>
          </p:sp>
          <p:sp>
            <p:nvSpPr>
              <p:cNvPr id="14354" name="TextBox 14353">
                <a:extLst>
                  <a:ext uri="{FF2B5EF4-FFF2-40B4-BE49-F238E27FC236}">
                    <a16:creationId xmlns:a16="http://schemas.microsoft.com/office/drawing/2014/main" id="{627D324C-73D0-7D77-6E24-C373012B3BB4}"/>
                  </a:ext>
                </a:extLst>
              </p:cNvPr>
              <p:cNvSpPr txBox="1"/>
              <p:nvPr/>
            </p:nvSpPr>
            <p:spPr>
              <a:xfrm>
                <a:off x="1376683" y="19593862"/>
                <a:ext cx="465621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LID4096" sz="4000" b="1" spc="0" baseline="0" dirty="0">
                    <a:ln/>
                    <a:solidFill>
                      <a:srgbClr val="A8D5D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First 24h index admit</a:t>
                </a:r>
              </a:p>
            </p:txBody>
          </p:sp>
        </p:grpSp>
      </p:grpSp>
      <p:grpSp>
        <p:nvGrpSpPr>
          <p:cNvPr id="14868" name="Group 14867">
            <a:extLst>
              <a:ext uri="{FF2B5EF4-FFF2-40B4-BE49-F238E27FC236}">
                <a16:creationId xmlns:a16="http://schemas.microsoft.com/office/drawing/2014/main" id="{AAFDEC4C-28B6-3E66-A11C-13C67F71736A}"/>
              </a:ext>
            </a:extLst>
          </p:cNvPr>
          <p:cNvGrpSpPr/>
          <p:nvPr/>
        </p:nvGrpSpPr>
        <p:grpSpPr>
          <a:xfrm>
            <a:off x="19140210" y="33340004"/>
            <a:ext cx="11100988" cy="7274608"/>
            <a:chOff x="23102226" y="36121851"/>
            <a:chExt cx="4376946" cy="286826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6714CF-A3B2-7609-8F5B-9A1F8340F71C}"/>
                </a:ext>
              </a:extLst>
            </p:cNvPr>
            <p:cNvSpPr txBox="1"/>
            <p:nvPr/>
          </p:nvSpPr>
          <p:spPr>
            <a:xfrm>
              <a:off x="23629873" y="36121851"/>
              <a:ext cx="3052495" cy="2548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b="1" spc="0" baseline="0">
                  <a:ln/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Cross-Method Feature Consensus — RA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FE4A6DE-8712-F25C-F688-A28326D66C8D}"/>
                </a:ext>
              </a:extLst>
            </p:cNvPr>
            <p:cNvSpPr txBox="1"/>
            <p:nvPr/>
          </p:nvSpPr>
          <p:spPr>
            <a:xfrm>
              <a:off x="23449251" y="36310527"/>
              <a:ext cx="2779252" cy="1577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000" spc="0" baseline="0" dirty="0">
                  <a:ln/>
                  <a:solidFill>
                    <a:srgbClr val="7F8C8D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Feature importance across all 4 methods (normalized, RA disease)</a:t>
              </a:r>
            </a:p>
          </p:txBody>
        </p:sp>
        <p:grpSp>
          <p:nvGrpSpPr>
            <p:cNvPr id="21" name="Graphic 15">
              <a:extLst>
                <a:ext uri="{FF2B5EF4-FFF2-40B4-BE49-F238E27FC236}">
                  <a16:creationId xmlns:a16="http://schemas.microsoft.com/office/drawing/2014/main" id="{E0E88658-FAEB-3CD8-0137-0C7CD7C8ADA4}"/>
                </a:ext>
              </a:extLst>
            </p:cNvPr>
            <p:cNvGrpSpPr/>
            <p:nvPr/>
          </p:nvGrpSpPr>
          <p:grpSpPr>
            <a:xfrm>
              <a:off x="23764422" y="36570765"/>
              <a:ext cx="3714750" cy="228600"/>
              <a:chOff x="23764422" y="36570765"/>
              <a:chExt cx="3714750" cy="228600"/>
            </a:xfrm>
          </p:grpSpPr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4B5A948C-2FB0-1F0F-E46E-BF6BA34F81D0}"/>
                  </a:ext>
                </a:extLst>
              </p:cNvPr>
              <p:cNvSpPr/>
              <p:nvPr/>
            </p:nvSpPr>
            <p:spPr>
              <a:xfrm>
                <a:off x="23764422" y="36570765"/>
                <a:ext cx="85725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E8773D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4130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5C133A-26C8-0C22-689C-F6A99C07FAD6}"/>
                  </a:ext>
                </a:extLst>
              </p:cNvPr>
              <p:cNvSpPr txBox="1"/>
              <p:nvPr/>
            </p:nvSpPr>
            <p:spPr>
              <a:xfrm>
                <a:off x="23941707" y="36577683"/>
                <a:ext cx="442554" cy="182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2400" b="1" spc="0" baseline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M3: GP</a:t>
                </a: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515A6BD1-4EE5-AC1A-A5A2-E4D2478672FA}"/>
                  </a:ext>
                </a:extLst>
              </p:cNvPr>
              <p:cNvSpPr/>
              <p:nvPr/>
            </p:nvSpPr>
            <p:spPr>
              <a:xfrm>
                <a:off x="24716922" y="36570765"/>
                <a:ext cx="85725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1A7A8A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4130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202FBB2-3111-2322-FEA5-D833BFBF50CE}"/>
                  </a:ext>
                </a:extLst>
              </p:cNvPr>
              <p:cNvSpPr txBox="1"/>
              <p:nvPr/>
            </p:nvSpPr>
            <p:spPr>
              <a:xfrm>
                <a:off x="24865378" y="36577683"/>
                <a:ext cx="509550" cy="182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2400" b="1" spc="0" baseline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M4: LLM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F6A74464-D349-2F7F-C2F8-A8C5374D6597}"/>
                  </a:ext>
                </a:extLst>
              </p:cNvPr>
              <p:cNvSpPr/>
              <p:nvPr/>
            </p:nvSpPr>
            <p:spPr>
              <a:xfrm>
                <a:off x="25669422" y="36570765"/>
                <a:ext cx="85725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7F8C8D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413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98C99FA-DD80-9084-E98D-3A51CCF58BFC}"/>
                  </a:ext>
                </a:extLst>
              </p:cNvPr>
              <p:cNvSpPr txBox="1"/>
              <p:nvPr/>
            </p:nvSpPr>
            <p:spPr>
              <a:xfrm>
                <a:off x="25746511" y="36577683"/>
                <a:ext cx="675043" cy="182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2400" b="1" spc="0" baseline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M1: Thresh.</a:t>
                </a: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E8562446-D026-5230-D7E9-A43BDA8A2833}"/>
                  </a:ext>
                </a:extLst>
              </p:cNvPr>
              <p:cNvSpPr/>
              <p:nvPr/>
            </p:nvSpPr>
            <p:spPr>
              <a:xfrm>
                <a:off x="26621922" y="36570765"/>
                <a:ext cx="857250" cy="228600"/>
              </a:xfrm>
              <a:prstGeom prst="roundRect">
                <a:avLst>
                  <a:gd name="adj" fmla="val 16666"/>
                </a:avLst>
              </a:prstGeom>
              <a:solidFill>
                <a:srgbClr val="2C3E5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LID4096" sz="41300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BE0EBFF-6A8C-DC3F-C2FD-2EC1272EC1A1}"/>
                  </a:ext>
                </a:extLst>
              </p:cNvPr>
              <p:cNvSpPr txBox="1"/>
              <p:nvPr/>
            </p:nvSpPr>
            <p:spPr>
              <a:xfrm>
                <a:off x="26678112" y="36577683"/>
                <a:ext cx="723179" cy="1820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LID4096" sz="2400" b="1" spc="0" baseline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M2: Random</a:t>
                </a:r>
              </a:p>
            </p:txBody>
          </p:sp>
        </p:grpSp>
        <p:sp>
          <p:nvSpPr>
            <p:cNvPr id="14355" name="TextBox 14354">
              <a:extLst>
                <a:ext uri="{FF2B5EF4-FFF2-40B4-BE49-F238E27FC236}">
                  <a16:creationId xmlns:a16="http://schemas.microsoft.com/office/drawing/2014/main" id="{1430C0CD-4899-5F07-6EAD-7F00D73A0F23}"/>
                </a:ext>
              </a:extLst>
            </p:cNvPr>
            <p:cNvSpPr txBox="1"/>
            <p:nvPr/>
          </p:nvSpPr>
          <p:spPr>
            <a:xfrm>
              <a:off x="23338862" y="36863889"/>
              <a:ext cx="368479" cy="206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b="1" spc="0" baseline="0">
                  <a:ln/>
                  <a:solidFill>
                    <a:srgbClr val="E8773D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RDW</a:t>
              </a:r>
            </a:p>
          </p:txBody>
        </p:sp>
        <p:sp>
          <p:nvSpPr>
            <p:cNvPr id="14356" name="Rectangle: Rounded Corners 14355">
              <a:extLst>
                <a:ext uri="{FF2B5EF4-FFF2-40B4-BE49-F238E27FC236}">
                  <a16:creationId xmlns:a16="http://schemas.microsoft.com/office/drawing/2014/main" id="{32DAD9EF-AAB5-0937-521C-0064B95A8C54}"/>
                </a:ext>
              </a:extLst>
            </p:cNvPr>
            <p:cNvSpPr/>
            <p:nvPr/>
          </p:nvSpPr>
          <p:spPr>
            <a:xfrm>
              <a:off x="23783472" y="36846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E8773D">
                <a:alpha val="9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57" name="TextBox 14356">
              <a:extLst>
                <a:ext uri="{FF2B5EF4-FFF2-40B4-BE49-F238E27FC236}">
                  <a16:creationId xmlns:a16="http://schemas.microsoft.com/office/drawing/2014/main" id="{2C402000-9538-5B16-DD5A-1FB464B6125A}"/>
                </a:ext>
              </a:extLst>
            </p:cNvPr>
            <p:cNvSpPr txBox="1"/>
            <p:nvPr/>
          </p:nvSpPr>
          <p:spPr>
            <a:xfrm>
              <a:off x="24010312" y="36872958"/>
              <a:ext cx="283912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85%</a:t>
              </a:r>
            </a:p>
          </p:txBody>
        </p:sp>
        <p:sp>
          <p:nvSpPr>
            <p:cNvPr id="14365" name="Rectangle: Rounded Corners 14364">
              <a:extLst>
                <a:ext uri="{FF2B5EF4-FFF2-40B4-BE49-F238E27FC236}">
                  <a16:creationId xmlns:a16="http://schemas.microsoft.com/office/drawing/2014/main" id="{3C56B80D-6A5F-5AC0-FB30-7FC331832B39}"/>
                </a:ext>
              </a:extLst>
            </p:cNvPr>
            <p:cNvSpPr/>
            <p:nvPr/>
          </p:nvSpPr>
          <p:spPr>
            <a:xfrm>
              <a:off x="24735972" y="36846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1A7A8A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66" name="TextBox 14365">
              <a:extLst>
                <a:ext uri="{FF2B5EF4-FFF2-40B4-BE49-F238E27FC236}">
                  <a16:creationId xmlns:a16="http://schemas.microsoft.com/office/drawing/2014/main" id="{29F67399-CBE2-9870-FAFE-4C2B3157E05F}"/>
                </a:ext>
              </a:extLst>
            </p:cNvPr>
            <p:cNvSpPr txBox="1"/>
            <p:nvPr/>
          </p:nvSpPr>
          <p:spPr>
            <a:xfrm>
              <a:off x="24963554" y="36872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64%</a:t>
              </a:r>
            </a:p>
          </p:txBody>
        </p:sp>
        <p:sp>
          <p:nvSpPr>
            <p:cNvPr id="14367" name="Rectangle: Rounded Corners 14366">
              <a:extLst>
                <a:ext uri="{FF2B5EF4-FFF2-40B4-BE49-F238E27FC236}">
                  <a16:creationId xmlns:a16="http://schemas.microsoft.com/office/drawing/2014/main" id="{14C56E4C-2B25-5AC0-ECEB-1F9E0C11209D}"/>
                </a:ext>
              </a:extLst>
            </p:cNvPr>
            <p:cNvSpPr/>
            <p:nvPr/>
          </p:nvSpPr>
          <p:spPr>
            <a:xfrm>
              <a:off x="25688472" y="36846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7F8C8D">
                <a:alpha val="9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79" name="TextBox 14378">
              <a:extLst>
                <a:ext uri="{FF2B5EF4-FFF2-40B4-BE49-F238E27FC236}">
                  <a16:creationId xmlns:a16="http://schemas.microsoft.com/office/drawing/2014/main" id="{73F81F45-31B7-BEB3-7B17-81236FC5DD85}"/>
                </a:ext>
              </a:extLst>
            </p:cNvPr>
            <p:cNvSpPr txBox="1"/>
            <p:nvPr/>
          </p:nvSpPr>
          <p:spPr>
            <a:xfrm>
              <a:off x="25889502" y="36872958"/>
              <a:ext cx="343323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100%</a:t>
              </a:r>
            </a:p>
          </p:txBody>
        </p:sp>
        <p:sp>
          <p:nvSpPr>
            <p:cNvPr id="14380" name="Rectangle: Rounded Corners 14379">
              <a:extLst>
                <a:ext uri="{FF2B5EF4-FFF2-40B4-BE49-F238E27FC236}">
                  <a16:creationId xmlns:a16="http://schemas.microsoft.com/office/drawing/2014/main" id="{821CBA70-FFA6-02A7-B62A-A192BF56FCF1}"/>
                </a:ext>
              </a:extLst>
            </p:cNvPr>
            <p:cNvSpPr/>
            <p:nvPr/>
          </p:nvSpPr>
          <p:spPr>
            <a:xfrm>
              <a:off x="26640972" y="36846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2C3E50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81" name="TextBox 14380">
              <a:extLst>
                <a:ext uri="{FF2B5EF4-FFF2-40B4-BE49-F238E27FC236}">
                  <a16:creationId xmlns:a16="http://schemas.microsoft.com/office/drawing/2014/main" id="{D6F152E8-D542-007A-1BBC-71941302F38F}"/>
                </a:ext>
              </a:extLst>
            </p:cNvPr>
            <p:cNvSpPr txBox="1"/>
            <p:nvPr/>
          </p:nvSpPr>
          <p:spPr>
            <a:xfrm>
              <a:off x="26868554" y="36872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40%</a:t>
              </a:r>
            </a:p>
          </p:txBody>
        </p:sp>
        <p:sp>
          <p:nvSpPr>
            <p:cNvPr id="14382" name="TextBox 14381">
              <a:extLst>
                <a:ext uri="{FF2B5EF4-FFF2-40B4-BE49-F238E27FC236}">
                  <a16:creationId xmlns:a16="http://schemas.microsoft.com/office/drawing/2014/main" id="{F81D805B-CF1D-6373-2E04-85E12677C77F}"/>
                </a:ext>
              </a:extLst>
            </p:cNvPr>
            <p:cNvSpPr txBox="1"/>
            <p:nvPr/>
          </p:nvSpPr>
          <p:spPr>
            <a:xfrm>
              <a:off x="23420346" y="37244889"/>
              <a:ext cx="267858" cy="206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b="1" spc="0" baseline="0">
                  <a:ln/>
                  <a:solidFill>
                    <a:srgbClr val="E8773D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PLT</a:t>
              </a:r>
            </a:p>
          </p:txBody>
        </p:sp>
        <p:sp>
          <p:nvSpPr>
            <p:cNvPr id="14383" name="Rectangle: Rounded Corners 14382">
              <a:extLst>
                <a:ext uri="{FF2B5EF4-FFF2-40B4-BE49-F238E27FC236}">
                  <a16:creationId xmlns:a16="http://schemas.microsoft.com/office/drawing/2014/main" id="{E075B2CD-057F-3C07-041E-571236A7B56D}"/>
                </a:ext>
              </a:extLst>
            </p:cNvPr>
            <p:cNvSpPr/>
            <p:nvPr/>
          </p:nvSpPr>
          <p:spPr>
            <a:xfrm>
              <a:off x="23783472" y="37227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E8773D">
                <a:alpha val="95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84" name="TextBox 14383">
              <a:extLst>
                <a:ext uri="{FF2B5EF4-FFF2-40B4-BE49-F238E27FC236}">
                  <a16:creationId xmlns:a16="http://schemas.microsoft.com/office/drawing/2014/main" id="{1290F09B-F13A-2346-3435-D0B671992814}"/>
                </a:ext>
              </a:extLst>
            </p:cNvPr>
            <p:cNvSpPr txBox="1"/>
            <p:nvPr/>
          </p:nvSpPr>
          <p:spPr>
            <a:xfrm>
              <a:off x="24010312" y="37253958"/>
              <a:ext cx="283912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90%</a:t>
              </a:r>
            </a:p>
          </p:txBody>
        </p:sp>
        <p:sp>
          <p:nvSpPr>
            <p:cNvPr id="14385" name="Rectangle: Rounded Corners 14384">
              <a:extLst>
                <a:ext uri="{FF2B5EF4-FFF2-40B4-BE49-F238E27FC236}">
                  <a16:creationId xmlns:a16="http://schemas.microsoft.com/office/drawing/2014/main" id="{B08BD7F3-D40E-CA7D-9AEB-95786D7C7D65}"/>
                </a:ext>
              </a:extLst>
            </p:cNvPr>
            <p:cNvSpPr/>
            <p:nvPr/>
          </p:nvSpPr>
          <p:spPr>
            <a:xfrm>
              <a:off x="24735972" y="37227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1A7A8A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86" name="TextBox 14385">
              <a:extLst>
                <a:ext uri="{FF2B5EF4-FFF2-40B4-BE49-F238E27FC236}">
                  <a16:creationId xmlns:a16="http://schemas.microsoft.com/office/drawing/2014/main" id="{7C99BA12-503D-2FCB-3C73-0787D9BFB6B8}"/>
                </a:ext>
              </a:extLst>
            </p:cNvPr>
            <p:cNvSpPr txBox="1"/>
            <p:nvPr/>
          </p:nvSpPr>
          <p:spPr>
            <a:xfrm>
              <a:off x="24963554" y="37253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54%</a:t>
              </a:r>
            </a:p>
          </p:txBody>
        </p:sp>
        <p:sp>
          <p:nvSpPr>
            <p:cNvPr id="14387" name="Rectangle: Rounded Corners 14386">
              <a:extLst>
                <a:ext uri="{FF2B5EF4-FFF2-40B4-BE49-F238E27FC236}">
                  <a16:creationId xmlns:a16="http://schemas.microsoft.com/office/drawing/2014/main" id="{1A508E01-51AF-65DF-2ED7-42697AE64F08}"/>
                </a:ext>
              </a:extLst>
            </p:cNvPr>
            <p:cNvSpPr/>
            <p:nvPr/>
          </p:nvSpPr>
          <p:spPr>
            <a:xfrm>
              <a:off x="25688472" y="37227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7F8C8D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88" name="TextBox 14387">
              <a:extLst>
                <a:ext uri="{FF2B5EF4-FFF2-40B4-BE49-F238E27FC236}">
                  <a16:creationId xmlns:a16="http://schemas.microsoft.com/office/drawing/2014/main" id="{9BF25268-841F-6AB9-CF76-CEF52E34D9F1}"/>
                </a:ext>
              </a:extLst>
            </p:cNvPr>
            <p:cNvSpPr txBox="1"/>
            <p:nvPr/>
          </p:nvSpPr>
          <p:spPr>
            <a:xfrm>
              <a:off x="25916054" y="37253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50%</a:t>
              </a:r>
            </a:p>
          </p:txBody>
        </p:sp>
        <p:sp>
          <p:nvSpPr>
            <p:cNvPr id="14389" name="Rectangle: Rounded Corners 14388">
              <a:extLst>
                <a:ext uri="{FF2B5EF4-FFF2-40B4-BE49-F238E27FC236}">
                  <a16:creationId xmlns:a16="http://schemas.microsoft.com/office/drawing/2014/main" id="{6FA3CB4D-487C-858A-EE7E-D74004908D25}"/>
                </a:ext>
              </a:extLst>
            </p:cNvPr>
            <p:cNvSpPr/>
            <p:nvPr/>
          </p:nvSpPr>
          <p:spPr>
            <a:xfrm>
              <a:off x="26640972" y="37227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2C3E50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90" name="TextBox 14389">
              <a:extLst>
                <a:ext uri="{FF2B5EF4-FFF2-40B4-BE49-F238E27FC236}">
                  <a16:creationId xmlns:a16="http://schemas.microsoft.com/office/drawing/2014/main" id="{9B8C9B3F-7497-9374-C47B-7347079D6EFB}"/>
                </a:ext>
              </a:extLst>
            </p:cNvPr>
            <p:cNvSpPr txBox="1"/>
            <p:nvPr/>
          </p:nvSpPr>
          <p:spPr>
            <a:xfrm>
              <a:off x="26868554" y="37253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60%</a:t>
              </a:r>
            </a:p>
          </p:txBody>
        </p:sp>
        <p:sp>
          <p:nvSpPr>
            <p:cNvPr id="14391" name="TextBox 14390">
              <a:extLst>
                <a:ext uri="{FF2B5EF4-FFF2-40B4-BE49-F238E27FC236}">
                  <a16:creationId xmlns:a16="http://schemas.microsoft.com/office/drawing/2014/main" id="{0F04A18A-90CD-0E50-7080-076B655773A2}"/>
                </a:ext>
              </a:extLst>
            </p:cNvPr>
            <p:cNvSpPr txBox="1"/>
            <p:nvPr/>
          </p:nvSpPr>
          <p:spPr>
            <a:xfrm>
              <a:off x="23284726" y="37625889"/>
              <a:ext cx="436233" cy="206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b="1" spc="0" baseline="0">
                  <a:ln/>
                  <a:solidFill>
                    <a:srgbClr val="E8773D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MCHC</a:t>
              </a:r>
            </a:p>
          </p:txBody>
        </p:sp>
        <p:sp>
          <p:nvSpPr>
            <p:cNvPr id="14392" name="Rectangle: Rounded Corners 14391">
              <a:extLst>
                <a:ext uri="{FF2B5EF4-FFF2-40B4-BE49-F238E27FC236}">
                  <a16:creationId xmlns:a16="http://schemas.microsoft.com/office/drawing/2014/main" id="{06D200FA-A24A-CEC3-482A-942B1F65DBD0}"/>
                </a:ext>
              </a:extLst>
            </p:cNvPr>
            <p:cNvSpPr/>
            <p:nvPr/>
          </p:nvSpPr>
          <p:spPr>
            <a:xfrm>
              <a:off x="23783472" y="37608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E8773D">
                <a:alpha val="8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93" name="TextBox 14392">
              <a:extLst>
                <a:ext uri="{FF2B5EF4-FFF2-40B4-BE49-F238E27FC236}">
                  <a16:creationId xmlns:a16="http://schemas.microsoft.com/office/drawing/2014/main" id="{01502A82-9BC7-F399-814D-2BCCD9407D10}"/>
                </a:ext>
              </a:extLst>
            </p:cNvPr>
            <p:cNvSpPr txBox="1"/>
            <p:nvPr/>
          </p:nvSpPr>
          <p:spPr>
            <a:xfrm>
              <a:off x="24010312" y="37634958"/>
              <a:ext cx="283912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75%</a:t>
              </a:r>
            </a:p>
          </p:txBody>
        </p:sp>
        <p:sp>
          <p:nvSpPr>
            <p:cNvPr id="14394" name="Rectangle: Rounded Corners 14393">
              <a:extLst>
                <a:ext uri="{FF2B5EF4-FFF2-40B4-BE49-F238E27FC236}">
                  <a16:creationId xmlns:a16="http://schemas.microsoft.com/office/drawing/2014/main" id="{8E2A1719-1C41-8F86-3680-FBC470E27DEC}"/>
                </a:ext>
              </a:extLst>
            </p:cNvPr>
            <p:cNvSpPr/>
            <p:nvPr/>
          </p:nvSpPr>
          <p:spPr>
            <a:xfrm>
              <a:off x="24735972" y="37608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1A7A8A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95" name="TextBox 14394">
              <a:extLst>
                <a:ext uri="{FF2B5EF4-FFF2-40B4-BE49-F238E27FC236}">
                  <a16:creationId xmlns:a16="http://schemas.microsoft.com/office/drawing/2014/main" id="{A392DBEC-1CA2-DB10-EEE3-C1BAA3197F26}"/>
                </a:ext>
              </a:extLst>
            </p:cNvPr>
            <p:cNvSpPr txBox="1"/>
            <p:nvPr/>
          </p:nvSpPr>
          <p:spPr>
            <a:xfrm>
              <a:off x="24963554" y="37634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45%</a:t>
              </a:r>
            </a:p>
          </p:txBody>
        </p:sp>
        <p:sp>
          <p:nvSpPr>
            <p:cNvPr id="14396" name="Rectangle: Rounded Corners 14395">
              <a:extLst>
                <a:ext uri="{FF2B5EF4-FFF2-40B4-BE49-F238E27FC236}">
                  <a16:creationId xmlns:a16="http://schemas.microsoft.com/office/drawing/2014/main" id="{E92CF3C9-508A-72F1-603C-79743DBD65A9}"/>
                </a:ext>
              </a:extLst>
            </p:cNvPr>
            <p:cNvSpPr/>
            <p:nvPr/>
          </p:nvSpPr>
          <p:spPr>
            <a:xfrm>
              <a:off x="25688472" y="37608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7F8C8D">
                <a:alpha val="4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97" name="TextBox 14396">
              <a:extLst>
                <a:ext uri="{FF2B5EF4-FFF2-40B4-BE49-F238E27FC236}">
                  <a16:creationId xmlns:a16="http://schemas.microsoft.com/office/drawing/2014/main" id="{9EFF7223-E553-E7F1-E6BB-91BE54709484}"/>
                </a:ext>
              </a:extLst>
            </p:cNvPr>
            <p:cNvSpPr txBox="1"/>
            <p:nvPr/>
          </p:nvSpPr>
          <p:spPr>
            <a:xfrm>
              <a:off x="25916054" y="37634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40%</a:t>
              </a:r>
            </a:p>
          </p:txBody>
        </p:sp>
        <p:sp>
          <p:nvSpPr>
            <p:cNvPr id="14398" name="Rectangle: Rounded Corners 14397">
              <a:extLst>
                <a:ext uri="{FF2B5EF4-FFF2-40B4-BE49-F238E27FC236}">
                  <a16:creationId xmlns:a16="http://schemas.microsoft.com/office/drawing/2014/main" id="{27F1D164-F796-1337-1835-F6F6E0797533}"/>
                </a:ext>
              </a:extLst>
            </p:cNvPr>
            <p:cNvSpPr/>
            <p:nvPr/>
          </p:nvSpPr>
          <p:spPr>
            <a:xfrm>
              <a:off x="26640972" y="37608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2C3E50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399" name="TextBox 14398">
              <a:extLst>
                <a:ext uri="{FF2B5EF4-FFF2-40B4-BE49-F238E27FC236}">
                  <a16:creationId xmlns:a16="http://schemas.microsoft.com/office/drawing/2014/main" id="{3E72365B-24F5-7A3C-E243-D57BECCDB15F}"/>
                </a:ext>
              </a:extLst>
            </p:cNvPr>
            <p:cNvSpPr txBox="1"/>
            <p:nvPr/>
          </p:nvSpPr>
          <p:spPr>
            <a:xfrm>
              <a:off x="26868554" y="37634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55%</a:t>
              </a:r>
            </a:p>
          </p:txBody>
        </p:sp>
        <p:sp>
          <p:nvSpPr>
            <p:cNvPr id="14848" name="TextBox 14847">
              <a:extLst>
                <a:ext uri="{FF2B5EF4-FFF2-40B4-BE49-F238E27FC236}">
                  <a16:creationId xmlns:a16="http://schemas.microsoft.com/office/drawing/2014/main" id="{872928ED-9A63-A76C-0562-30E3478B0869}"/>
                </a:ext>
              </a:extLst>
            </p:cNvPr>
            <p:cNvSpPr txBox="1"/>
            <p:nvPr/>
          </p:nvSpPr>
          <p:spPr>
            <a:xfrm>
              <a:off x="23102226" y="38006889"/>
              <a:ext cx="662503" cy="206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spc="0" baseline="0">
                  <a:ln/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mono_pct</a:t>
              </a:r>
            </a:p>
          </p:txBody>
        </p:sp>
        <p:sp>
          <p:nvSpPr>
            <p:cNvPr id="14849" name="Rectangle: Rounded Corners 14848">
              <a:extLst>
                <a:ext uri="{FF2B5EF4-FFF2-40B4-BE49-F238E27FC236}">
                  <a16:creationId xmlns:a16="http://schemas.microsoft.com/office/drawing/2014/main" id="{C6E31A17-71F8-5F4C-CD6D-594A626C4B58}"/>
                </a:ext>
              </a:extLst>
            </p:cNvPr>
            <p:cNvSpPr/>
            <p:nvPr/>
          </p:nvSpPr>
          <p:spPr>
            <a:xfrm>
              <a:off x="23783472" y="37989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E8773D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50" name="TextBox 14849">
              <a:extLst>
                <a:ext uri="{FF2B5EF4-FFF2-40B4-BE49-F238E27FC236}">
                  <a16:creationId xmlns:a16="http://schemas.microsoft.com/office/drawing/2014/main" id="{1E5DB9E3-1AD0-05D1-7667-A76FC6F72C07}"/>
                </a:ext>
              </a:extLst>
            </p:cNvPr>
            <p:cNvSpPr txBox="1"/>
            <p:nvPr/>
          </p:nvSpPr>
          <p:spPr>
            <a:xfrm>
              <a:off x="24011054" y="38015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65%</a:t>
              </a:r>
            </a:p>
          </p:txBody>
        </p:sp>
        <p:sp>
          <p:nvSpPr>
            <p:cNvPr id="14851" name="Rectangle: Rounded Corners 14850">
              <a:extLst>
                <a:ext uri="{FF2B5EF4-FFF2-40B4-BE49-F238E27FC236}">
                  <a16:creationId xmlns:a16="http://schemas.microsoft.com/office/drawing/2014/main" id="{7A49CD4D-1258-522A-EB5E-3C56DC280861}"/>
                </a:ext>
              </a:extLst>
            </p:cNvPr>
            <p:cNvSpPr/>
            <p:nvPr/>
          </p:nvSpPr>
          <p:spPr>
            <a:xfrm>
              <a:off x="24735972" y="37989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1A7A8A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52" name="TextBox 14851">
              <a:extLst>
                <a:ext uri="{FF2B5EF4-FFF2-40B4-BE49-F238E27FC236}">
                  <a16:creationId xmlns:a16="http://schemas.microsoft.com/office/drawing/2014/main" id="{9806D011-6911-4545-58CE-436926CD5A2F}"/>
                </a:ext>
              </a:extLst>
            </p:cNvPr>
            <p:cNvSpPr txBox="1"/>
            <p:nvPr/>
          </p:nvSpPr>
          <p:spPr>
            <a:xfrm>
              <a:off x="24963554" y="38015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15%</a:t>
              </a:r>
            </a:p>
          </p:txBody>
        </p:sp>
        <p:sp>
          <p:nvSpPr>
            <p:cNvPr id="14853" name="Rectangle: Rounded Corners 14852">
              <a:extLst>
                <a:ext uri="{FF2B5EF4-FFF2-40B4-BE49-F238E27FC236}">
                  <a16:creationId xmlns:a16="http://schemas.microsoft.com/office/drawing/2014/main" id="{2B6C8BC1-AF7B-FBBD-8125-59DF019A8B29}"/>
                </a:ext>
              </a:extLst>
            </p:cNvPr>
            <p:cNvSpPr/>
            <p:nvPr/>
          </p:nvSpPr>
          <p:spPr>
            <a:xfrm>
              <a:off x="25688472" y="37989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7F8C8D">
                <a:alpha val="15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54" name="TextBox 14853">
              <a:extLst>
                <a:ext uri="{FF2B5EF4-FFF2-40B4-BE49-F238E27FC236}">
                  <a16:creationId xmlns:a16="http://schemas.microsoft.com/office/drawing/2014/main" id="{7389168E-4FF6-AA83-C059-5D531CF43EFD}"/>
                </a:ext>
              </a:extLst>
            </p:cNvPr>
            <p:cNvSpPr txBox="1"/>
            <p:nvPr/>
          </p:nvSpPr>
          <p:spPr>
            <a:xfrm>
              <a:off x="25916054" y="38015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777777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10%</a:t>
              </a:r>
            </a:p>
          </p:txBody>
        </p:sp>
        <p:sp>
          <p:nvSpPr>
            <p:cNvPr id="14855" name="Rectangle: Rounded Corners 14854">
              <a:extLst>
                <a:ext uri="{FF2B5EF4-FFF2-40B4-BE49-F238E27FC236}">
                  <a16:creationId xmlns:a16="http://schemas.microsoft.com/office/drawing/2014/main" id="{E394E9D6-26A3-F720-3D12-328D35B0F82E}"/>
                </a:ext>
              </a:extLst>
            </p:cNvPr>
            <p:cNvSpPr/>
            <p:nvPr/>
          </p:nvSpPr>
          <p:spPr>
            <a:xfrm>
              <a:off x="26640972" y="37989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2C3E50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56" name="TextBox 14855">
              <a:extLst>
                <a:ext uri="{FF2B5EF4-FFF2-40B4-BE49-F238E27FC236}">
                  <a16:creationId xmlns:a16="http://schemas.microsoft.com/office/drawing/2014/main" id="{389A4CB0-F983-3D4F-690F-3C5DFC3B7776}"/>
                </a:ext>
              </a:extLst>
            </p:cNvPr>
            <p:cNvSpPr txBox="1"/>
            <p:nvPr/>
          </p:nvSpPr>
          <p:spPr>
            <a:xfrm>
              <a:off x="26868554" y="38015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20%</a:t>
              </a:r>
            </a:p>
          </p:txBody>
        </p:sp>
        <p:sp>
          <p:nvSpPr>
            <p:cNvPr id="14857" name="TextBox 14856">
              <a:extLst>
                <a:ext uri="{FF2B5EF4-FFF2-40B4-BE49-F238E27FC236}">
                  <a16:creationId xmlns:a16="http://schemas.microsoft.com/office/drawing/2014/main" id="{D0D01443-B106-7408-B159-9822B2128418}"/>
                </a:ext>
              </a:extLst>
            </p:cNvPr>
            <p:cNvSpPr txBox="1"/>
            <p:nvPr/>
          </p:nvSpPr>
          <p:spPr>
            <a:xfrm>
              <a:off x="23392552" y="38387889"/>
              <a:ext cx="302241" cy="2062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spc="0" baseline="0">
                  <a:ln/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RBC</a:t>
              </a:r>
            </a:p>
          </p:txBody>
        </p:sp>
        <p:sp>
          <p:nvSpPr>
            <p:cNvPr id="14858" name="Rectangle: Rounded Corners 14857">
              <a:extLst>
                <a:ext uri="{FF2B5EF4-FFF2-40B4-BE49-F238E27FC236}">
                  <a16:creationId xmlns:a16="http://schemas.microsoft.com/office/drawing/2014/main" id="{4168F36F-A79C-EE21-A17D-51BDA7522D2E}"/>
                </a:ext>
              </a:extLst>
            </p:cNvPr>
            <p:cNvSpPr/>
            <p:nvPr/>
          </p:nvSpPr>
          <p:spPr>
            <a:xfrm>
              <a:off x="23783472" y="38370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E8773D">
                <a:alpha val="45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59" name="TextBox 14858">
              <a:extLst>
                <a:ext uri="{FF2B5EF4-FFF2-40B4-BE49-F238E27FC236}">
                  <a16:creationId xmlns:a16="http://schemas.microsoft.com/office/drawing/2014/main" id="{2B8935A7-5487-DCEA-4248-0391F1113E4E}"/>
                </a:ext>
              </a:extLst>
            </p:cNvPr>
            <p:cNvSpPr txBox="1"/>
            <p:nvPr/>
          </p:nvSpPr>
          <p:spPr>
            <a:xfrm>
              <a:off x="24011054" y="38396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40%</a:t>
              </a:r>
            </a:p>
          </p:txBody>
        </p:sp>
        <p:sp>
          <p:nvSpPr>
            <p:cNvPr id="14860" name="Rectangle: Rounded Corners 14859">
              <a:extLst>
                <a:ext uri="{FF2B5EF4-FFF2-40B4-BE49-F238E27FC236}">
                  <a16:creationId xmlns:a16="http://schemas.microsoft.com/office/drawing/2014/main" id="{22B76F0D-C62B-6A82-2020-ACCFA3904738}"/>
                </a:ext>
              </a:extLst>
            </p:cNvPr>
            <p:cNvSpPr/>
            <p:nvPr/>
          </p:nvSpPr>
          <p:spPr>
            <a:xfrm>
              <a:off x="24735972" y="38370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1A7A8A">
                <a:alpha val="15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61" name="TextBox 14860">
              <a:extLst>
                <a:ext uri="{FF2B5EF4-FFF2-40B4-BE49-F238E27FC236}">
                  <a16:creationId xmlns:a16="http://schemas.microsoft.com/office/drawing/2014/main" id="{7871DBE6-339A-7EC8-21CD-A276F098AA61}"/>
                </a:ext>
              </a:extLst>
            </p:cNvPr>
            <p:cNvSpPr txBox="1"/>
            <p:nvPr/>
          </p:nvSpPr>
          <p:spPr>
            <a:xfrm>
              <a:off x="24963554" y="38396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12%</a:t>
              </a:r>
            </a:p>
          </p:txBody>
        </p:sp>
        <p:sp>
          <p:nvSpPr>
            <p:cNvPr id="14862" name="Rectangle: Rounded Corners 14861">
              <a:extLst>
                <a:ext uri="{FF2B5EF4-FFF2-40B4-BE49-F238E27FC236}">
                  <a16:creationId xmlns:a16="http://schemas.microsoft.com/office/drawing/2014/main" id="{167024CD-ACA1-B9F5-205B-E365123152A5}"/>
                </a:ext>
              </a:extLst>
            </p:cNvPr>
            <p:cNvSpPr/>
            <p:nvPr/>
          </p:nvSpPr>
          <p:spPr>
            <a:xfrm>
              <a:off x="25688472" y="38370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7F8C8D">
                <a:alpha val="80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63" name="TextBox 14862">
              <a:extLst>
                <a:ext uri="{FF2B5EF4-FFF2-40B4-BE49-F238E27FC236}">
                  <a16:creationId xmlns:a16="http://schemas.microsoft.com/office/drawing/2014/main" id="{5D2EC412-BBFE-5F62-302E-45BF91ACEDEB}"/>
                </a:ext>
              </a:extLst>
            </p:cNvPr>
            <p:cNvSpPr txBox="1"/>
            <p:nvPr/>
          </p:nvSpPr>
          <p:spPr>
            <a:xfrm>
              <a:off x="25916054" y="38396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80%</a:t>
              </a:r>
            </a:p>
          </p:txBody>
        </p:sp>
        <p:sp>
          <p:nvSpPr>
            <p:cNvPr id="14864" name="Rectangle: Rounded Corners 14863">
              <a:extLst>
                <a:ext uri="{FF2B5EF4-FFF2-40B4-BE49-F238E27FC236}">
                  <a16:creationId xmlns:a16="http://schemas.microsoft.com/office/drawing/2014/main" id="{68EED80C-FB88-BC76-2CD1-CEB3F6C30EC3}"/>
                </a:ext>
              </a:extLst>
            </p:cNvPr>
            <p:cNvSpPr/>
            <p:nvPr/>
          </p:nvSpPr>
          <p:spPr>
            <a:xfrm>
              <a:off x="26640972" y="38370990"/>
              <a:ext cx="819150" cy="266700"/>
            </a:xfrm>
            <a:prstGeom prst="roundRect">
              <a:avLst>
                <a:gd name="adj" fmla="val 14285"/>
              </a:avLst>
            </a:prstGeom>
            <a:solidFill>
              <a:srgbClr val="2C3E50">
                <a:alpha val="55000"/>
              </a:srgbClr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65" name="TextBox 14864">
              <a:extLst>
                <a:ext uri="{FF2B5EF4-FFF2-40B4-BE49-F238E27FC236}">
                  <a16:creationId xmlns:a16="http://schemas.microsoft.com/office/drawing/2014/main" id="{E2639866-BF23-2914-F08F-056C63F8479E}"/>
                </a:ext>
              </a:extLst>
            </p:cNvPr>
            <p:cNvSpPr txBox="1"/>
            <p:nvPr/>
          </p:nvSpPr>
          <p:spPr>
            <a:xfrm>
              <a:off x="26868554" y="38396958"/>
              <a:ext cx="282016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50%</a:t>
              </a:r>
            </a:p>
          </p:txBody>
        </p:sp>
        <p:sp>
          <p:nvSpPr>
            <p:cNvPr id="14866" name="Rectangle: Rounded Corners 14865">
              <a:extLst>
                <a:ext uri="{FF2B5EF4-FFF2-40B4-BE49-F238E27FC236}">
                  <a16:creationId xmlns:a16="http://schemas.microsoft.com/office/drawing/2014/main" id="{9C19838B-750B-2FA8-44B3-756DDCB11976}"/>
                </a:ext>
              </a:extLst>
            </p:cNvPr>
            <p:cNvSpPr/>
            <p:nvPr/>
          </p:nvSpPr>
          <p:spPr>
            <a:xfrm>
              <a:off x="23783472" y="38742465"/>
              <a:ext cx="3676650" cy="247650"/>
            </a:xfrm>
            <a:prstGeom prst="roundRect">
              <a:avLst>
                <a:gd name="adj" fmla="val 15384"/>
              </a:avLst>
            </a:prstGeom>
            <a:solidFill>
              <a:srgbClr val="D6EAF0"/>
            </a:solidFill>
            <a:ln w="14288" cap="flat">
              <a:solidFill>
                <a:srgbClr val="1A7A8A"/>
              </a:solidFill>
              <a:prstDash val="solid"/>
              <a:miter/>
            </a:ln>
          </p:spPr>
          <p:txBody>
            <a:bodyPr/>
            <a:lstStyle/>
            <a:p>
              <a:endParaRPr lang="LID4096" sz="41300"/>
            </a:p>
          </p:txBody>
        </p:sp>
        <p:sp>
          <p:nvSpPr>
            <p:cNvPr id="14867" name="TextBox 14866">
              <a:extLst>
                <a:ext uri="{FF2B5EF4-FFF2-40B4-BE49-F238E27FC236}">
                  <a16:creationId xmlns:a16="http://schemas.microsoft.com/office/drawing/2014/main" id="{E40684D1-F23E-0EAE-3F2C-0F6C5913F6F5}"/>
                </a:ext>
              </a:extLst>
            </p:cNvPr>
            <p:cNvSpPr txBox="1"/>
            <p:nvPr/>
          </p:nvSpPr>
          <p:spPr>
            <a:xfrm>
              <a:off x="24238933" y="38758908"/>
              <a:ext cx="3063695" cy="182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1A7A8A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RDW · PLT · MCHC — consensus features across all methods</a:t>
              </a:r>
            </a:p>
          </p:txBody>
        </p:sp>
      </p:grpSp>
      <p:grpSp>
        <p:nvGrpSpPr>
          <p:cNvPr id="14994" name="Group 14993">
            <a:extLst>
              <a:ext uri="{FF2B5EF4-FFF2-40B4-BE49-F238E27FC236}">
                <a16:creationId xmlns:a16="http://schemas.microsoft.com/office/drawing/2014/main" id="{A448EAB9-3613-19F1-D575-67B503834B57}"/>
              </a:ext>
            </a:extLst>
          </p:cNvPr>
          <p:cNvGrpSpPr/>
          <p:nvPr/>
        </p:nvGrpSpPr>
        <p:grpSpPr>
          <a:xfrm>
            <a:off x="19080071" y="26643259"/>
            <a:ext cx="11737193" cy="6264697"/>
            <a:chOff x="19080071" y="26643259"/>
            <a:chExt cx="11737193" cy="6264697"/>
          </a:xfrm>
        </p:grpSpPr>
        <p:sp>
          <p:nvSpPr>
            <p:cNvPr id="14873" name="TextBox 14872">
              <a:extLst>
                <a:ext uri="{FF2B5EF4-FFF2-40B4-BE49-F238E27FC236}">
                  <a16:creationId xmlns:a16="http://schemas.microsoft.com/office/drawing/2014/main" id="{0C625547-0B49-8015-779B-B3D105ED2842}"/>
                </a:ext>
              </a:extLst>
            </p:cNvPr>
            <p:cNvSpPr txBox="1"/>
            <p:nvPr/>
          </p:nvSpPr>
          <p:spPr>
            <a:xfrm>
              <a:off x="20232092" y="26643259"/>
              <a:ext cx="9252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3600" b="1" spc="0" baseline="0" dirty="0">
                  <a:ln/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Rheumatoid Arthritis — AUC-PR Lift by Method</a:t>
              </a:r>
            </a:p>
          </p:txBody>
        </p:sp>
        <p:sp>
          <p:nvSpPr>
            <p:cNvPr id="14874" name="TextBox 14873">
              <a:extLst>
                <a:ext uri="{FF2B5EF4-FFF2-40B4-BE49-F238E27FC236}">
                  <a16:creationId xmlns:a16="http://schemas.microsoft.com/office/drawing/2014/main" id="{9AC3908B-512E-26E7-771C-F207668725B3}"/>
                </a:ext>
              </a:extLst>
            </p:cNvPr>
            <p:cNvSpPr txBox="1"/>
            <p:nvPr/>
          </p:nvSpPr>
          <p:spPr>
            <a:xfrm>
              <a:off x="19728037" y="27291332"/>
              <a:ext cx="106055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spc="0" baseline="0" dirty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Lift = AUC-PR / prevalence (1.02%) | error bars = 95% bootstrap CI (n=1,000) | dashed = LR all-features baseline</a:t>
              </a:r>
            </a:p>
          </p:txBody>
        </p:sp>
        <p:sp>
          <p:nvSpPr>
            <p:cNvPr id="14878" name="Freeform: Shape 14877">
              <a:extLst>
                <a:ext uri="{FF2B5EF4-FFF2-40B4-BE49-F238E27FC236}">
                  <a16:creationId xmlns:a16="http://schemas.microsoft.com/office/drawing/2014/main" id="{8B8F150C-2815-7AB7-C196-6F69479A40B6}"/>
                </a:ext>
              </a:extLst>
            </p:cNvPr>
            <p:cNvSpPr/>
            <p:nvPr/>
          </p:nvSpPr>
          <p:spPr>
            <a:xfrm>
              <a:off x="20175369" y="31498335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7620" cap="flat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886" name="Freeform: Shape 14885">
              <a:extLst>
                <a:ext uri="{FF2B5EF4-FFF2-40B4-BE49-F238E27FC236}">
                  <a16:creationId xmlns:a16="http://schemas.microsoft.com/office/drawing/2014/main" id="{C09BB099-8219-66A3-9AD7-AC325325F794}"/>
                </a:ext>
              </a:extLst>
            </p:cNvPr>
            <p:cNvSpPr/>
            <p:nvPr/>
          </p:nvSpPr>
          <p:spPr>
            <a:xfrm>
              <a:off x="20175369" y="30761030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7620" cap="flat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887" name="Freeform: Shape 14886">
              <a:extLst>
                <a:ext uri="{FF2B5EF4-FFF2-40B4-BE49-F238E27FC236}">
                  <a16:creationId xmlns:a16="http://schemas.microsoft.com/office/drawing/2014/main" id="{3FF4BDE0-85FE-D3FC-7B5D-F020A3502CA6}"/>
                </a:ext>
              </a:extLst>
            </p:cNvPr>
            <p:cNvSpPr/>
            <p:nvPr/>
          </p:nvSpPr>
          <p:spPr>
            <a:xfrm>
              <a:off x="20175369" y="30011639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7620" cap="flat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888" name="Freeform: Shape 14887">
              <a:extLst>
                <a:ext uri="{FF2B5EF4-FFF2-40B4-BE49-F238E27FC236}">
                  <a16:creationId xmlns:a16="http://schemas.microsoft.com/office/drawing/2014/main" id="{984092A3-DF29-0550-8300-E12002184951}"/>
                </a:ext>
              </a:extLst>
            </p:cNvPr>
            <p:cNvSpPr/>
            <p:nvPr/>
          </p:nvSpPr>
          <p:spPr>
            <a:xfrm>
              <a:off x="20175369" y="29274334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7620" cap="flat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889" name="Freeform: Shape 14888">
              <a:extLst>
                <a:ext uri="{FF2B5EF4-FFF2-40B4-BE49-F238E27FC236}">
                  <a16:creationId xmlns:a16="http://schemas.microsoft.com/office/drawing/2014/main" id="{47F4E93B-6331-196E-A73F-15DBA21AE496}"/>
                </a:ext>
              </a:extLst>
            </p:cNvPr>
            <p:cNvSpPr/>
            <p:nvPr/>
          </p:nvSpPr>
          <p:spPr>
            <a:xfrm>
              <a:off x="20175369" y="28537029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7620" cap="flat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890" name="Freeform: Shape 14889">
              <a:extLst>
                <a:ext uri="{FF2B5EF4-FFF2-40B4-BE49-F238E27FC236}">
                  <a16:creationId xmlns:a16="http://schemas.microsoft.com/office/drawing/2014/main" id="{1727A315-DF14-5746-CF24-57A32EFC2576}"/>
                </a:ext>
              </a:extLst>
            </p:cNvPr>
            <p:cNvSpPr/>
            <p:nvPr/>
          </p:nvSpPr>
          <p:spPr>
            <a:xfrm>
              <a:off x="20175369" y="27787637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7620" cap="flat">
              <a:solidFill>
                <a:srgbClr val="E2E8F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892" name="TextBox 14891">
              <a:extLst>
                <a:ext uri="{FF2B5EF4-FFF2-40B4-BE49-F238E27FC236}">
                  <a16:creationId xmlns:a16="http://schemas.microsoft.com/office/drawing/2014/main" id="{14C9BEFD-EAB4-4274-D5E7-B0DC2BC1C477}"/>
                </a:ext>
              </a:extLst>
            </p:cNvPr>
            <p:cNvSpPr txBox="1"/>
            <p:nvPr/>
          </p:nvSpPr>
          <p:spPr>
            <a:xfrm>
              <a:off x="19637648" y="31362070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000" spc="0" baseline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1.0×</a:t>
              </a:r>
            </a:p>
          </p:txBody>
        </p:sp>
        <p:sp>
          <p:nvSpPr>
            <p:cNvPr id="14893" name="TextBox 14892">
              <a:extLst>
                <a:ext uri="{FF2B5EF4-FFF2-40B4-BE49-F238E27FC236}">
                  <a16:creationId xmlns:a16="http://schemas.microsoft.com/office/drawing/2014/main" id="{AB5E1ACE-2EB3-0CDC-5D40-7BF458097292}"/>
                </a:ext>
              </a:extLst>
            </p:cNvPr>
            <p:cNvSpPr txBox="1"/>
            <p:nvPr/>
          </p:nvSpPr>
          <p:spPr>
            <a:xfrm>
              <a:off x="19637648" y="30624766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000" spc="0" baseline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1.5×</a:t>
              </a:r>
            </a:p>
          </p:txBody>
        </p:sp>
        <p:sp>
          <p:nvSpPr>
            <p:cNvPr id="14894" name="TextBox 14893">
              <a:extLst>
                <a:ext uri="{FF2B5EF4-FFF2-40B4-BE49-F238E27FC236}">
                  <a16:creationId xmlns:a16="http://schemas.microsoft.com/office/drawing/2014/main" id="{FA1C1F59-A062-C238-6DFB-149649BFC1FE}"/>
                </a:ext>
              </a:extLst>
            </p:cNvPr>
            <p:cNvSpPr txBox="1"/>
            <p:nvPr/>
          </p:nvSpPr>
          <p:spPr>
            <a:xfrm>
              <a:off x="19637648" y="29875374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000" spc="0" baseline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2.0×</a:t>
              </a:r>
            </a:p>
          </p:txBody>
        </p:sp>
        <p:sp>
          <p:nvSpPr>
            <p:cNvPr id="14895" name="TextBox 14894">
              <a:extLst>
                <a:ext uri="{FF2B5EF4-FFF2-40B4-BE49-F238E27FC236}">
                  <a16:creationId xmlns:a16="http://schemas.microsoft.com/office/drawing/2014/main" id="{E4836A64-8FD9-4705-012A-57238999FED9}"/>
                </a:ext>
              </a:extLst>
            </p:cNvPr>
            <p:cNvSpPr txBox="1"/>
            <p:nvPr/>
          </p:nvSpPr>
          <p:spPr>
            <a:xfrm>
              <a:off x="19637648" y="29138069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000" spc="0" baseline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2.5×</a:t>
              </a:r>
            </a:p>
          </p:txBody>
        </p:sp>
        <p:sp>
          <p:nvSpPr>
            <p:cNvPr id="14896" name="TextBox 14895">
              <a:extLst>
                <a:ext uri="{FF2B5EF4-FFF2-40B4-BE49-F238E27FC236}">
                  <a16:creationId xmlns:a16="http://schemas.microsoft.com/office/drawing/2014/main" id="{4D006005-552E-CCF6-C910-86A0FB41AF46}"/>
                </a:ext>
              </a:extLst>
            </p:cNvPr>
            <p:cNvSpPr txBox="1"/>
            <p:nvPr/>
          </p:nvSpPr>
          <p:spPr>
            <a:xfrm>
              <a:off x="19637648" y="28400764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000" spc="0" baseline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3.0×</a:t>
              </a:r>
            </a:p>
          </p:txBody>
        </p:sp>
        <p:sp>
          <p:nvSpPr>
            <p:cNvPr id="14897" name="TextBox 14896">
              <a:extLst>
                <a:ext uri="{FF2B5EF4-FFF2-40B4-BE49-F238E27FC236}">
                  <a16:creationId xmlns:a16="http://schemas.microsoft.com/office/drawing/2014/main" id="{D09EE76A-6BD5-634D-07A2-1593768F514D}"/>
                </a:ext>
              </a:extLst>
            </p:cNvPr>
            <p:cNvSpPr txBox="1"/>
            <p:nvPr/>
          </p:nvSpPr>
          <p:spPr>
            <a:xfrm>
              <a:off x="19637648" y="27651372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000" spc="0" baseline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3.5×</a:t>
              </a:r>
            </a:p>
          </p:txBody>
        </p:sp>
        <p:sp>
          <p:nvSpPr>
            <p:cNvPr id="14899" name="TextBox 14898">
              <a:extLst>
                <a:ext uri="{FF2B5EF4-FFF2-40B4-BE49-F238E27FC236}">
                  <a16:creationId xmlns:a16="http://schemas.microsoft.com/office/drawing/2014/main" id="{D0842004-45A3-C0FD-316E-A34360CB6EB0}"/>
                </a:ext>
              </a:extLst>
            </p:cNvPr>
            <p:cNvSpPr txBox="1"/>
            <p:nvPr/>
          </p:nvSpPr>
          <p:spPr>
            <a:xfrm rot="16200000">
              <a:off x="17573569" y="29416017"/>
              <a:ext cx="3382336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spc="0" baseline="0">
                  <a:ln/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AUC-PR Lift (AUC-PR / prevalence)</a:t>
              </a:r>
            </a:p>
          </p:txBody>
        </p:sp>
        <p:sp>
          <p:nvSpPr>
            <p:cNvPr id="14900" name="Freeform: Shape 14899">
              <a:extLst>
                <a:ext uri="{FF2B5EF4-FFF2-40B4-BE49-F238E27FC236}">
                  <a16:creationId xmlns:a16="http://schemas.microsoft.com/office/drawing/2014/main" id="{F17771EB-86B6-2612-4C6D-A186609A8E74}"/>
                </a:ext>
              </a:extLst>
            </p:cNvPr>
            <p:cNvSpPr/>
            <p:nvPr/>
          </p:nvSpPr>
          <p:spPr>
            <a:xfrm>
              <a:off x="20175369" y="31498335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14288" cap="flat">
              <a:solidFill>
                <a:srgbClr val="CBD5E1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1" name="Freeform: Shape 14900">
              <a:extLst>
                <a:ext uri="{FF2B5EF4-FFF2-40B4-BE49-F238E27FC236}">
                  <a16:creationId xmlns:a16="http://schemas.microsoft.com/office/drawing/2014/main" id="{503FB495-E4EA-7BDE-2B77-FA72C6C456F7}"/>
                </a:ext>
              </a:extLst>
            </p:cNvPr>
            <p:cNvSpPr/>
            <p:nvPr/>
          </p:nvSpPr>
          <p:spPr>
            <a:xfrm>
              <a:off x="20175369" y="30773117"/>
              <a:ext cx="10641895" cy="12087"/>
            </a:xfrm>
            <a:custGeom>
              <a:avLst/>
              <a:gdLst>
                <a:gd name="csX0" fmla="*/ 0 w 6410325"/>
                <a:gd name="csY0" fmla="*/ 0 h 9525"/>
                <a:gd name="csX1" fmla="*/ 6410325 w 6410325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410325" h="9525">
                  <a:moveTo>
                    <a:pt x="0" y="0"/>
                  </a:moveTo>
                  <a:lnTo>
                    <a:pt x="6410325" y="0"/>
                  </a:lnTo>
                </a:path>
              </a:pathLst>
            </a:custGeom>
            <a:ln w="15240" cap="flat">
              <a:solidFill>
                <a:srgbClr val="64748B"/>
              </a:solidFill>
              <a:custDash>
                <a:ds d="525000" sp="300000"/>
              </a:custDash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2" name="TextBox 14901">
              <a:extLst>
                <a:ext uri="{FF2B5EF4-FFF2-40B4-BE49-F238E27FC236}">
                  <a16:creationId xmlns:a16="http://schemas.microsoft.com/office/drawing/2014/main" id="{8A8D93AE-F323-FA34-3A5D-83781933420B}"/>
                </a:ext>
              </a:extLst>
            </p:cNvPr>
            <p:cNvSpPr txBox="1"/>
            <p:nvPr/>
          </p:nvSpPr>
          <p:spPr>
            <a:xfrm>
              <a:off x="20086818" y="30533246"/>
              <a:ext cx="2244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1800" i="1" spc="0" baseline="0">
                  <a:ln/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LR all-features (1.49×)</a:t>
              </a:r>
            </a:p>
          </p:txBody>
        </p:sp>
        <p:sp>
          <p:nvSpPr>
            <p:cNvPr id="14903" name="Rectangle: Rounded Corners 14902">
              <a:extLst>
                <a:ext uri="{FF2B5EF4-FFF2-40B4-BE49-F238E27FC236}">
                  <a16:creationId xmlns:a16="http://schemas.microsoft.com/office/drawing/2014/main" id="{2C2D914C-AE8F-36B1-BC6A-B926DCDC1D76}"/>
                </a:ext>
              </a:extLst>
            </p:cNvPr>
            <p:cNvSpPr/>
            <p:nvPr/>
          </p:nvSpPr>
          <p:spPr>
            <a:xfrm>
              <a:off x="20633935" y="30942335"/>
              <a:ext cx="1739388" cy="556000"/>
            </a:xfrm>
            <a:prstGeom prst="roundRect">
              <a:avLst>
                <a:gd name="adj" fmla="val 6521"/>
              </a:avLst>
            </a:prstGeom>
            <a:solidFill>
              <a:srgbClr val="2C3E50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4" name="Rectangle: Rounded Corners 14903">
              <a:extLst>
                <a:ext uri="{FF2B5EF4-FFF2-40B4-BE49-F238E27FC236}">
                  <a16:creationId xmlns:a16="http://schemas.microsoft.com/office/drawing/2014/main" id="{DFD39816-6B78-E8DC-386E-5E79BB91DA27}"/>
                </a:ext>
              </a:extLst>
            </p:cNvPr>
            <p:cNvSpPr/>
            <p:nvPr/>
          </p:nvSpPr>
          <p:spPr>
            <a:xfrm>
              <a:off x="23290455" y="31026944"/>
              <a:ext cx="1739388" cy="471392"/>
            </a:xfrm>
            <a:prstGeom prst="roundRect">
              <a:avLst>
                <a:gd name="adj" fmla="val 7692"/>
              </a:avLst>
            </a:prstGeom>
            <a:solidFill>
              <a:srgbClr val="7F8C8D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5" name="Rectangle: Rounded Corners 14904">
              <a:extLst>
                <a:ext uri="{FF2B5EF4-FFF2-40B4-BE49-F238E27FC236}">
                  <a16:creationId xmlns:a16="http://schemas.microsoft.com/office/drawing/2014/main" id="{F626BDBE-E186-2D05-FA4B-7174F4407894}"/>
                </a:ext>
              </a:extLst>
            </p:cNvPr>
            <p:cNvSpPr/>
            <p:nvPr/>
          </p:nvSpPr>
          <p:spPr>
            <a:xfrm>
              <a:off x="25946976" y="30628074"/>
              <a:ext cx="1739388" cy="870261"/>
            </a:xfrm>
            <a:prstGeom prst="roundRect">
              <a:avLst>
                <a:gd name="adj" fmla="val 4166"/>
              </a:avLst>
            </a:prstGeom>
            <a:solidFill>
              <a:srgbClr val="E8773D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6" name="Rectangle: Rounded Corners 14905">
              <a:extLst>
                <a:ext uri="{FF2B5EF4-FFF2-40B4-BE49-F238E27FC236}">
                  <a16:creationId xmlns:a16="http://schemas.microsoft.com/office/drawing/2014/main" id="{0413B10E-27D1-418C-FB28-BF5C73BD9341}"/>
                </a:ext>
              </a:extLst>
            </p:cNvPr>
            <p:cNvSpPr/>
            <p:nvPr/>
          </p:nvSpPr>
          <p:spPr>
            <a:xfrm>
              <a:off x="28603496" y="30821465"/>
              <a:ext cx="1739388" cy="676870"/>
            </a:xfrm>
            <a:prstGeom prst="roundRect">
              <a:avLst>
                <a:gd name="adj" fmla="val 5357"/>
              </a:avLst>
            </a:prstGeom>
            <a:solidFill>
              <a:srgbClr val="1A7A8A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7" name="Freeform: Shape 14906">
              <a:extLst>
                <a:ext uri="{FF2B5EF4-FFF2-40B4-BE49-F238E27FC236}">
                  <a16:creationId xmlns:a16="http://schemas.microsoft.com/office/drawing/2014/main" id="{7CB89D99-1D14-4C39-C389-F11487C499A3}"/>
                </a:ext>
              </a:extLst>
            </p:cNvPr>
            <p:cNvSpPr/>
            <p:nvPr/>
          </p:nvSpPr>
          <p:spPr>
            <a:xfrm>
              <a:off x="21503629" y="30942335"/>
              <a:ext cx="15813" cy="556000"/>
            </a:xfrm>
            <a:custGeom>
              <a:avLst/>
              <a:gdLst>
                <a:gd name="csX0" fmla="*/ 0 w 9525"/>
                <a:gd name="csY0" fmla="*/ 0 h 438150"/>
                <a:gd name="csX1" fmla="*/ 0 w 9525"/>
                <a:gd name="csY1" fmla="*/ 438150 h 438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ln w="17145" cap="flat">
              <a:solidFill>
                <a:srgbClr val="1A2532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8" name="Freeform: Shape 14907">
              <a:extLst>
                <a:ext uri="{FF2B5EF4-FFF2-40B4-BE49-F238E27FC236}">
                  <a16:creationId xmlns:a16="http://schemas.microsoft.com/office/drawing/2014/main" id="{04EB03FA-6A71-D6E1-643A-67310F0A35B9}"/>
                </a:ext>
              </a:extLst>
            </p:cNvPr>
            <p:cNvSpPr/>
            <p:nvPr/>
          </p:nvSpPr>
          <p:spPr>
            <a:xfrm>
              <a:off x="21345503" y="30942335"/>
              <a:ext cx="316252" cy="12087"/>
            </a:xfrm>
            <a:custGeom>
              <a:avLst/>
              <a:gdLst>
                <a:gd name="csX0" fmla="*/ 0 w 190500"/>
                <a:gd name="csY0" fmla="*/ 0 h 9525"/>
                <a:gd name="csX1" fmla="*/ 190500 w 190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7145" cap="flat">
              <a:solidFill>
                <a:srgbClr val="1A2532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09" name="Freeform: Shape 14908">
              <a:extLst>
                <a:ext uri="{FF2B5EF4-FFF2-40B4-BE49-F238E27FC236}">
                  <a16:creationId xmlns:a16="http://schemas.microsoft.com/office/drawing/2014/main" id="{B74F270D-8A30-8AB9-201B-A78921218698}"/>
                </a:ext>
              </a:extLst>
            </p:cNvPr>
            <p:cNvSpPr/>
            <p:nvPr/>
          </p:nvSpPr>
          <p:spPr>
            <a:xfrm>
              <a:off x="24160149" y="30023726"/>
              <a:ext cx="15813" cy="1474610"/>
            </a:xfrm>
            <a:custGeom>
              <a:avLst/>
              <a:gdLst>
                <a:gd name="csX0" fmla="*/ 0 w 9525"/>
                <a:gd name="csY0" fmla="*/ 1162050 h 1162050"/>
                <a:gd name="csX1" fmla="*/ 0 w 9525"/>
                <a:gd name="csY1" fmla="*/ 0 h 1162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162050">
                  <a:moveTo>
                    <a:pt x="0" y="1162050"/>
                  </a:moveTo>
                  <a:lnTo>
                    <a:pt x="0" y="0"/>
                  </a:lnTo>
                </a:path>
              </a:pathLst>
            </a:custGeom>
            <a:ln w="17145" cap="flat">
              <a:solidFill>
                <a:srgbClr val="555F6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0" name="Freeform: Shape 14909">
              <a:extLst>
                <a:ext uri="{FF2B5EF4-FFF2-40B4-BE49-F238E27FC236}">
                  <a16:creationId xmlns:a16="http://schemas.microsoft.com/office/drawing/2014/main" id="{D37C5CE7-90CB-3943-4B49-3E616A310023}"/>
                </a:ext>
              </a:extLst>
            </p:cNvPr>
            <p:cNvSpPr/>
            <p:nvPr/>
          </p:nvSpPr>
          <p:spPr>
            <a:xfrm>
              <a:off x="24002023" y="30023726"/>
              <a:ext cx="316252" cy="12087"/>
            </a:xfrm>
            <a:custGeom>
              <a:avLst/>
              <a:gdLst>
                <a:gd name="csX0" fmla="*/ 0 w 190500"/>
                <a:gd name="csY0" fmla="*/ 0 h 9525"/>
                <a:gd name="csX1" fmla="*/ 190500 w 190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7145" cap="flat">
              <a:solidFill>
                <a:srgbClr val="555F60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1" name="Freeform: Shape 14910">
              <a:extLst>
                <a:ext uri="{FF2B5EF4-FFF2-40B4-BE49-F238E27FC236}">
                  <a16:creationId xmlns:a16="http://schemas.microsoft.com/office/drawing/2014/main" id="{A7DD1572-AC24-6EE9-BF1A-87B02C2916C7}"/>
                </a:ext>
              </a:extLst>
            </p:cNvPr>
            <p:cNvSpPr/>
            <p:nvPr/>
          </p:nvSpPr>
          <p:spPr>
            <a:xfrm>
              <a:off x="26816670" y="28585377"/>
              <a:ext cx="15813" cy="2755828"/>
            </a:xfrm>
            <a:custGeom>
              <a:avLst/>
              <a:gdLst>
                <a:gd name="csX0" fmla="*/ 0 w 9525"/>
                <a:gd name="csY0" fmla="*/ 2171700 h 2171700"/>
                <a:gd name="csX1" fmla="*/ 0 w 9525"/>
                <a:gd name="csY1" fmla="*/ 0 h 2171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2171700">
                  <a:moveTo>
                    <a:pt x="0" y="2171700"/>
                  </a:moveTo>
                  <a:lnTo>
                    <a:pt x="0" y="0"/>
                  </a:lnTo>
                </a:path>
              </a:pathLst>
            </a:custGeom>
            <a:ln w="19050" cap="flat">
              <a:solidFill>
                <a:srgbClr val="A3521A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2" name="Freeform: Shape 14911">
              <a:extLst>
                <a:ext uri="{FF2B5EF4-FFF2-40B4-BE49-F238E27FC236}">
                  <a16:creationId xmlns:a16="http://schemas.microsoft.com/office/drawing/2014/main" id="{CD38059A-19CB-6177-A190-7B0A007604FC}"/>
                </a:ext>
              </a:extLst>
            </p:cNvPr>
            <p:cNvSpPr/>
            <p:nvPr/>
          </p:nvSpPr>
          <p:spPr>
            <a:xfrm>
              <a:off x="26658544" y="31341205"/>
              <a:ext cx="316252" cy="12087"/>
            </a:xfrm>
            <a:custGeom>
              <a:avLst/>
              <a:gdLst>
                <a:gd name="csX0" fmla="*/ 0 w 190500"/>
                <a:gd name="csY0" fmla="*/ 0 h 9525"/>
                <a:gd name="csX1" fmla="*/ 190500 w 190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A3521A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3" name="Freeform: Shape 14912">
              <a:extLst>
                <a:ext uri="{FF2B5EF4-FFF2-40B4-BE49-F238E27FC236}">
                  <a16:creationId xmlns:a16="http://schemas.microsoft.com/office/drawing/2014/main" id="{6773D658-6A48-315B-4D74-A9917B9080C2}"/>
                </a:ext>
              </a:extLst>
            </p:cNvPr>
            <p:cNvSpPr/>
            <p:nvPr/>
          </p:nvSpPr>
          <p:spPr>
            <a:xfrm>
              <a:off x="26658544" y="28585377"/>
              <a:ext cx="316252" cy="12087"/>
            </a:xfrm>
            <a:custGeom>
              <a:avLst/>
              <a:gdLst>
                <a:gd name="csX0" fmla="*/ 0 w 190500"/>
                <a:gd name="csY0" fmla="*/ 0 h 9525"/>
                <a:gd name="csX1" fmla="*/ 190500 w 190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9050" cap="flat">
              <a:solidFill>
                <a:srgbClr val="A3521A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4" name="Freeform: Shape 14913">
              <a:extLst>
                <a:ext uri="{FF2B5EF4-FFF2-40B4-BE49-F238E27FC236}">
                  <a16:creationId xmlns:a16="http://schemas.microsoft.com/office/drawing/2014/main" id="{DBE995DD-FF93-A634-C65B-CD824AAD3419}"/>
                </a:ext>
              </a:extLst>
            </p:cNvPr>
            <p:cNvSpPr/>
            <p:nvPr/>
          </p:nvSpPr>
          <p:spPr>
            <a:xfrm>
              <a:off x="29473191" y="29540247"/>
              <a:ext cx="15813" cy="1933914"/>
            </a:xfrm>
            <a:custGeom>
              <a:avLst/>
              <a:gdLst>
                <a:gd name="csX0" fmla="*/ 0 w 9525"/>
                <a:gd name="csY0" fmla="*/ 1524000 h 1524000"/>
                <a:gd name="csX1" fmla="*/ 0 w 9525"/>
                <a:gd name="csY1" fmla="*/ 0 h 1524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5"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ln w="17145" cap="flat">
              <a:solidFill>
                <a:srgbClr val="0D5968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5" name="Freeform: Shape 14914">
              <a:extLst>
                <a:ext uri="{FF2B5EF4-FFF2-40B4-BE49-F238E27FC236}">
                  <a16:creationId xmlns:a16="http://schemas.microsoft.com/office/drawing/2014/main" id="{CBAA2672-D8D2-BD12-012F-B2822DD62C0C}"/>
                </a:ext>
              </a:extLst>
            </p:cNvPr>
            <p:cNvSpPr/>
            <p:nvPr/>
          </p:nvSpPr>
          <p:spPr>
            <a:xfrm>
              <a:off x="29315064" y="31474161"/>
              <a:ext cx="316252" cy="12087"/>
            </a:xfrm>
            <a:custGeom>
              <a:avLst/>
              <a:gdLst>
                <a:gd name="csX0" fmla="*/ 0 w 190500"/>
                <a:gd name="csY0" fmla="*/ 0 h 9525"/>
                <a:gd name="csX1" fmla="*/ 190500 w 190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7145" cap="flat">
              <a:solidFill>
                <a:srgbClr val="0D5968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6" name="Freeform: Shape 14915">
              <a:extLst>
                <a:ext uri="{FF2B5EF4-FFF2-40B4-BE49-F238E27FC236}">
                  <a16:creationId xmlns:a16="http://schemas.microsoft.com/office/drawing/2014/main" id="{04B77A05-C7F1-077E-BD45-18890D68CB31}"/>
                </a:ext>
              </a:extLst>
            </p:cNvPr>
            <p:cNvSpPr/>
            <p:nvPr/>
          </p:nvSpPr>
          <p:spPr>
            <a:xfrm>
              <a:off x="29315064" y="29540247"/>
              <a:ext cx="316252" cy="12087"/>
            </a:xfrm>
            <a:custGeom>
              <a:avLst/>
              <a:gdLst>
                <a:gd name="csX0" fmla="*/ 0 w 190500"/>
                <a:gd name="csY0" fmla="*/ 0 h 9525"/>
                <a:gd name="csX1" fmla="*/ 190500 w 190500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ln w="17145" cap="flat">
              <a:solidFill>
                <a:srgbClr val="0D5968"/>
              </a:solidFill>
              <a:prstDash val="solid"/>
              <a:miter/>
            </a:ln>
          </p:spPr>
          <p:txBody>
            <a:bodyPr/>
            <a:lstStyle/>
            <a:p>
              <a:endParaRPr lang="LID4096" sz="34400"/>
            </a:p>
          </p:txBody>
        </p:sp>
        <p:sp>
          <p:nvSpPr>
            <p:cNvPr id="14917" name="TextBox 14916">
              <a:extLst>
                <a:ext uri="{FF2B5EF4-FFF2-40B4-BE49-F238E27FC236}">
                  <a16:creationId xmlns:a16="http://schemas.microsoft.com/office/drawing/2014/main" id="{0C04E58E-B15C-037B-5140-8FC64640B5C1}"/>
                </a:ext>
              </a:extLst>
            </p:cNvPr>
            <p:cNvSpPr txBox="1"/>
            <p:nvPr/>
          </p:nvSpPr>
          <p:spPr>
            <a:xfrm>
              <a:off x="21116904" y="30468792"/>
              <a:ext cx="886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1.38×</a:t>
              </a:r>
            </a:p>
          </p:txBody>
        </p:sp>
        <p:sp>
          <p:nvSpPr>
            <p:cNvPr id="14918" name="TextBox 14917">
              <a:extLst>
                <a:ext uri="{FF2B5EF4-FFF2-40B4-BE49-F238E27FC236}">
                  <a16:creationId xmlns:a16="http://schemas.microsoft.com/office/drawing/2014/main" id="{F01402A7-F1D2-8036-0025-D83457EA907A}"/>
                </a:ext>
              </a:extLst>
            </p:cNvPr>
            <p:cNvSpPr txBox="1"/>
            <p:nvPr/>
          </p:nvSpPr>
          <p:spPr>
            <a:xfrm>
              <a:off x="23773425" y="29550183"/>
              <a:ext cx="886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1.32×</a:t>
              </a:r>
            </a:p>
          </p:txBody>
        </p:sp>
        <p:sp>
          <p:nvSpPr>
            <p:cNvPr id="14919" name="TextBox 14918">
              <a:extLst>
                <a:ext uri="{FF2B5EF4-FFF2-40B4-BE49-F238E27FC236}">
                  <a16:creationId xmlns:a16="http://schemas.microsoft.com/office/drawing/2014/main" id="{D42ED7D8-078F-A718-045D-DC5603BFE308}"/>
                </a:ext>
              </a:extLst>
            </p:cNvPr>
            <p:cNvSpPr txBox="1"/>
            <p:nvPr/>
          </p:nvSpPr>
          <p:spPr>
            <a:xfrm>
              <a:off x="26429946" y="28111834"/>
              <a:ext cx="886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1.59×</a:t>
              </a:r>
            </a:p>
          </p:txBody>
        </p:sp>
        <p:sp>
          <p:nvSpPr>
            <p:cNvPr id="14920" name="TextBox 14919">
              <a:extLst>
                <a:ext uri="{FF2B5EF4-FFF2-40B4-BE49-F238E27FC236}">
                  <a16:creationId xmlns:a16="http://schemas.microsoft.com/office/drawing/2014/main" id="{B8E9D322-6355-46A3-298B-4ABDDBFA7656}"/>
                </a:ext>
              </a:extLst>
            </p:cNvPr>
            <p:cNvSpPr txBox="1"/>
            <p:nvPr/>
          </p:nvSpPr>
          <p:spPr>
            <a:xfrm>
              <a:off x="29086466" y="29066705"/>
              <a:ext cx="88678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1.45×</a:t>
              </a:r>
            </a:p>
          </p:txBody>
        </p:sp>
        <p:sp>
          <p:nvSpPr>
            <p:cNvPr id="14923" name="TextBox 14922">
              <a:extLst>
                <a:ext uri="{FF2B5EF4-FFF2-40B4-BE49-F238E27FC236}">
                  <a16:creationId xmlns:a16="http://schemas.microsoft.com/office/drawing/2014/main" id="{94192C2C-2FEB-2D5E-EB24-0F369BC96F04}"/>
                </a:ext>
              </a:extLst>
            </p:cNvPr>
            <p:cNvSpPr txBox="1"/>
            <p:nvPr/>
          </p:nvSpPr>
          <p:spPr>
            <a:xfrm>
              <a:off x="21209899" y="31520358"/>
              <a:ext cx="6094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2C3E50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M1</a:t>
              </a:r>
            </a:p>
          </p:txBody>
        </p:sp>
        <p:sp>
          <p:nvSpPr>
            <p:cNvPr id="14924" name="TextBox 14923">
              <a:extLst>
                <a:ext uri="{FF2B5EF4-FFF2-40B4-BE49-F238E27FC236}">
                  <a16:creationId xmlns:a16="http://schemas.microsoft.com/office/drawing/2014/main" id="{EA116664-77C4-51F5-A0B3-E53DCAB35C1F}"/>
                </a:ext>
              </a:extLst>
            </p:cNvPr>
            <p:cNvSpPr txBox="1"/>
            <p:nvPr/>
          </p:nvSpPr>
          <p:spPr>
            <a:xfrm>
              <a:off x="20664140" y="31931782"/>
              <a:ext cx="16370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spc="0" baseline="0">
                  <a:ln/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Threshold</a:t>
              </a:r>
            </a:p>
          </p:txBody>
        </p:sp>
        <p:sp>
          <p:nvSpPr>
            <p:cNvPr id="14925" name="TextBox 14924">
              <a:extLst>
                <a:ext uri="{FF2B5EF4-FFF2-40B4-BE49-F238E27FC236}">
                  <a16:creationId xmlns:a16="http://schemas.microsoft.com/office/drawing/2014/main" id="{D836FD1D-0E55-0F66-CE45-5DF820F1A0FC}"/>
                </a:ext>
              </a:extLst>
            </p:cNvPr>
            <p:cNvSpPr txBox="1"/>
            <p:nvPr/>
          </p:nvSpPr>
          <p:spPr>
            <a:xfrm>
              <a:off x="20660913" y="32446291"/>
              <a:ext cx="17370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>
                  <a:ln/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1 feat. · 1 op</a:t>
              </a:r>
            </a:p>
          </p:txBody>
        </p:sp>
        <p:sp>
          <p:nvSpPr>
            <p:cNvPr id="14927" name="TextBox 14926">
              <a:extLst>
                <a:ext uri="{FF2B5EF4-FFF2-40B4-BE49-F238E27FC236}">
                  <a16:creationId xmlns:a16="http://schemas.microsoft.com/office/drawing/2014/main" id="{49C22E62-DC35-DA29-3552-CDFC9E52CAF6}"/>
                </a:ext>
              </a:extLst>
            </p:cNvPr>
            <p:cNvSpPr txBox="1"/>
            <p:nvPr/>
          </p:nvSpPr>
          <p:spPr>
            <a:xfrm>
              <a:off x="23866420" y="31520358"/>
              <a:ext cx="6094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7F8C8D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M2</a:t>
              </a:r>
            </a:p>
          </p:txBody>
        </p:sp>
        <p:sp>
          <p:nvSpPr>
            <p:cNvPr id="14928" name="TextBox 14927">
              <a:extLst>
                <a:ext uri="{FF2B5EF4-FFF2-40B4-BE49-F238E27FC236}">
                  <a16:creationId xmlns:a16="http://schemas.microsoft.com/office/drawing/2014/main" id="{097BC3E3-0F29-4060-7331-761FCBC10D70}"/>
                </a:ext>
              </a:extLst>
            </p:cNvPr>
            <p:cNvSpPr txBox="1"/>
            <p:nvPr/>
          </p:nvSpPr>
          <p:spPr>
            <a:xfrm>
              <a:off x="23376799" y="31931782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spc="0" baseline="0">
                  <a:ln/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Random</a:t>
              </a:r>
            </a:p>
          </p:txBody>
        </p:sp>
        <p:sp>
          <p:nvSpPr>
            <p:cNvPr id="14929" name="TextBox 14928">
              <a:extLst>
                <a:ext uri="{FF2B5EF4-FFF2-40B4-BE49-F238E27FC236}">
                  <a16:creationId xmlns:a16="http://schemas.microsoft.com/office/drawing/2014/main" id="{91B761CE-8257-8394-3C32-06A2788E5CCD}"/>
                </a:ext>
              </a:extLst>
            </p:cNvPr>
            <p:cNvSpPr txBox="1"/>
            <p:nvPr/>
          </p:nvSpPr>
          <p:spPr>
            <a:xfrm>
              <a:off x="23250355" y="32446291"/>
              <a:ext cx="2011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 dirty="0">
                  <a:ln/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7 feat. · 18 ops</a:t>
              </a:r>
            </a:p>
          </p:txBody>
        </p:sp>
        <p:sp>
          <p:nvSpPr>
            <p:cNvPr id="14931" name="TextBox 14930">
              <a:extLst>
                <a:ext uri="{FF2B5EF4-FFF2-40B4-BE49-F238E27FC236}">
                  <a16:creationId xmlns:a16="http://schemas.microsoft.com/office/drawing/2014/main" id="{B1791CEE-AA87-FB2F-83B9-65C21A8C2617}"/>
                </a:ext>
              </a:extLst>
            </p:cNvPr>
            <p:cNvSpPr txBox="1"/>
            <p:nvPr/>
          </p:nvSpPr>
          <p:spPr>
            <a:xfrm>
              <a:off x="26522940" y="31520358"/>
              <a:ext cx="6094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E8773D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M3</a:t>
              </a:r>
            </a:p>
          </p:txBody>
        </p:sp>
        <p:sp>
          <p:nvSpPr>
            <p:cNvPr id="14932" name="TextBox 14931">
              <a:extLst>
                <a:ext uri="{FF2B5EF4-FFF2-40B4-BE49-F238E27FC236}">
                  <a16:creationId xmlns:a16="http://schemas.microsoft.com/office/drawing/2014/main" id="{A4F5C3AB-FD70-0FBE-C2D8-5D776AF90936}"/>
                </a:ext>
              </a:extLst>
            </p:cNvPr>
            <p:cNvSpPr txBox="1"/>
            <p:nvPr/>
          </p:nvSpPr>
          <p:spPr>
            <a:xfrm>
              <a:off x="25854796" y="31931782"/>
              <a:ext cx="21438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spc="0" baseline="0" dirty="0">
                  <a:ln/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Genetic Prog.</a:t>
              </a:r>
            </a:p>
          </p:txBody>
        </p:sp>
        <p:sp>
          <p:nvSpPr>
            <p:cNvPr id="14933" name="TextBox 14932">
              <a:extLst>
                <a:ext uri="{FF2B5EF4-FFF2-40B4-BE49-F238E27FC236}">
                  <a16:creationId xmlns:a16="http://schemas.microsoft.com/office/drawing/2014/main" id="{48DDE539-BC0E-8782-A4E2-3693C9C7E109}"/>
                </a:ext>
              </a:extLst>
            </p:cNvPr>
            <p:cNvSpPr txBox="1"/>
            <p:nvPr/>
          </p:nvSpPr>
          <p:spPr>
            <a:xfrm>
              <a:off x="25906875" y="32446291"/>
              <a:ext cx="201125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 dirty="0">
                  <a:ln/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4 feat. · 34 ops</a:t>
              </a:r>
            </a:p>
          </p:txBody>
        </p:sp>
        <p:sp>
          <p:nvSpPr>
            <p:cNvPr id="14935" name="TextBox 14934">
              <a:extLst>
                <a:ext uri="{FF2B5EF4-FFF2-40B4-BE49-F238E27FC236}">
                  <a16:creationId xmlns:a16="http://schemas.microsoft.com/office/drawing/2014/main" id="{E94F21ED-F476-1083-CF89-5981E43BEB63}"/>
                </a:ext>
              </a:extLst>
            </p:cNvPr>
            <p:cNvSpPr txBox="1"/>
            <p:nvPr/>
          </p:nvSpPr>
          <p:spPr>
            <a:xfrm>
              <a:off x="29179461" y="31520358"/>
              <a:ext cx="6094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b="1" spc="0" baseline="0">
                  <a:ln/>
                  <a:solidFill>
                    <a:srgbClr val="1A7A8A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M4</a:t>
              </a:r>
            </a:p>
          </p:txBody>
        </p:sp>
        <p:sp>
          <p:nvSpPr>
            <p:cNvPr id="14936" name="TextBox 14935">
              <a:extLst>
                <a:ext uri="{FF2B5EF4-FFF2-40B4-BE49-F238E27FC236}">
                  <a16:creationId xmlns:a16="http://schemas.microsoft.com/office/drawing/2014/main" id="{070AB20C-30FE-2A64-BDEF-A97418B99390}"/>
                </a:ext>
              </a:extLst>
            </p:cNvPr>
            <p:cNvSpPr txBox="1"/>
            <p:nvPr/>
          </p:nvSpPr>
          <p:spPr>
            <a:xfrm>
              <a:off x="29087357" y="31931782"/>
              <a:ext cx="7938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800" spc="0" baseline="0" dirty="0">
                  <a:ln/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LLM</a:t>
              </a:r>
            </a:p>
          </p:txBody>
        </p:sp>
        <p:sp>
          <p:nvSpPr>
            <p:cNvPr id="14937" name="TextBox 14936">
              <a:extLst>
                <a:ext uri="{FF2B5EF4-FFF2-40B4-BE49-F238E27FC236}">
                  <a16:creationId xmlns:a16="http://schemas.microsoft.com/office/drawing/2014/main" id="{536D1C1F-EBBE-F2E8-EF1C-9349028AD072}"/>
                </a:ext>
              </a:extLst>
            </p:cNvPr>
            <p:cNvSpPr txBox="1"/>
            <p:nvPr/>
          </p:nvSpPr>
          <p:spPr>
            <a:xfrm>
              <a:off x="28601464" y="32446291"/>
              <a:ext cx="18557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LID4096" sz="2400" spc="0" baseline="0" dirty="0">
                  <a:ln/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  <a:rtl val="0"/>
                </a:rPr>
                <a:t>3 feat. · 2 ops</a:t>
              </a:r>
            </a:p>
          </p:txBody>
        </p:sp>
      </p:grpSp>
      <p:grpSp>
        <p:nvGrpSpPr>
          <p:cNvPr id="14991" name="Group 14990">
            <a:extLst>
              <a:ext uri="{FF2B5EF4-FFF2-40B4-BE49-F238E27FC236}">
                <a16:creationId xmlns:a16="http://schemas.microsoft.com/office/drawing/2014/main" id="{60A4808F-49D0-BBC4-6946-2C09B0E7AB5A}"/>
              </a:ext>
            </a:extLst>
          </p:cNvPr>
          <p:cNvGrpSpPr/>
          <p:nvPr/>
        </p:nvGrpSpPr>
        <p:grpSpPr>
          <a:xfrm>
            <a:off x="18893124" y="6483552"/>
            <a:ext cx="12877910" cy="5931278"/>
            <a:chOff x="18503900" y="6856378"/>
            <a:chExt cx="12877910" cy="5931278"/>
          </a:xfrm>
        </p:grpSpPr>
        <p:grpSp>
          <p:nvGrpSpPr>
            <p:cNvPr id="14940" name="Group 14939">
              <a:extLst>
                <a:ext uri="{FF2B5EF4-FFF2-40B4-BE49-F238E27FC236}">
                  <a16:creationId xmlns:a16="http://schemas.microsoft.com/office/drawing/2014/main" id="{FF9E1830-C037-B831-65DE-F09467C1FFEC}"/>
                </a:ext>
              </a:extLst>
            </p:cNvPr>
            <p:cNvGrpSpPr/>
            <p:nvPr/>
          </p:nvGrpSpPr>
          <p:grpSpPr>
            <a:xfrm>
              <a:off x="18503900" y="6856378"/>
              <a:ext cx="12877910" cy="5931278"/>
              <a:chOff x="14060468" y="24619250"/>
              <a:chExt cx="17355364" cy="8589623"/>
            </a:xfrm>
          </p:grpSpPr>
          <p:grpSp>
            <p:nvGrpSpPr>
              <p:cNvPr id="14941" name="Group 14940">
                <a:extLst>
                  <a:ext uri="{FF2B5EF4-FFF2-40B4-BE49-F238E27FC236}">
                    <a16:creationId xmlns:a16="http://schemas.microsoft.com/office/drawing/2014/main" id="{F84C608E-B620-6252-F23F-FE5ED99FE785}"/>
                  </a:ext>
                </a:extLst>
              </p:cNvPr>
              <p:cNvGrpSpPr/>
              <p:nvPr/>
            </p:nvGrpSpPr>
            <p:grpSpPr>
              <a:xfrm>
                <a:off x="14060468" y="24813427"/>
                <a:ext cx="17355364" cy="8395446"/>
                <a:chOff x="2732712" y="25406452"/>
                <a:chExt cx="10220642" cy="5939583"/>
              </a:xfrm>
            </p:grpSpPr>
            <p:sp>
              <p:nvSpPr>
                <p:cNvPr id="14943" name="Rectangle 14979">
                  <a:extLst>
                    <a:ext uri="{FF2B5EF4-FFF2-40B4-BE49-F238E27FC236}">
                      <a16:creationId xmlns:a16="http://schemas.microsoft.com/office/drawing/2014/main" id="{9F3AF987-7876-EB5C-8CD5-6A8B6683EBC6}"/>
                    </a:ext>
                  </a:extLst>
                </p:cNvPr>
                <p:cNvSpPr/>
                <p:nvPr/>
              </p:nvSpPr>
              <p:spPr>
                <a:xfrm>
                  <a:off x="2732712" y="25406453"/>
                  <a:ext cx="10220642" cy="5939582"/>
                </a:xfrm>
                <a:prstGeom prst="roundRect">
                  <a:avLst>
                    <a:gd name="adj" fmla="val 2484"/>
                  </a:avLst>
                </a:prstGeom>
                <a:solidFill>
                  <a:srgbClr val="F0F3F4"/>
                </a:solidFill>
                <a:ln w="19050">
                  <a:solidFill>
                    <a:srgbClr val="1A7A8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14944" name="Rectangle 14980">
                  <a:extLst>
                    <a:ext uri="{FF2B5EF4-FFF2-40B4-BE49-F238E27FC236}">
                      <a16:creationId xmlns:a16="http://schemas.microsoft.com/office/drawing/2014/main" id="{B9EE8CAA-FE71-D646-D01C-C237708D7BBC}"/>
                    </a:ext>
                  </a:extLst>
                </p:cNvPr>
                <p:cNvSpPr/>
                <p:nvPr/>
              </p:nvSpPr>
              <p:spPr>
                <a:xfrm>
                  <a:off x="2732712" y="25625240"/>
                  <a:ext cx="10220642" cy="930679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A7A8A"/>
                </a:solidFill>
                <a:ln>
                  <a:solidFill>
                    <a:srgbClr val="1A7A8A"/>
                  </a:solidFill>
                </a:ln>
                <a:effectLst>
                  <a:outerShdw blurRad="177800" dist="23000" dir="12000000" sx="40000" sy="40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26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945" name="Rectangle 14980">
                  <a:extLst>
                    <a:ext uri="{FF2B5EF4-FFF2-40B4-BE49-F238E27FC236}">
                      <a16:creationId xmlns:a16="http://schemas.microsoft.com/office/drawing/2014/main" id="{030D2F4A-B706-1E25-0E0F-65242A06B69D}"/>
                    </a:ext>
                  </a:extLst>
                </p:cNvPr>
                <p:cNvSpPr/>
                <p:nvPr/>
              </p:nvSpPr>
              <p:spPr>
                <a:xfrm>
                  <a:off x="2732712" y="25406452"/>
                  <a:ext cx="10220642" cy="5029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A7A8A"/>
                </a:solidFill>
                <a:ln>
                  <a:noFill/>
                </a:ln>
                <a:effectLst>
                  <a:outerShdw blurRad="177800" dist="23000" dir="12000000" sx="1000" sy="1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4800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942" name="TextBox 14941">
                <a:extLst>
                  <a:ext uri="{FF2B5EF4-FFF2-40B4-BE49-F238E27FC236}">
                    <a16:creationId xmlns:a16="http://schemas.microsoft.com/office/drawing/2014/main" id="{D1032CDC-ED05-7C6C-D131-465F0EB885BF}"/>
                  </a:ext>
                </a:extLst>
              </p:cNvPr>
              <p:cNvSpPr txBox="1"/>
              <p:nvPr/>
            </p:nvSpPr>
            <p:spPr>
              <a:xfrm>
                <a:off x="19357429" y="24619250"/>
                <a:ext cx="6761466" cy="1973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72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מוטיבציה ורקע</a:t>
                </a:r>
                <a:endParaRPr lang="LID4096" sz="72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14946" name="TextBox 14945">
              <a:extLst>
                <a:ext uri="{FF2B5EF4-FFF2-40B4-BE49-F238E27FC236}">
                  <a16:creationId xmlns:a16="http://schemas.microsoft.com/office/drawing/2014/main" id="{0BBB8B91-7B1C-2455-066E-52684D8E301B}"/>
                </a:ext>
              </a:extLst>
            </p:cNvPr>
            <p:cNvSpPr txBox="1"/>
            <p:nvPr/>
          </p:nvSpPr>
          <p:spPr>
            <a:xfrm>
              <a:off x="18719924" y="8324054"/>
              <a:ext cx="12328471" cy="4205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ts val="5400"/>
                </a:lnSpc>
              </a:pPr>
              <a:r>
                <a:rPr lang="" sz="4000" dirty="0">
                  <a:latin typeface="+mj-lt"/>
                </a:rPr>
                <a:t>אבחון מחלות אוטואימוניות מסתמך לעיתים קרובות על בדיקות יקרות ומאוחרות </a:t>
              </a:r>
              <a:r>
                <a:rPr lang="he-IL" sz="4000" dirty="0">
                  <a:latin typeface="+mj-lt"/>
                </a:rPr>
                <a:t> </a:t>
              </a:r>
              <a:r>
                <a:rPr lang="" sz="4000" dirty="0">
                  <a:latin typeface="+mj-lt"/>
                </a:rPr>
                <a:t>ספירת דם</a:t>
              </a:r>
              <a:r>
                <a:rPr lang="he-IL" sz="4000" dirty="0">
                  <a:latin typeface="+mj-lt"/>
                </a:rPr>
                <a:t> </a:t>
              </a:r>
              <a:r>
                <a:rPr lang="" sz="4000" dirty="0">
                  <a:latin typeface="+mj-lt"/>
                </a:rPr>
                <a:t>היא בדיקה </a:t>
              </a:r>
              <a:r>
                <a:rPr lang="he-IL" sz="4000" dirty="0">
                  <a:latin typeface="+mj-lt"/>
                </a:rPr>
                <a:t>שגרתית,</a:t>
              </a:r>
              <a:r>
                <a:rPr lang="" sz="4000" dirty="0">
                  <a:latin typeface="+mj-lt"/>
                </a:rPr>
                <a:t> זולה</a:t>
              </a:r>
              <a:r>
                <a:rPr lang="he-IL" sz="4000" dirty="0">
                  <a:latin typeface="+mj-lt"/>
                </a:rPr>
                <a:t>, </a:t>
              </a:r>
              <a:r>
                <a:rPr lang="" sz="4000" dirty="0">
                  <a:latin typeface="+mj-lt"/>
                </a:rPr>
                <a:t>וזמינה כמעט בכל מפגש רפואי אך הפוטנציאל שלה כמקור לביומרקרים אבחנתיים לא נוצל במלואו.</a:t>
              </a:r>
              <a:r>
                <a:rPr lang="he-IL" sz="4000" dirty="0">
                  <a:latin typeface="+mj-lt"/>
                </a:rPr>
                <a:t> </a:t>
              </a:r>
              <a:r>
                <a:rPr lang="" sz="4000" dirty="0">
                  <a:latin typeface="+mj-lt"/>
                </a:rPr>
                <a:t>עבודה זו בוחנת האם ניתן לגזור נוסחאות מתמטיות מערכ</a:t>
              </a:r>
              <a:r>
                <a:rPr lang="he-IL" sz="4000" dirty="0">
                  <a:latin typeface="+mj-lt"/>
                </a:rPr>
                <a:t>י</a:t>
              </a:r>
              <a:r>
                <a:rPr lang="" sz="4000" dirty="0">
                  <a:latin typeface="+mj-lt"/>
                </a:rPr>
                <a:t>CBC</a:t>
              </a:r>
              <a:r>
                <a:rPr lang="he-IL" sz="4000" dirty="0">
                  <a:latin typeface="+mj-lt"/>
                </a:rPr>
                <a:t> </a:t>
              </a:r>
              <a:r>
                <a:rPr lang="" sz="4000" dirty="0">
                  <a:latin typeface="+mj-lt"/>
                </a:rPr>
                <a:t> שגרתיים שיחזו אבחנות כגון דלקת מפרקים שגרוני</a:t>
              </a:r>
              <a:r>
                <a:rPr lang="he-IL" sz="4000" dirty="0">
                  <a:latin typeface="+mj-lt"/>
                </a:rPr>
                <a:t>ת,</a:t>
              </a:r>
              <a:r>
                <a:rPr lang="" sz="4000" dirty="0">
                  <a:latin typeface="+mj-lt"/>
                </a:rPr>
                <a:t> סוכר</a:t>
              </a:r>
              <a:r>
                <a:rPr lang="he-IL" sz="4000" dirty="0">
                  <a:latin typeface="+mj-lt"/>
                </a:rPr>
                <a:t>ת,</a:t>
              </a:r>
              <a:r>
                <a:rPr lang="" sz="4000" dirty="0">
                  <a:latin typeface="+mj-lt"/>
                </a:rPr>
                <a:t> מחלת קרוהן ופסוריאזיס.</a:t>
              </a:r>
            </a:p>
          </p:txBody>
        </p:sp>
      </p:grpSp>
      <p:grpSp>
        <p:nvGrpSpPr>
          <p:cNvPr id="14993" name="Group 14992">
            <a:extLst>
              <a:ext uri="{FF2B5EF4-FFF2-40B4-BE49-F238E27FC236}">
                <a16:creationId xmlns:a16="http://schemas.microsoft.com/office/drawing/2014/main" id="{1FACA7A0-6DE2-D053-421E-4610522375AE}"/>
              </a:ext>
            </a:extLst>
          </p:cNvPr>
          <p:cNvGrpSpPr/>
          <p:nvPr/>
        </p:nvGrpSpPr>
        <p:grpSpPr>
          <a:xfrm>
            <a:off x="877042" y="6497242"/>
            <a:ext cx="17410834" cy="5960442"/>
            <a:chOff x="357885" y="6822477"/>
            <a:chExt cx="17410834" cy="5960442"/>
          </a:xfrm>
        </p:grpSpPr>
        <p:grpSp>
          <p:nvGrpSpPr>
            <p:cNvPr id="14953" name="Group 14952">
              <a:extLst>
                <a:ext uri="{FF2B5EF4-FFF2-40B4-BE49-F238E27FC236}">
                  <a16:creationId xmlns:a16="http://schemas.microsoft.com/office/drawing/2014/main" id="{F1F5F27A-20F0-82D9-7776-12327FAB1555}"/>
                </a:ext>
              </a:extLst>
            </p:cNvPr>
            <p:cNvGrpSpPr/>
            <p:nvPr/>
          </p:nvGrpSpPr>
          <p:grpSpPr>
            <a:xfrm>
              <a:off x="357885" y="6822477"/>
              <a:ext cx="17410834" cy="5960442"/>
              <a:chOff x="14060468" y="24619250"/>
              <a:chExt cx="17355364" cy="9802142"/>
            </a:xfrm>
          </p:grpSpPr>
          <p:grpSp>
            <p:nvGrpSpPr>
              <p:cNvPr id="14954" name="Group 14953">
                <a:extLst>
                  <a:ext uri="{FF2B5EF4-FFF2-40B4-BE49-F238E27FC236}">
                    <a16:creationId xmlns:a16="http://schemas.microsoft.com/office/drawing/2014/main" id="{5B9390F3-9F35-166F-63DC-83C2E5593788}"/>
                  </a:ext>
                </a:extLst>
              </p:cNvPr>
              <p:cNvGrpSpPr/>
              <p:nvPr/>
            </p:nvGrpSpPr>
            <p:grpSpPr>
              <a:xfrm>
                <a:off x="14060468" y="24813426"/>
                <a:ext cx="17355364" cy="9607966"/>
                <a:chOff x="2732712" y="25406452"/>
                <a:chExt cx="10220642" cy="6797413"/>
              </a:xfrm>
            </p:grpSpPr>
            <p:sp>
              <p:nvSpPr>
                <p:cNvPr id="14956" name="Rectangle 14979">
                  <a:extLst>
                    <a:ext uri="{FF2B5EF4-FFF2-40B4-BE49-F238E27FC236}">
                      <a16:creationId xmlns:a16="http://schemas.microsoft.com/office/drawing/2014/main" id="{7A81CD93-5942-6C53-D148-68CAFFB9E82E}"/>
                    </a:ext>
                  </a:extLst>
                </p:cNvPr>
                <p:cNvSpPr/>
                <p:nvPr/>
              </p:nvSpPr>
              <p:spPr>
                <a:xfrm>
                  <a:off x="2732712" y="25406453"/>
                  <a:ext cx="10220642" cy="6797412"/>
                </a:xfrm>
                <a:prstGeom prst="roundRect">
                  <a:avLst>
                    <a:gd name="adj" fmla="val 2484"/>
                  </a:avLst>
                </a:prstGeom>
                <a:solidFill>
                  <a:srgbClr val="F0F3F4"/>
                </a:solidFill>
                <a:ln w="19050">
                  <a:solidFill>
                    <a:srgbClr val="E8773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14957" name="Rectangle 14980">
                  <a:extLst>
                    <a:ext uri="{FF2B5EF4-FFF2-40B4-BE49-F238E27FC236}">
                      <a16:creationId xmlns:a16="http://schemas.microsoft.com/office/drawing/2014/main" id="{11DF85B2-60D4-26F5-12CE-7FDEFE8B5267}"/>
                    </a:ext>
                  </a:extLst>
                </p:cNvPr>
                <p:cNvSpPr/>
                <p:nvPr/>
              </p:nvSpPr>
              <p:spPr>
                <a:xfrm>
                  <a:off x="2732712" y="25625240"/>
                  <a:ext cx="10220642" cy="930679"/>
                </a:xfrm>
                <a:prstGeom prst="roundRect">
                  <a:avLst>
                    <a:gd name="adj" fmla="val 0"/>
                  </a:avLst>
                </a:prstGeom>
                <a:solidFill>
                  <a:srgbClr val="E8773D"/>
                </a:solidFill>
                <a:ln>
                  <a:solidFill>
                    <a:srgbClr val="1A7A8A"/>
                  </a:solidFill>
                </a:ln>
                <a:effectLst>
                  <a:outerShdw blurRad="177800" dist="23000" dir="12000000" sx="40000" sy="40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26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958" name="Rectangle 14980">
                  <a:extLst>
                    <a:ext uri="{FF2B5EF4-FFF2-40B4-BE49-F238E27FC236}">
                      <a16:creationId xmlns:a16="http://schemas.microsoft.com/office/drawing/2014/main" id="{0471C6D7-9E13-4C5C-DBAA-FFBEE33AA353}"/>
                    </a:ext>
                  </a:extLst>
                </p:cNvPr>
                <p:cNvSpPr/>
                <p:nvPr/>
              </p:nvSpPr>
              <p:spPr>
                <a:xfrm>
                  <a:off x="2732712" y="25406452"/>
                  <a:ext cx="10220642" cy="5029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8773D"/>
                </a:solidFill>
                <a:ln>
                  <a:solidFill>
                    <a:srgbClr val="E8773D"/>
                  </a:solidFill>
                </a:ln>
                <a:effectLst>
                  <a:outerShdw blurRad="177800" dist="23000" dir="12000000" sx="1000" sy="1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4800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955" name="TextBox 14954">
                <a:extLst>
                  <a:ext uri="{FF2B5EF4-FFF2-40B4-BE49-F238E27FC236}">
                    <a16:creationId xmlns:a16="http://schemas.microsoft.com/office/drawing/2014/main" id="{A9BF2692-F7BB-642A-5F37-63EF011A9CC0}"/>
                  </a:ext>
                </a:extLst>
              </p:cNvPr>
              <p:cNvSpPr txBox="1"/>
              <p:nvPr/>
            </p:nvSpPr>
            <p:spPr>
              <a:xfrm>
                <a:off x="20968535" y="24619250"/>
                <a:ext cx="3539257" cy="19739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72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מגבלות</a:t>
                </a:r>
                <a:endParaRPr lang="LID4096" sz="72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14959" name="TextBox 14958">
              <a:extLst>
                <a:ext uri="{FF2B5EF4-FFF2-40B4-BE49-F238E27FC236}">
                  <a16:creationId xmlns:a16="http://schemas.microsoft.com/office/drawing/2014/main" id="{FCB3A559-2070-5E0F-597A-BE7F2A2D5E27}"/>
                </a:ext>
              </a:extLst>
            </p:cNvPr>
            <p:cNvSpPr txBox="1"/>
            <p:nvPr/>
          </p:nvSpPr>
          <p:spPr>
            <a:xfrm>
              <a:off x="628254" y="8193477"/>
              <a:ext cx="16795526" cy="42056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71500" indent="-571500" algn="r" rtl="1">
                <a:lnSpc>
                  <a:spcPts val="5400"/>
                </a:lnSpc>
                <a:buFont typeface="Arial" panose="020B0604020202020204" pitchFamily="34" charset="0"/>
                <a:buChar char="•"/>
              </a:pPr>
              <a:r>
                <a:rPr lang="he-IL" sz="4000" dirty="0">
                  <a:latin typeface="+mj-lt"/>
                </a:rPr>
                <a:t>הטיית אוכלוסיית הוולידציה (</a:t>
              </a:r>
              <a:r>
                <a:rPr lang="en-US" sz="4000" dirty="0">
                  <a:latin typeface="+mj-lt"/>
                </a:rPr>
                <a:t>EHRSHOT</a:t>
              </a:r>
              <a:r>
                <a:rPr lang="he-IL" sz="4000" dirty="0">
                  <a:latin typeface="+mj-lt"/>
                </a:rPr>
                <a:t>): בסיס הנתונים מבוסס על מידע מאושפזים ולא על רפואה שוטפת בקהילה דבר העלול להשפיע על מאפייני הסמן הביולוגי.</a:t>
              </a:r>
            </a:p>
            <a:p>
              <a:pPr marL="571500" indent="-571500" algn="r" rtl="1">
                <a:lnSpc>
                  <a:spcPts val="5400"/>
                </a:lnSpc>
                <a:buFont typeface="Arial" panose="020B0604020202020204" pitchFamily="34" charset="0"/>
                <a:buChar char="•"/>
              </a:pPr>
              <a:r>
                <a:rPr lang="he-IL" sz="4000" dirty="0">
                  <a:latin typeface="+mj-lt"/>
                </a:rPr>
                <a:t>בעיית הכללה בשל שכיחות נמוכה: השכיחות הנמוכה של המחלות</a:t>
              </a:r>
              <a:r>
                <a:rPr lang="en-US" sz="4000" dirty="0">
                  <a:latin typeface="+mj-lt"/>
                </a:rPr>
                <a:t> </a:t>
              </a:r>
              <a:r>
                <a:rPr lang="he-IL" sz="4000" dirty="0">
                  <a:latin typeface="+mj-lt"/>
                </a:rPr>
                <a:t>בדאטה מובילה לחוסר איזון קיצוני בין המחלקות ומקשה על יציבות המודלים. </a:t>
              </a:r>
            </a:p>
            <a:p>
              <a:pPr marL="571500" indent="-571500" algn="r" rtl="1">
                <a:lnSpc>
                  <a:spcPts val="5400"/>
                </a:lnSpc>
                <a:buFont typeface="Arial" panose="020B0604020202020204" pitchFamily="34" charset="0"/>
                <a:buChar char="•"/>
              </a:pPr>
              <a:r>
                <a:rPr lang="he-IL" sz="4000" dirty="0">
                  <a:latin typeface="+mj-lt"/>
                </a:rPr>
                <a:t>מובהקות סטטיסטית: גודל ה-</a:t>
              </a:r>
              <a:r>
                <a:rPr lang="en-US" sz="4000" dirty="0">
                  <a:latin typeface="+mj-lt"/>
                </a:rPr>
                <a:t>Test set </a:t>
              </a:r>
              <a:r>
                <a:rPr lang="he-IL" sz="4000" dirty="0">
                  <a:latin typeface="+mj-lt"/>
                </a:rPr>
                <a:t>הקטן מוביל לרווחי סמך</a:t>
              </a:r>
              <a:r>
                <a:rPr lang="en-US" sz="4000" dirty="0">
                  <a:latin typeface="+mj-lt"/>
                </a:rPr>
                <a:t> </a:t>
              </a:r>
              <a:r>
                <a:rPr lang="he-IL" sz="4000" dirty="0">
                  <a:latin typeface="+mj-lt"/>
                </a:rPr>
                <a:t>רחבים, דבר המקשה על קביעת עליונות מובהקת וחד-משמעית של שיטה אחת על פני האחרות.</a:t>
              </a:r>
              <a:endParaRPr lang="" sz="4000" dirty="0">
                <a:latin typeface="+mj-lt"/>
              </a:endParaRPr>
            </a:p>
          </p:txBody>
        </p:sp>
      </p:grpSp>
      <p:grpSp>
        <p:nvGrpSpPr>
          <p:cNvPr id="14995" name="Group 14994">
            <a:extLst>
              <a:ext uri="{FF2B5EF4-FFF2-40B4-BE49-F238E27FC236}">
                <a16:creationId xmlns:a16="http://schemas.microsoft.com/office/drawing/2014/main" id="{83CF1EA5-4AC7-74E4-DF43-A21CA85DDAE2}"/>
              </a:ext>
            </a:extLst>
          </p:cNvPr>
          <p:cNvGrpSpPr/>
          <p:nvPr/>
        </p:nvGrpSpPr>
        <p:grpSpPr>
          <a:xfrm>
            <a:off x="891679" y="24266995"/>
            <a:ext cx="16368686" cy="10369153"/>
            <a:chOff x="891679" y="24874327"/>
            <a:chExt cx="16368686" cy="10369153"/>
          </a:xfrm>
        </p:grpSpPr>
        <p:grpSp>
          <p:nvGrpSpPr>
            <p:cNvPr id="14373" name="Group 14372">
              <a:extLst>
                <a:ext uri="{FF2B5EF4-FFF2-40B4-BE49-F238E27FC236}">
                  <a16:creationId xmlns:a16="http://schemas.microsoft.com/office/drawing/2014/main" id="{B2800CC4-BF26-6989-AF33-8E66FB1A7D54}"/>
                </a:ext>
              </a:extLst>
            </p:cNvPr>
            <p:cNvGrpSpPr/>
            <p:nvPr/>
          </p:nvGrpSpPr>
          <p:grpSpPr>
            <a:xfrm>
              <a:off x="891679" y="24874327"/>
              <a:ext cx="16368686" cy="10369153"/>
              <a:chOff x="14060468" y="24619250"/>
              <a:chExt cx="17355364" cy="15468445"/>
            </a:xfrm>
          </p:grpSpPr>
          <p:grpSp>
            <p:nvGrpSpPr>
              <p:cNvPr id="14374" name="Group 14373">
                <a:extLst>
                  <a:ext uri="{FF2B5EF4-FFF2-40B4-BE49-F238E27FC236}">
                    <a16:creationId xmlns:a16="http://schemas.microsoft.com/office/drawing/2014/main" id="{0A4F958C-8E06-102F-E5BC-BA76E573C459}"/>
                  </a:ext>
                </a:extLst>
              </p:cNvPr>
              <p:cNvGrpSpPr/>
              <p:nvPr/>
            </p:nvGrpSpPr>
            <p:grpSpPr>
              <a:xfrm>
                <a:off x="14060468" y="24813429"/>
                <a:ext cx="17355364" cy="15274266"/>
                <a:chOff x="2732712" y="25406452"/>
                <a:chExt cx="10220642" cy="10806188"/>
              </a:xfrm>
            </p:grpSpPr>
            <p:sp>
              <p:nvSpPr>
                <p:cNvPr id="14376" name="Rectangle 14979">
                  <a:extLst>
                    <a:ext uri="{FF2B5EF4-FFF2-40B4-BE49-F238E27FC236}">
                      <a16:creationId xmlns:a16="http://schemas.microsoft.com/office/drawing/2014/main" id="{E875A8FF-64D8-4482-BD13-766693131C84}"/>
                    </a:ext>
                  </a:extLst>
                </p:cNvPr>
                <p:cNvSpPr/>
                <p:nvPr/>
              </p:nvSpPr>
              <p:spPr>
                <a:xfrm>
                  <a:off x="2732712" y="25406453"/>
                  <a:ext cx="10220642" cy="10806187"/>
                </a:xfrm>
                <a:prstGeom prst="roundRect">
                  <a:avLst>
                    <a:gd name="adj" fmla="val 2484"/>
                  </a:avLst>
                </a:prstGeom>
                <a:solidFill>
                  <a:srgbClr val="F0F3F4"/>
                </a:solidFill>
                <a:ln w="19050">
                  <a:solidFill>
                    <a:srgbClr val="1A7A8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14377" name="Rectangle 14980">
                  <a:extLst>
                    <a:ext uri="{FF2B5EF4-FFF2-40B4-BE49-F238E27FC236}">
                      <a16:creationId xmlns:a16="http://schemas.microsoft.com/office/drawing/2014/main" id="{5B5A3751-90B2-8558-FE1C-FF47F1C0B9D6}"/>
                    </a:ext>
                  </a:extLst>
                </p:cNvPr>
                <p:cNvSpPr/>
                <p:nvPr/>
              </p:nvSpPr>
              <p:spPr>
                <a:xfrm>
                  <a:off x="2732712" y="25625240"/>
                  <a:ext cx="10220642" cy="930679"/>
                </a:xfrm>
                <a:prstGeom prst="roundRect">
                  <a:avLst>
                    <a:gd name="adj" fmla="val 0"/>
                  </a:avLst>
                </a:prstGeom>
                <a:solidFill>
                  <a:srgbClr val="1A7A8A"/>
                </a:solidFill>
                <a:ln>
                  <a:solidFill>
                    <a:srgbClr val="1A7A8A"/>
                  </a:solidFill>
                </a:ln>
                <a:effectLst>
                  <a:outerShdw blurRad="177800" dist="23000" dir="12000000" sx="40000" sy="40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26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378" name="Rectangle 14980">
                  <a:extLst>
                    <a:ext uri="{FF2B5EF4-FFF2-40B4-BE49-F238E27FC236}">
                      <a16:creationId xmlns:a16="http://schemas.microsoft.com/office/drawing/2014/main" id="{480848E7-8864-3700-F0CB-FFB15BE1C47A}"/>
                    </a:ext>
                  </a:extLst>
                </p:cNvPr>
                <p:cNvSpPr/>
                <p:nvPr/>
              </p:nvSpPr>
              <p:spPr>
                <a:xfrm>
                  <a:off x="2732712" y="25406452"/>
                  <a:ext cx="10220642" cy="5029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1A7A8A"/>
                </a:solidFill>
                <a:ln>
                  <a:noFill/>
                </a:ln>
                <a:effectLst>
                  <a:outerShdw blurRad="177800" dist="23000" dir="12000000" sx="1000" sy="1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4800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375" name="TextBox 14374">
                <a:extLst>
                  <a:ext uri="{FF2B5EF4-FFF2-40B4-BE49-F238E27FC236}">
                    <a16:creationId xmlns:a16="http://schemas.microsoft.com/office/drawing/2014/main" id="{6CCD910E-893D-B30A-3E4A-ABF3B3DE7983}"/>
                  </a:ext>
                </a:extLst>
              </p:cNvPr>
              <p:cNvSpPr txBox="1"/>
              <p:nvPr/>
            </p:nvSpPr>
            <p:spPr>
              <a:xfrm>
                <a:off x="18466304" y="24619250"/>
                <a:ext cx="8543716" cy="2176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80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מסקנות עיקריות</a:t>
                </a:r>
                <a:endParaRPr lang="LID4096" sz="80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14960" name="TextBox 14959">
              <a:extLst>
                <a:ext uri="{FF2B5EF4-FFF2-40B4-BE49-F238E27FC236}">
                  <a16:creationId xmlns:a16="http://schemas.microsoft.com/office/drawing/2014/main" id="{16F671CC-2CA8-6EEC-1044-14E01A665090}"/>
                </a:ext>
              </a:extLst>
            </p:cNvPr>
            <p:cNvSpPr txBox="1"/>
            <p:nvPr/>
          </p:nvSpPr>
          <p:spPr>
            <a:xfrm>
              <a:off x="1149972" y="26385637"/>
              <a:ext cx="15947604" cy="8302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he-IL" sz="4000" b="1" dirty="0">
                  <a:latin typeface="+mj-lt"/>
                </a:rPr>
                <a:t>פשטות מול ביצועים: </a:t>
              </a:r>
              <a:r>
                <a:rPr lang="he-IL" sz="4000" dirty="0">
                  <a:latin typeface="+mj-lt"/>
                </a:rPr>
                <a:t>נוסחאות מתמטיות פשוטות מ-</a:t>
              </a:r>
              <a:r>
                <a:rPr lang="en-US" sz="4000" dirty="0">
                  <a:latin typeface="+mj-lt"/>
                </a:rPr>
                <a:t>CBC </a:t>
              </a:r>
              <a:r>
                <a:rPr lang="he-IL" sz="4000" dirty="0">
                  <a:latin typeface="+mj-lt"/>
                </a:rPr>
                <a:t>בלבד מגיעות לביצועים שקולים ואף עדיפים על פני </a:t>
              </a:r>
              <a:r>
                <a:rPr lang="en-US" sz="4000" dirty="0">
                  <a:latin typeface="+mj-lt"/>
                </a:rPr>
                <a:t>Logistic Regression </a:t>
              </a:r>
              <a:r>
                <a:rPr lang="he-IL" sz="4000" dirty="0">
                  <a:latin typeface="+mj-lt"/>
                </a:rPr>
                <a:t>המשתמש בכל 14 המאפיינים. </a:t>
              </a:r>
            </a:p>
            <a:p>
              <a:pPr algn="r" rtl="1">
                <a:lnSpc>
                  <a:spcPct val="150000"/>
                </a:lnSpc>
              </a:pPr>
              <a:r>
                <a:rPr lang="he-IL" sz="4000" b="1" dirty="0">
                  <a:latin typeface="+mj-lt"/>
                </a:rPr>
                <a:t>עליונות ה</a:t>
              </a:r>
              <a:r>
                <a:rPr lang="en-US" sz="4000" b="1" dirty="0">
                  <a:latin typeface="+mj-lt"/>
                </a:rPr>
                <a:t>GP</a:t>
              </a:r>
              <a:r>
                <a:rPr lang="he-IL" sz="4000" b="1" dirty="0">
                  <a:latin typeface="+mj-lt"/>
                </a:rPr>
                <a:t>:</a:t>
              </a:r>
              <a:r>
                <a:rPr lang="en-US" sz="4000" dirty="0">
                  <a:latin typeface="+mj-lt"/>
                </a:rPr>
                <a:t> </a:t>
              </a:r>
              <a:r>
                <a:rPr lang="he-IL" sz="4000" dirty="0">
                  <a:latin typeface="+mj-lt"/>
                </a:rPr>
                <a:t>שיטת התכנות הגנטי הציגה את הביצועים המיטביים עם 4 מאפיינים בלבד, תוך זיהוי אינטראקציות מורכבות (כמו יחס  </a:t>
              </a:r>
              <a:r>
                <a:rPr lang="he-IL" sz="4000" dirty="0" err="1">
                  <a:latin typeface="+mj-lt"/>
                </a:rPr>
                <a:t>מונציטים</a:t>
              </a:r>
              <a:r>
                <a:rPr lang="he-IL" sz="4000" dirty="0">
                  <a:latin typeface="+mj-lt"/>
                </a:rPr>
                <a:t>/</a:t>
              </a:r>
              <a:r>
                <a:rPr lang="he-IL" sz="4000" dirty="0" err="1">
                  <a:latin typeface="+mj-lt"/>
                </a:rPr>
                <a:t>נויטרופילים</a:t>
              </a:r>
              <a:r>
                <a:rPr lang="he-IL" sz="4000" dirty="0">
                  <a:latin typeface="+mj-lt"/>
                </a:rPr>
                <a:t>).  </a:t>
              </a:r>
            </a:p>
            <a:p>
              <a:pPr algn="r" rtl="1">
                <a:lnSpc>
                  <a:spcPct val="150000"/>
                </a:lnSpc>
              </a:pPr>
              <a:r>
                <a:rPr lang="he-IL" sz="4000" b="1" dirty="0">
                  <a:latin typeface="+mj-lt"/>
                </a:rPr>
                <a:t>יעילות ה-</a:t>
              </a:r>
              <a:r>
                <a:rPr lang="en-US" sz="4000" b="1" dirty="0">
                  <a:latin typeface="+mj-lt"/>
                </a:rPr>
                <a:t>LLM</a:t>
              </a:r>
              <a:r>
                <a:rPr lang="he-IL" sz="4000" b="1" dirty="0">
                  <a:latin typeface="+mj-lt"/>
                </a:rPr>
                <a:t>:</a:t>
              </a:r>
              <a:r>
                <a:rPr lang="he-IL" sz="4000" dirty="0">
                  <a:latin typeface="+mj-lt"/>
                </a:rPr>
                <a:t> מודל ה- </a:t>
              </a:r>
              <a:r>
                <a:rPr lang="en-US" sz="4000" dirty="0">
                  <a:latin typeface="+mj-lt"/>
                </a:rPr>
                <a:t>Med-Gemma</a:t>
              </a:r>
              <a:r>
                <a:rPr lang="he-IL" sz="4000" dirty="0">
                  <a:latin typeface="+mj-lt"/>
                </a:rPr>
                <a:t> הניב את הנוסחה האלגנטית ביותר (3 מאפיינים ו-2 פעולות בלבד) מה שמצביע על חשיבות שילוב ידע קליני מוקדם.  </a:t>
              </a:r>
            </a:p>
            <a:p>
              <a:pPr algn="r" rtl="1">
                <a:lnSpc>
                  <a:spcPct val="150000"/>
                </a:lnSpc>
              </a:pPr>
              <a:r>
                <a:rPr lang="he-IL" sz="4000" b="1" dirty="0">
                  <a:latin typeface="+mj-lt"/>
                </a:rPr>
                <a:t>התשתית עובדת: </a:t>
              </a:r>
              <a:r>
                <a:rPr lang="he-IL" sz="4000" dirty="0">
                  <a:latin typeface="+mj-lt"/>
                </a:rPr>
                <a:t>התשתית המודולרית שהוקמה מאפשרת השוואה אחידה, מבוקרת והוגנת, ואגנוסטית להרחבה מהירה למחלות נוספות.</a:t>
              </a:r>
              <a:endParaRPr lang="" sz="4000" dirty="0">
                <a:latin typeface="+mj-lt"/>
              </a:endParaRPr>
            </a:p>
          </p:txBody>
        </p:sp>
      </p:grpSp>
      <p:grpSp>
        <p:nvGrpSpPr>
          <p:cNvPr id="14996" name="Group 14995">
            <a:extLst>
              <a:ext uri="{FF2B5EF4-FFF2-40B4-BE49-F238E27FC236}">
                <a16:creationId xmlns:a16="http://schemas.microsoft.com/office/drawing/2014/main" id="{AC617479-09B8-AB82-C529-5EB518F15EB8}"/>
              </a:ext>
            </a:extLst>
          </p:cNvPr>
          <p:cNvGrpSpPr/>
          <p:nvPr/>
        </p:nvGrpSpPr>
        <p:grpSpPr>
          <a:xfrm>
            <a:off x="912004" y="35212212"/>
            <a:ext cx="16367760" cy="6597277"/>
            <a:chOff x="789932" y="36181494"/>
            <a:chExt cx="16307644" cy="6597277"/>
          </a:xfrm>
        </p:grpSpPr>
        <p:grpSp>
          <p:nvGrpSpPr>
            <p:cNvPr id="14961" name="Group 14960">
              <a:extLst>
                <a:ext uri="{FF2B5EF4-FFF2-40B4-BE49-F238E27FC236}">
                  <a16:creationId xmlns:a16="http://schemas.microsoft.com/office/drawing/2014/main" id="{294623BB-B3C3-0C43-87CE-1A467F792C79}"/>
                </a:ext>
              </a:extLst>
            </p:cNvPr>
            <p:cNvGrpSpPr/>
            <p:nvPr/>
          </p:nvGrpSpPr>
          <p:grpSpPr>
            <a:xfrm>
              <a:off x="789932" y="36181494"/>
              <a:ext cx="16307644" cy="6264697"/>
              <a:chOff x="14060468" y="24619250"/>
              <a:chExt cx="17355364" cy="9072478"/>
            </a:xfrm>
          </p:grpSpPr>
          <p:grpSp>
            <p:nvGrpSpPr>
              <p:cNvPr id="14966" name="Group 14965">
                <a:extLst>
                  <a:ext uri="{FF2B5EF4-FFF2-40B4-BE49-F238E27FC236}">
                    <a16:creationId xmlns:a16="http://schemas.microsoft.com/office/drawing/2014/main" id="{44454863-23B8-5DF3-1FDF-E66A47983569}"/>
                  </a:ext>
                </a:extLst>
              </p:cNvPr>
              <p:cNvGrpSpPr/>
              <p:nvPr/>
            </p:nvGrpSpPr>
            <p:grpSpPr>
              <a:xfrm>
                <a:off x="14060468" y="24813429"/>
                <a:ext cx="17355364" cy="8878299"/>
                <a:chOff x="2732712" y="25406452"/>
                <a:chExt cx="10220642" cy="6281190"/>
              </a:xfrm>
            </p:grpSpPr>
            <p:sp>
              <p:nvSpPr>
                <p:cNvPr id="14968" name="Rectangle 14979">
                  <a:extLst>
                    <a:ext uri="{FF2B5EF4-FFF2-40B4-BE49-F238E27FC236}">
                      <a16:creationId xmlns:a16="http://schemas.microsoft.com/office/drawing/2014/main" id="{F93C5710-A243-484D-D8FF-B132FD1AE19A}"/>
                    </a:ext>
                  </a:extLst>
                </p:cNvPr>
                <p:cNvSpPr/>
                <p:nvPr/>
              </p:nvSpPr>
              <p:spPr>
                <a:xfrm>
                  <a:off x="2732712" y="25406453"/>
                  <a:ext cx="10220642" cy="6281189"/>
                </a:xfrm>
                <a:prstGeom prst="roundRect">
                  <a:avLst>
                    <a:gd name="adj" fmla="val 2484"/>
                  </a:avLst>
                </a:prstGeom>
                <a:solidFill>
                  <a:srgbClr val="F0F3F4"/>
                </a:solidFill>
                <a:ln w="19050">
                  <a:solidFill>
                    <a:srgbClr val="2C3E5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14982" name="Rectangle 14980">
                  <a:extLst>
                    <a:ext uri="{FF2B5EF4-FFF2-40B4-BE49-F238E27FC236}">
                      <a16:creationId xmlns:a16="http://schemas.microsoft.com/office/drawing/2014/main" id="{593C81E3-10DB-2A7C-4DC8-D7DEBB99CDCC}"/>
                    </a:ext>
                  </a:extLst>
                </p:cNvPr>
                <p:cNvSpPr/>
                <p:nvPr/>
              </p:nvSpPr>
              <p:spPr>
                <a:xfrm>
                  <a:off x="2732712" y="25625240"/>
                  <a:ext cx="10220642" cy="930679"/>
                </a:xfrm>
                <a:prstGeom prst="roundRect">
                  <a:avLst>
                    <a:gd name="adj" fmla="val 0"/>
                  </a:avLst>
                </a:prstGeom>
                <a:solidFill>
                  <a:srgbClr val="2C3E50"/>
                </a:solidFill>
                <a:ln>
                  <a:solidFill>
                    <a:srgbClr val="2C3E50"/>
                  </a:solidFill>
                </a:ln>
                <a:effectLst>
                  <a:outerShdw blurRad="177800" dist="23000" dir="12000000" sx="40000" sy="40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2600" b="1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4983" name="Rectangle 14980">
                  <a:extLst>
                    <a:ext uri="{FF2B5EF4-FFF2-40B4-BE49-F238E27FC236}">
                      <a16:creationId xmlns:a16="http://schemas.microsoft.com/office/drawing/2014/main" id="{725C5A9A-9795-D17B-547C-DB0821120454}"/>
                    </a:ext>
                  </a:extLst>
                </p:cNvPr>
                <p:cNvSpPr/>
                <p:nvPr/>
              </p:nvSpPr>
              <p:spPr>
                <a:xfrm>
                  <a:off x="2732712" y="25406452"/>
                  <a:ext cx="10220642" cy="50292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C3E50"/>
                </a:solidFill>
                <a:ln>
                  <a:solidFill>
                    <a:srgbClr val="2C3E50"/>
                  </a:solidFill>
                </a:ln>
                <a:effectLst>
                  <a:outerShdw blurRad="177800" dist="23000" dir="12000000" sx="1000" sy="1000" rotWithShape="0">
                    <a:srgbClr val="000000">
                      <a:alpha val="35000"/>
                    </a:srgbClr>
                  </a:outerShdw>
                  <a:softEdge rad="0"/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sz="4800" b="1" dirty="0">
                    <a:solidFill>
                      <a:srgbClr val="FFFFFF"/>
                    </a:solidFill>
                  </a:endParaRPr>
                </a:p>
              </p:txBody>
            </p:sp>
          </p:grpSp>
          <p:sp>
            <p:nvSpPr>
              <p:cNvPr id="14967" name="TextBox 14966">
                <a:extLst>
                  <a:ext uri="{FF2B5EF4-FFF2-40B4-BE49-F238E27FC236}">
                    <a16:creationId xmlns:a16="http://schemas.microsoft.com/office/drawing/2014/main" id="{53B70882-B31F-B9C9-1621-E103853B7B7E}"/>
                  </a:ext>
                </a:extLst>
              </p:cNvPr>
              <p:cNvSpPr txBox="1"/>
              <p:nvPr/>
            </p:nvSpPr>
            <p:spPr>
              <a:xfrm>
                <a:off x="19320286" y="24619250"/>
                <a:ext cx="6835757" cy="17383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7200" b="1" spc="0" baseline="0" dirty="0">
                    <a:ln/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rPr>
                  <a:t>צעדים להמשך</a:t>
                </a:r>
                <a:endParaRPr lang="LID4096" sz="7200" b="1" spc="0" baseline="0" dirty="0">
                  <a:ln/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</p:grpSp>
        <p:sp>
          <p:nvSpPr>
            <p:cNvPr id="14990" name="TextBox 14989">
              <a:extLst>
                <a:ext uri="{FF2B5EF4-FFF2-40B4-BE49-F238E27FC236}">
                  <a16:creationId xmlns:a16="http://schemas.microsoft.com/office/drawing/2014/main" id="{FFEBE165-F68A-2513-9EF5-A6CF0F6978E4}"/>
                </a:ext>
              </a:extLst>
            </p:cNvPr>
            <p:cNvSpPr txBox="1"/>
            <p:nvPr/>
          </p:nvSpPr>
          <p:spPr>
            <a:xfrm>
              <a:off x="1022760" y="37549647"/>
              <a:ext cx="15947604" cy="5229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" sz="4000" b="1" dirty="0">
                  <a:latin typeface="+mj-lt"/>
                </a:rPr>
                <a:t>מעבר לאגרגציות מתקדמות של מאפיינים:</a:t>
              </a:r>
              <a:r>
                <a:rPr lang="" sz="4000" dirty="0">
                  <a:latin typeface="+mj-lt"/>
                </a:rPr>
                <a:t> הרחבת שלב עיבוד הנתונים על ידי מעבר משימוש בערך אינדקס אחרון לחישוב אגרגציות סטטיסטיות לאורך חלון הזמן </a:t>
              </a:r>
              <a:r>
                <a:rPr lang="he-IL" sz="4000" dirty="0">
                  <a:latin typeface="+mj-lt"/>
                </a:rPr>
                <a:t>(</a:t>
              </a:r>
              <a:r>
                <a:rPr lang="" sz="4000" dirty="0">
                  <a:latin typeface="+mj-lt"/>
                </a:rPr>
                <a:t>כגון מגמות, ממוצעים</a:t>
              </a:r>
              <a:r>
                <a:rPr lang="he-IL" sz="4000" dirty="0">
                  <a:latin typeface="+mj-lt"/>
                </a:rPr>
                <a:t> </a:t>
              </a:r>
              <a:r>
                <a:rPr lang="" sz="4000" dirty="0">
                  <a:latin typeface="+mj-lt"/>
                </a:rPr>
                <a:t>וערכי קיצו</a:t>
              </a:r>
              <a:r>
                <a:rPr lang="he-IL" sz="4000" dirty="0">
                  <a:latin typeface="+mj-lt"/>
                </a:rPr>
                <a:t>ן)</a:t>
              </a:r>
              <a:r>
                <a:rPr lang="" sz="4000" dirty="0">
                  <a:latin typeface="+mj-lt"/>
                </a:rPr>
                <a:t> במטרה ללכוד דינמיקה זמנית עשירה יותר של ספירות הדם.</a:t>
              </a:r>
            </a:p>
            <a:p>
              <a:pPr algn="r" rtl="1"/>
              <a:r>
                <a:rPr lang="" sz="4000" b="1" dirty="0">
                  <a:latin typeface="+mj-lt"/>
                </a:rPr>
                <a:t>שילוב מודלים אבולוציוניים ומודלי שפה</a:t>
              </a:r>
              <a:r>
                <a:rPr lang="he-IL" sz="4000" b="1" dirty="0">
                  <a:latin typeface="+mj-lt"/>
                </a:rPr>
                <a:t>: </a:t>
              </a:r>
              <a:r>
                <a:rPr lang="he-IL" sz="4000" dirty="0">
                  <a:latin typeface="+mj-lt"/>
                </a:rPr>
                <a:t>פ</a:t>
              </a:r>
              <a:r>
                <a:rPr lang="" sz="4000" dirty="0">
                  <a:latin typeface="+mj-lt"/>
                </a:rPr>
                <a:t>יתוח גישה היברידית שבה מודל שפה גדול (LLM) </a:t>
              </a:r>
              <a:r>
                <a:rPr lang="he-IL" sz="4000" dirty="0">
                  <a:latin typeface="+mj-lt"/>
                </a:rPr>
                <a:t> </a:t>
              </a:r>
              <a:r>
                <a:rPr lang="" sz="4000" dirty="0">
                  <a:latin typeface="+mj-lt"/>
                </a:rPr>
                <a:t>משמש כמייצרSeed</a:t>
              </a:r>
              <a:r>
                <a:rPr lang="en-US" sz="4000" dirty="0">
                  <a:latin typeface="+mj-lt"/>
                </a:rPr>
                <a:t>s</a:t>
              </a:r>
              <a:r>
                <a:rPr lang="he-IL" sz="4000" dirty="0">
                  <a:latin typeface="+mj-lt"/>
                </a:rPr>
                <a:t> </a:t>
              </a:r>
              <a:r>
                <a:rPr lang="" sz="4000" dirty="0">
                  <a:latin typeface="+mj-lt"/>
                </a:rPr>
                <a:t>והכוונת מרחב החיפוש עבור אלגוריתם התכנות הגנטי</a:t>
              </a:r>
              <a:r>
                <a:rPr lang="he-IL" sz="4000" dirty="0">
                  <a:latin typeface="+mj-lt"/>
                </a:rPr>
                <a:t>,</a:t>
              </a:r>
              <a:r>
                <a:rPr lang="" sz="4000" dirty="0">
                  <a:latin typeface="+mj-lt"/>
                </a:rPr>
                <a:t> במטרה לשפר את יעילות ואיכות הנוסחאות הנוצרות.</a:t>
              </a:r>
            </a:p>
            <a:p>
              <a:pPr marL="571500" indent="-571500" algn="r" rtl="1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" sz="40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06444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CD596F-CF6E-4B69-9F1F-1A92EB97CA77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feb901d3-8283-42e1-ab8a-417894302f6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854DB4E5F29CFF41AF325DC0C8D6D748" ma:contentTypeVersion="2" ma:contentTypeDescription="צור מסמך חדש." ma:contentTypeScope="" ma:versionID="fe7df9faa1e5ccfa42cd66fe3c29f735">
  <xsd:schema xmlns:xsd="http://www.w3.org/2001/XMLSchema" xmlns:xs="http://www.w3.org/2001/XMLSchema" xmlns:p="http://schemas.microsoft.com/office/2006/metadata/properties" xmlns:ns1="http://schemas.microsoft.com/sharepoint/v3" xmlns:ns2="3fd1f8e8-d4eb-4fa9-9edf-90e13be718c2" targetNamespace="http://schemas.microsoft.com/office/2006/metadata/properties" ma:root="true" ma:fieldsID="844f14077d14339ed85a25a7239d3e3f" ns1:_="" ns2:_="">
    <xsd:import namespace="http://schemas.microsoft.com/sharepoint/v3"/>
    <xsd:import namespace="3fd1f8e8-d4eb-4fa9-9edf-90e13be718c2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מתזמן תאריך התחלה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מתזמן תאריך סיום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1f8e8-d4eb-4fa9-9edf-90e13be718c2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ערך של מזהה מסמך" ma:description="הערך של מזהה המסמך שהוקצה לפריט זה." ma:internalName="_dlc_DocId" ma:readOnly="true">
      <xsd:simpleType>
        <xsd:restriction base="dms:Text"/>
      </xsd:simpleType>
    </xsd:element>
    <xsd:element name="_dlc_DocIdUrl" ma:index="11" nillable="true" ma:displayName="מזהה מסמך" ma:description="קישור קבוע למסמך זה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משותף עם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CFE669A1-3A7E-4B3E-89FA-26868125A6F1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598B6435-3618-49A5-B564-2562FC8867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773BFB-7E4E-48F0-86BD-A2308A0DBD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fd1f8e8-d4eb-4fa9-9edf-90e13be718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712842A7-0819-483D-87E9-E0E5F58800E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3305</TotalTime>
  <Words>651</Words>
  <Application>Microsoft Office PowerPoint</Application>
  <PresentationFormat>Custom</PresentationFormat>
  <Paragraphs>119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 Emoji</vt:lpstr>
      <vt:lpstr>ערכת נושא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adam</dc:creator>
  <cp:lastModifiedBy>ofek vilkerstone</cp:lastModifiedBy>
  <cp:revision>44</cp:revision>
  <dcterms:created xsi:type="dcterms:W3CDTF">2010-03-24T06:07:16Z</dcterms:created>
  <dcterms:modified xsi:type="dcterms:W3CDTF">2026-06-11T10:22:22Z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5RW434VQ3H3S-892-196</vt:lpwstr>
  </property>
  <property fmtid="{D5CDD505-2E9C-101B-9397-08002B2CF9AE}" pid="3" name="_dlc_DocIdItemGuid">
    <vt:lpwstr>1e876f2f-06f9-413d-bccc-0470f3929c52</vt:lpwstr>
  </property>
  <property fmtid="{D5CDD505-2E9C-101B-9397-08002B2CF9AE}" pid="4" name="_dlc_DocIdUrl">
    <vt:lpwstr>https://in.bgu.ac.il/engn/ise/_layouts/15/DocIdRedir.aspx?ID=5RW434VQ3H3S-892-196, 5RW434VQ3H3S-892-196</vt:lpwstr>
  </property>
  <property fmtid="{D5CDD505-2E9C-101B-9397-08002B2CF9AE}" pid="5" name="PublishingExpirationDate">
    <vt:lpwstr/>
  </property>
  <property fmtid="{D5CDD505-2E9C-101B-9397-08002B2CF9AE}" pid="6" name="PublishingStartDate">
    <vt:lpwstr/>
  </property>
</Properties>
</file>