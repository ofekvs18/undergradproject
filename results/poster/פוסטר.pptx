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5"/>
  </p:sldMasterIdLst>
  <p:notesMasterIdLst>
    <p:notesMasterId r:id="rId8"/>
  </p:notesMasterIdLst>
  <p:handoutMasterIdLst>
    <p:handoutMasterId r:id="rId9"/>
  </p:handoutMasterIdLst>
  <p:sldIdLst>
    <p:sldId id="256" r:id="rId6"/>
    <p:sldId id="257" r:id="rId7"/>
  </p:sldIdLst>
  <p:sldSz cx="32399288" cy="43205400"/>
  <p:notesSz cx="6858000" cy="9144000"/>
  <p:defaultTextStyle>
    <a:defPPr>
      <a:defRPr lang="he-IL"/>
    </a:defPPr>
    <a:lvl1pPr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59000" indent="-1701800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4319588" indent="-3405188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6480175" indent="-5108575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8640763" indent="-6811963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D26E93C3-6A02-4BDB-B582-751AAC330168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608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273" autoAdjust="0"/>
    <p:restoredTop sz="94003" autoAdjust="0"/>
  </p:normalViewPr>
  <p:slideViewPr>
    <p:cSldViewPr>
      <p:cViewPr>
        <p:scale>
          <a:sx n="33" d="100"/>
          <a:sy n="33" d="100"/>
        </p:scale>
        <p:origin x="36" y="-2368"/>
      </p:cViewPr>
      <p:guideLst>
        <p:guide orient="horz" pos="13608"/>
        <p:guide pos="102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416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2848BA3-65B5-9CE8-5457-020CF80DAF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7795A76-9F84-447E-BB3C-0E99DC9A7893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2C7B179-2E6D-0F3E-3AA5-31C56C1F6C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A3B4240-7A02-3306-A010-8598FD9904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CE76302-23F1-4F8A-AFF7-68C9E725906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DB713015-E60D-C0F3-AA54-0D0FC4136D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2342818-AFE6-04E9-D584-09518AEE5B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20832A8-C210-4F33-AE43-195174582F37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4" name="מציין מיקום של תמונת שקופית 3">
            <a:extLst>
              <a:ext uri="{FF2B5EF4-FFF2-40B4-BE49-F238E27FC236}">
                <a16:creationId xmlns:a16="http://schemas.microsoft.com/office/drawing/2014/main" id="{8226FDC5-989C-BF91-346E-D814B236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>
            <a:extLst>
              <a:ext uri="{FF2B5EF4-FFF2-40B4-BE49-F238E27FC236}">
                <a16:creationId xmlns:a16="http://schemas.microsoft.com/office/drawing/2014/main" id="{C4799B09-5F3B-5842-1636-08A3A7D87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838119-1D8B-E16B-441F-6C668EF167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C2D3BC-F833-CA4B-E0EA-0575EC7AA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93A560B-3F5C-43F4-A174-91AE6E23805E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תמונת שקופית 1">
            <a:extLst>
              <a:ext uri="{FF2B5EF4-FFF2-40B4-BE49-F238E27FC236}">
                <a16:creationId xmlns:a16="http://schemas.microsoft.com/office/drawing/2014/main" id="{8787F0E2-BDCF-4BEC-4BBE-5D3D69DC90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מציין מיקום של הערות 2">
            <a:extLst>
              <a:ext uri="{FF2B5EF4-FFF2-40B4-BE49-F238E27FC236}">
                <a16:creationId xmlns:a16="http://schemas.microsoft.com/office/drawing/2014/main" id="{38897583-C133-D537-88F8-7EB09FEFB1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מציין מיקום של מספר שקופית 3">
            <a:extLst>
              <a:ext uri="{FF2B5EF4-FFF2-40B4-BE49-F238E27FC236}">
                <a16:creationId xmlns:a16="http://schemas.microsoft.com/office/drawing/2014/main" id="{51145BE9-7056-27E4-7903-23CABAB0A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E87EBD30-EAB9-4B9A-BA4A-6BA3390DBE6B}" type="slidenum">
              <a:rPr lang="he-IL" altLang="he-IL" sz="1200" smtClean="0"/>
              <a:pPr algn="l">
                <a:spcBef>
                  <a:spcPct val="0"/>
                </a:spcBef>
              </a:pPr>
              <a:t>1</a:t>
            </a:fld>
            <a:endParaRPr lang="he-IL" altLang="he-IL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C0F3-4906-FBB8-97F5-FECA15AF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תמונת שקופית 1">
            <a:extLst>
              <a:ext uri="{FF2B5EF4-FFF2-40B4-BE49-F238E27FC236}">
                <a16:creationId xmlns:a16="http://schemas.microsoft.com/office/drawing/2014/main" id="{9E959A30-0060-48E4-4E8F-E55559C856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מציין מיקום של הערות 2">
            <a:extLst>
              <a:ext uri="{FF2B5EF4-FFF2-40B4-BE49-F238E27FC236}">
                <a16:creationId xmlns:a16="http://schemas.microsoft.com/office/drawing/2014/main" id="{8089C9D0-CACE-F78E-D6A0-7CD8F4222E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מציין מיקום של מספר שקופית 3">
            <a:extLst>
              <a:ext uri="{FF2B5EF4-FFF2-40B4-BE49-F238E27FC236}">
                <a16:creationId xmlns:a16="http://schemas.microsoft.com/office/drawing/2014/main" id="{26FA4E26-8639-EC5C-BBFD-7CE8B9CE8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E87EBD30-EAB9-4B9A-BA4A-6BA3390DBE6B}" type="slidenum">
              <a:rPr lang="he-IL" altLang="he-IL" sz="1200" smtClean="0"/>
              <a:pPr algn="l">
                <a:spcBef>
                  <a:spcPct val="0"/>
                </a:spcBef>
              </a:pPr>
              <a:t>2</a:t>
            </a:fld>
            <a:endParaRPr lang="he-IL" altLang="he-IL" sz="1200"/>
          </a:p>
        </p:txBody>
      </p:sp>
    </p:spTree>
    <p:extLst>
      <p:ext uri="{BB962C8B-B14F-4D97-AF65-F5344CB8AC3E}">
        <p14:creationId xmlns:p14="http://schemas.microsoft.com/office/powerpoint/2010/main" val="36407754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4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19965" y="10081264"/>
            <a:ext cx="29159359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0FEDBB-C8F6-42E4-F66F-93FDC6A2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8CE9EEE-6AB5-45AD-9FB2-02BB5B08798B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649503-D1FA-48F4-F5ED-5AA6D061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78A0DC1-D689-E89C-A19B-736431E9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8A12231-A109-4469-97F8-435614A629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3727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320" y="27763474"/>
            <a:ext cx="27539395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320" y="18312295"/>
            <a:ext cx="27539395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CB5305-3D4A-51E2-529C-F1486CF0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0223FEA-D0D4-4859-AA8A-E2A4EFDE6830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A39721-D078-3F4D-BA85-E802D8D1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580AC5C-22A9-855F-ED50-5CEE0401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9C14FCD-94FB-440C-B541-A5AE4DADB4B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8513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002" y="63507941"/>
            <a:ext cx="51394494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77483" y="63507941"/>
            <a:ext cx="51394497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295C321-5736-9B3A-20F6-108071AE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58C302A-08B9-4825-9654-B73B34953AE7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8F5B535-50D6-CE43-01F5-3407CA76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157703F-DC3B-41E3-B625-D7B85256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5495EC9-8999-4217-A4B7-9DC4794C59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99437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19965" y="9671213"/>
            <a:ext cx="14315312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19965" y="13701713"/>
            <a:ext cx="14315312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58390" y="9671213"/>
            <a:ext cx="14320935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58390" y="13701713"/>
            <a:ext cx="14320935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A634082-DD9B-A726-9BD1-C8F8DF9B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21A1918-2A6A-4839-98EA-0EBF0977D8DB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631EA81-F8AD-A730-0A50-23119BA8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F82B6D9-EB34-C539-328C-494884C2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BCBE21B-2B6C-4D11-AB2E-6AF6FB5AE2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40993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6B67FCD-BB45-AC11-0654-6D2B255A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5E352A1-907E-4DF5-89D4-707D0AA8EA97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8044744-4F40-C962-7883-E2FFB7F8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D207B73-E429-8F61-F30D-DB6F7236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264D37E-92A3-40D6-9467-8097877C14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7339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BBC5082-AF5F-FFAE-1919-C72612FF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683FB42-B98B-4F15-AF70-E60A1DCFD56F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3C98F9A-C5FA-3C78-F2A2-58EACBC0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EF5914B-C953-D217-0F8E-6CBF7D5C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0E7FD5C-B32F-4823-ADCB-59DD5FE8D89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40338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7" y="1720216"/>
            <a:ext cx="10659142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7221" y="1720218"/>
            <a:ext cx="18112102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19967" y="9041133"/>
            <a:ext cx="10659142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8EF6A2C-5CAC-1FE0-F52F-8225D9F6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5C35976-970E-4CA3-BFD9-EE7A59D01FEC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AA95B7F-6AC8-86B3-EF2F-4DB1D4C3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86B0D65-49E4-52CE-67F5-5C841493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C965446-4229-4EA8-9B22-8F7C60A504C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52347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0488" y="30243781"/>
            <a:ext cx="19439573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0488" y="3860483"/>
            <a:ext cx="19439573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0488" y="33814230"/>
            <a:ext cx="19439573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641CAC8-4ED5-983F-FCE1-5C192B18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6AFD69E-0FE1-4124-80E3-40F9D34C6CE2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58C393A-BAC2-1A7E-2CAD-ADC2B104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DDDBE70-4FDC-DC9E-2390-187FDBD9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2551AAC-806D-4901-ADBE-F6AF4E5779BF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2163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19965" y="10081264"/>
            <a:ext cx="29159359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B9587F-7629-EBFB-ED1B-6E8D5BA8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7AB82E0-787E-43E2-BD7F-426675C2181F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6357D10-E57E-72AD-3905-0EF7140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0FDF1EB-3FD1-48C5-6964-4702BC6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5C9FEA2-3C52-4520-8496-639D7CC35BD1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38392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42547" y="10901365"/>
            <a:ext cx="25829433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003" y="10901365"/>
            <a:ext cx="76959559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84D4C18-12A5-D7C1-7E82-2630E4B9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C393ED9-2E3E-4405-B19D-C0FAC804C521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BBA733-6B86-B644-4361-87A51B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C0D585C-A3EA-05A6-C2F9-C125FDA1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FBA5E06-9577-4D8C-9A00-0B6B078439F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506047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CE1790A6-50DB-F538-88D4-587D38680000}"/>
              </a:ext>
            </a:extLst>
          </p:cNvPr>
          <p:cNvSpPr>
            <a:spLocks/>
          </p:cNvSpPr>
          <p:nvPr userDrawn="1"/>
        </p:nvSpPr>
        <p:spPr>
          <a:xfrm>
            <a:off x="0" y="-42863"/>
            <a:ext cx="32399288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sz="8500"/>
          </a:p>
        </p:txBody>
      </p:sp>
      <p:pic>
        <p:nvPicPr>
          <p:cNvPr id="1027" name="Picture 2" descr="C:\Documents and Settings\adam\Desktop\Ben Gurion Logo.jpg">
            <a:extLst>
              <a:ext uri="{FF2B5EF4-FFF2-40B4-BE49-F238E27FC236}">
                <a16:creationId xmlns:a16="http://schemas.microsoft.com/office/drawing/2014/main" id="{2D370979-3C3B-361A-B5D2-AFCE761AC1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350" y="1"/>
            <a:ext cx="21597938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EC6F33-358F-9117-D0DE-98CCE46F7071}"/>
              </a:ext>
            </a:extLst>
          </p:cNvPr>
          <p:cNvSpPr/>
          <p:nvPr/>
        </p:nvSpPr>
        <p:spPr>
          <a:xfrm>
            <a:off x="-2382" y="1"/>
            <a:ext cx="32404051" cy="637888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9323CF-0507-E27A-C68C-D1166F428325}"/>
              </a:ext>
            </a:extLst>
          </p:cNvPr>
          <p:cNvGrpSpPr/>
          <p:nvPr/>
        </p:nvGrpSpPr>
        <p:grpSpPr>
          <a:xfrm>
            <a:off x="983457" y="2781837"/>
            <a:ext cx="30432375" cy="3521911"/>
            <a:chOff x="674758" y="2781837"/>
            <a:chExt cx="30432375" cy="3521911"/>
          </a:xfrm>
        </p:grpSpPr>
        <p:sp>
          <p:nvSpPr>
            <p:cNvPr id="14338" name="TextBox 6">
              <a:extLst>
                <a:ext uri="{FF2B5EF4-FFF2-40B4-BE49-F238E27FC236}">
                  <a16:creationId xmlns:a16="http://schemas.microsoft.com/office/drawing/2014/main" id="{CDD3160D-0763-ADC8-DD4C-40D039832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758" y="2781837"/>
              <a:ext cx="30432375" cy="2708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ts val="10000"/>
                </a:lnSpc>
              </a:pPr>
              <a:r>
                <a:rPr lang="he-IL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שימוש בכלים חישוביים לגילוי סמנים ביולוגיים </a:t>
              </a:r>
              <a:br>
                <a:rPr lang="en-US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he-IL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מנתוני ספירת דם כללית</a:t>
              </a:r>
            </a:p>
          </p:txBody>
        </p:sp>
        <p:sp>
          <p:nvSpPr>
            <p:cNvPr id="14340" name="TextBox 10">
              <a:extLst>
                <a:ext uri="{FF2B5EF4-FFF2-40B4-BE49-F238E27FC236}">
                  <a16:creationId xmlns:a16="http://schemas.microsoft.com/office/drawing/2014/main" id="{37906BF6-80F4-1E2D-7932-108B411E1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9633" y="5103419"/>
              <a:ext cx="21002625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he-IL" altLang="he-IL" sz="7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אופק וילקרסטון | מנחה: פרופ' נעה דגן</a:t>
              </a:r>
              <a:endParaRPr lang="en-US" altLang="he-IL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342" name="TextBox 1">
            <a:extLst>
              <a:ext uri="{FF2B5EF4-FFF2-40B4-BE49-F238E27FC236}">
                <a16:creationId xmlns:a16="http://schemas.microsoft.com/office/drawing/2014/main" id="{2D39E5F5-AE41-E499-F3F7-53C3EBBB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54" y="362187"/>
            <a:ext cx="52022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he-IL" altLang="he-IL" sz="7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en-US" altLang="he-I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תמונה 4">
            <a:extLst>
              <a:ext uri="{FF2B5EF4-FFF2-40B4-BE49-F238E27FC236}">
                <a16:creationId xmlns:a16="http://schemas.microsoft.com/office/drawing/2014/main" id="{05F4F1BB-1C1F-0579-CAF2-B54A24D91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7502" y="169093"/>
            <a:ext cx="13198805" cy="2135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4CD4C588-2826-FBB9-CE54-A6D269F21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4420" y="1551345"/>
            <a:ext cx="8523916" cy="12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lnSpc>
                <a:spcPts val="10000"/>
              </a:lnSpc>
            </a:pPr>
            <a:r>
              <a:rPr lang="he-IL" altLang="he-IL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התוכנית להנדסת מערכות מידע</a:t>
            </a:r>
          </a:p>
        </p:txBody>
      </p:sp>
      <p:sp>
        <p:nvSpPr>
          <p:cNvPr id="14343" name="Rectangle 14342"/>
          <p:cNvSpPr/>
          <p:nvPr/>
        </p:nvSpPr>
        <p:spPr>
          <a:xfrm>
            <a:off x="0" y="42199560"/>
            <a:ext cx="32399288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44" name="TextBox 14343"/>
          <p:cNvSpPr txBox="1"/>
          <p:nvPr/>
        </p:nvSpPr>
        <p:spPr>
          <a:xfrm>
            <a:off x="457200" y="42309288"/>
            <a:ext cx="31484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AF0"/>
                </a:solidFill>
              </a:rPr>
              <a:t>Ofek Vilozny  |  מנחה: פרופ' נעה דגן  |  הנדסת מערכות מידע, BGU  |  2026</a:t>
            </a:r>
          </a:p>
        </p:txBody>
      </p:sp>
      <p:sp>
        <p:nvSpPr>
          <p:cNvPr id="14345" name="Rectangle 14344"/>
          <p:cNvSpPr/>
          <p:nvPr/>
        </p:nvSpPr>
        <p:spPr>
          <a:xfrm>
            <a:off x="502920" y="6720840"/>
            <a:ext cx="10220642" cy="11704320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46" name="Rectangle 14345"/>
          <p:cNvSpPr/>
          <p:nvPr/>
        </p:nvSpPr>
        <p:spPr>
          <a:xfrm>
            <a:off x="502920" y="672084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מוטיבציה ורקע</a:t>
            </a:r>
          </a:p>
        </p:txBody>
      </p:sp>
      <p:sp>
        <p:nvSpPr>
          <p:cNvPr id="14347" name="Rectangle 14346"/>
          <p:cNvSpPr/>
          <p:nvPr/>
        </p:nvSpPr>
        <p:spPr>
          <a:xfrm>
            <a:off x="685800" y="7452359"/>
            <a:ext cx="9854882" cy="3291840"/>
          </a:xfrm>
          <a:prstGeom prst="rect">
            <a:avLst/>
          </a:prstGeom>
          <a:solidFill>
            <a:srgbClr val="FDEBD7"/>
          </a:solidFill>
          <a:ln w="1270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48" name="TextBox 14347"/>
          <p:cNvSpPr txBox="1"/>
          <p:nvPr/>
        </p:nvSpPr>
        <p:spPr>
          <a:xfrm>
            <a:off x="9900602" y="754379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⚠</a:t>
            </a:r>
          </a:p>
        </p:txBody>
      </p:sp>
      <p:sp>
        <p:nvSpPr>
          <p:cNvPr id="14349" name="TextBox 14348"/>
          <p:cNvSpPr txBox="1"/>
          <p:nvPr/>
        </p:nvSpPr>
        <p:spPr>
          <a:xfrm>
            <a:off x="822960" y="7562087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E8773D"/>
                </a:solidFill>
              </a:rPr>
              <a:t>האתגר</a:t>
            </a:r>
          </a:p>
        </p:txBody>
      </p:sp>
      <p:sp>
        <p:nvSpPr>
          <p:cNvPr id="14350" name="TextBox 14349"/>
          <p:cNvSpPr txBox="1"/>
          <p:nvPr/>
        </p:nvSpPr>
        <p:spPr>
          <a:xfrm>
            <a:off x="822960" y="8110727"/>
            <a:ext cx="958056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אבחון מחלות אוטואימוניות (זאבת, קרוהן, RA, סוכרת, פסוריאזיס) מסתמך על בדיקות יקרות, מורכבות ומאוחרות.</a:t>
            </a:r>
          </a:p>
        </p:txBody>
      </p:sp>
      <p:sp>
        <p:nvSpPr>
          <p:cNvPr id="14351" name="Rectangle 14350"/>
          <p:cNvSpPr/>
          <p:nvPr/>
        </p:nvSpPr>
        <p:spPr>
          <a:xfrm>
            <a:off x="685800" y="11018520"/>
            <a:ext cx="9854882" cy="3291840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52" name="TextBox 14351"/>
          <p:cNvSpPr txBox="1"/>
          <p:nvPr/>
        </p:nvSpPr>
        <p:spPr>
          <a:xfrm>
            <a:off x="9900602" y="11109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💡</a:t>
            </a:r>
          </a:p>
        </p:txBody>
      </p:sp>
      <p:sp>
        <p:nvSpPr>
          <p:cNvPr id="14353" name="TextBox 14352"/>
          <p:cNvSpPr txBox="1"/>
          <p:nvPr/>
        </p:nvSpPr>
        <p:spPr>
          <a:xfrm>
            <a:off x="822960" y="1112824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1A7A8A"/>
                </a:solidFill>
              </a:rPr>
              <a:t>ההזדמנות</a:t>
            </a:r>
          </a:p>
        </p:txBody>
      </p:sp>
      <p:sp>
        <p:nvSpPr>
          <p:cNvPr id="14354" name="TextBox 14353"/>
          <p:cNvSpPr txBox="1"/>
          <p:nvPr/>
        </p:nvSpPr>
        <p:spPr>
          <a:xfrm>
            <a:off x="822960" y="11676888"/>
            <a:ext cx="958056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ספירת דם מלאה (CBC) היא בדיקה זולה, שגרתית וזמינה בכל מפגש רפואי — אך הפוטנציאל שלה כביומרקר אבחנתי טרם מוצה.</a:t>
            </a:r>
          </a:p>
        </p:txBody>
      </p:sp>
      <p:sp>
        <p:nvSpPr>
          <p:cNvPr id="14355" name="Rectangle 14354"/>
          <p:cNvSpPr/>
          <p:nvPr/>
        </p:nvSpPr>
        <p:spPr>
          <a:xfrm>
            <a:off x="685800" y="14584680"/>
            <a:ext cx="9854882" cy="3291840"/>
          </a:xfrm>
          <a:prstGeom prst="rect">
            <a:avLst/>
          </a:prstGeom>
          <a:solidFill>
            <a:srgbClr val="F0F3F4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56" name="TextBox 14355"/>
          <p:cNvSpPr txBox="1"/>
          <p:nvPr/>
        </p:nvSpPr>
        <p:spPr>
          <a:xfrm>
            <a:off x="9900602" y="14676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🔬</a:t>
            </a:r>
          </a:p>
        </p:txBody>
      </p:sp>
      <p:sp>
        <p:nvSpPr>
          <p:cNvPr id="14357" name="TextBox 14356"/>
          <p:cNvSpPr txBox="1"/>
          <p:nvPr/>
        </p:nvSpPr>
        <p:spPr>
          <a:xfrm>
            <a:off x="822960" y="1469440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2C3E50"/>
                </a:solidFill>
              </a:rPr>
              <a:t>החזון</a:t>
            </a:r>
          </a:p>
        </p:txBody>
      </p:sp>
      <p:sp>
        <p:nvSpPr>
          <p:cNvPr id="14358" name="TextBox 14357"/>
          <p:cNvSpPr txBox="1"/>
          <p:nvPr/>
        </p:nvSpPr>
        <p:spPr>
          <a:xfrm>
            <a:off x="822960" y="15243047"/>
            <a:ext cx="958056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מחקר זה בוחן האם ניתן לגזור נוסחאות מתמטיות פשוטות מערכי CBC שגרתיים לצורך חיזוי ואבחון מוקדם של 6 מחלות.</a:t>
            </a:r>
          </a:p>
        </p:txBody>
      </p:sp>
      <p:sp>
        <p:nvSpPr>
          <p:cNvPr id="14359" name="Rectangle 14358"/>
          <p:cNvSpPr/>
          <p:nvPr/>
        </p:nvSpPr>
        <p:spPr>
          <a:xfrm>
            <a:off x="502920" y="18790919"/>
            <a:ext cx="10220642" cy="8961120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0" name="Rectangle 14359"/>
          <p:cNvSpPr/>
          <p:nvPr/>
        </p:nvSpPr>
        <p:spPr>
          <a:xfrm>
            <a:off x="502920" y="18790919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הגדרת הבעיה</a:t>
            </a:r>
          </a:p>
        </p:txBody>
      </p:sp>
      <p:sp>
        <p:nvSpPr>
          <p:cNvPr id="14361" name="Rectangle 14360"/>
          <p:cNvSpPr/>
          <p:nvPr/>
        </p:nvSpPr>
        <p:spPr>
          <a:xfrm>
            <a:off x="685800" y="19522439"/>
            <a:ext cx="9854882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2" name="TextBox 14361"/>
          <p:cNvSpPr txBox="1"/>
          <p:nvPr/>
        </p:nvSpPr>
        <p:spPr>
          <a:xfrm>
            <a:off x="731520" y="19595591"/>
            <a:ext cx="976344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FFFFFF"/>
                </a:solidFill>
              </a:rPr>
              <a:t>שאלת המחקר: איזו שיטה לייצור נוסחאות מניבה את המודל המיטבי — וכיצד להשוות ביניהן בצורה הוגנת?</a:t>
            </a:r>
          </a:p>
        </p:txBody>
      </p:sp>
      <p:sp>
        <p:nvSpPr>
          <p:cNvPr id="14363" name="Rectangle 14362"/>
          <p:cNvSpPr/>
          <p:nvPr/>
        </p:nvSpPr>
        <p:spPr>
          <a:xfrm>
            <a:off x="685800" y="21214080"/>
            <a:ext cx="9854882" cy="132588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4" name="TextBox 14363"/>
          <p:cNvSpPr txBox="1"/>
          <p:nvPr/>
        </p:nvSpPr>
        <p:spPr>
          <a:xfrm>
            <a:off x="731520" y="21287231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קלט</a:t>
            </a:r>
          </a:p>
        </p:txBody>
      </p:sp>
      <p:sp>
        <p:nvSpPr>
          <p:cNvPr id="14365" name="TextBox 14364"/>
          <p:cNvSpPr txBox="1"/>
          <p:nvPr/>
        </p:nvSpPr>
        <p:spPr>
          <a:xfrm>
            <a:off x="2286000" y="21287231"/>
            <a:ext cx="81632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14 מאפיינים מ-CBC: ספירת תאים + אחוזי ד"ל</a:t>
            </a:r>
          </a:p>
        </p:txBody>
      </p:sp>
      <p:sp>
        <p:nvSpPr>
          <p:cNvPr id="14366" name="Rectangle 14365"/>
          <p:cNvSpPr/>
          <p:nvPr/>
        </p:nvSpPr>
        <p:spPr>
          <a:xfrm>
            <a:off x="685800" y="22722839"/>
            <a:ext cx="9854882" cy="132588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67" name="TextBox 14366"/>
          <p:cNvSpPr txBox="1"/>
          <p:nvPr/>
        </p:nvSpPr>
        <p:spPr>
          <a:xfrm>
            <a:off x="731520" y="22795991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יעד</a:t>
            </a:r>
          </a:p>
        </p:txBody>
      </p:sp>
      <p:sp>
        <p:nvSpPr>
          <p:cNvPr id="14368" name="TextBox 14367"/>
          <p:cNvSpPr txBox="1"/>
          <p:nvPr/>
        </p:nvSpPr>
        <p:spPr>
          <a:xfrm>
            <a:off x="2286000" y="22795991"/>
            <a:ext cx="81632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נוסחה פשוטה מ-≤5 מאפיינים, שקולה ל-LR עם כל הנתונים</a:t>
            </a:r>
          </a:p>
        </p:txBody>
      </p:sp>
      <p:sp>
        <p:nvSpPr>
          <p:cNvPr id="14369" name="Rectangle 14368"/>
          <p:cNvSpPr/>
          <p:nvPr/>
        </p:nvSpPr>
        <p:spPr>
          <a:xfrm>
            <a:off x="685800" y="24231600"/>
            <a:ext cx="9854882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70" name="TextBox 14369"/>
          <p:cNvSpPr txBox="1"/>
          <p:nvPr/>
        </p:nvSpPr>
        <p:spPr>
          <a:xfrm>
            <a:off x="731520" y="24304752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מחלות</a:t>
            </a:r>
          </a:p>
        </p:txBody>
      </p:sp>
      <p:sp>
        <p:nvSpPr>
          <p:cNvPr id="14371" name="TextBox 14370"/>
          <p:cNvSpPr txBox="1"/>
          <p:nvPr/>
        </p:nvSpPr>
        <p:spPr>
          <a:xfrm>
            <a:off x="2286000" y="24304752"/>
            <a:ext cx="81632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RA · קרוהן · T1D · T2D · פסוריאזיס · זאבת (6)</a:t>
            </a:r>
          </a:p>
        </p:txBody>
      </p:sp>
      <p:sp>
        <p:nvSpPr>
          <p:cNvPr id="14372" name="Rectangle 14371"/>
          <p:cNvSpPr/>
          <p:nvPr/>
        </p:nvSpPr>
        <p:spPr>
          <a:xfrm>
            <a:off x="685800" y="25740360"/>
            <a:ext cx="9854882" cy="13258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73" name="TextBox 14372"/>
          <p:cNvSpPr txBox="1"/>
          <p:nvPr/>
        </p:nvSpPr>
        <p:spPr>
          <a:xfrm>
            <a:off x="731520" y="25813511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נתונים</a:t>
            </a:r>
          </a:p>
        </p:txBody>
      </p:sp>
      <p:sp>
        <p:nvSpPr>
          <p:cNvPr id="14374" name="TextBox 14373"/>
          <p:cNvSpPr txBox="1"/>
          <p:nvPr/>
        </p:nvSpPr>
        <p:spPr>
          <a:xfrm>
            <a:off x="2286000" y="25813511"/>
            <a:ext cx="81632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MIMIC-IV v3.1 | BigQuery | split 80/20 קבוע</a:t>
            </a:r>
          </a:p>
        </p:txBody>
      </p:sp>
      <p:sp>
        <p:nvSpPr>
          <p:cNvPr id="14375" name="Rectangle 14374"/>
          <p:cNvSpPr/>
          <p:nvPr/>
        </p:nvSpPr>
        <p:spPr>
          <a:xfrm>
            <a:off x="502920" y="28117799"/>
            <a:ext cx="10220642" cy="14081759"/>
          </a:xfrm>
          <a:prstGeom prst="rect">
            <a:avLst/>
          </a:prstGeom>
          <a:solidFill>
            <a:srgbClr val="F0F3F4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76" name="Rectangle 14375"/>
          <p:cNvSpPr/>
          <p:nvPr/>
        </p:nvSpPr>
        <p:spPr>
          <a:xfrm>
            <a:off x="502920" y="28117799"/>
            <a:ext cx="10220642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נתונים ומטריקות</a:t>
            </a:r>
          </a:p>
        </p:txBody>
      </p:sp>
      <p:sp>
        <p:nvSpPr>
          <p:cNvPr id="14377" name="Rectangle 14376"/>
          <p:cNvSpPr/>
          <p:nvPr/>
        </p:nvSpPr>
        <p:spPr>
          <a:xfrm>
            <a:off x="685800" y="28803599"/>
            <a:ext cx="9854882" cy="3188969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78" name="TextBox 14377"/>
          <p:cNvSpPr txBox="1"/>
          <p:nvPr/>
        </p:nvSpPr>
        <p:spPr>
          <a:xfrm>
            <a:off x="731520" y="28849319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מטריקה ראשית</a:t>
            </a:r>
          </a:p>
        </p:txBody>
      </p:sp>
      <p:sp>
        <p:nvSpPr>
          <p:cNvPr id="14379" name="TextBox 14378"/>
          <p:cNvSpPr txBox="1"/>
          <p:nvPr/>
        </p:nvSpPr>
        <p:spPr>
          <a:xfrm>
            <a:off x="731520" y="29215079"/>
            <a:ext cx="976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AUC-PR Lift</a:t>
            </a:r>
          </a:p>
        </p:txBody>
      </p:sp>
      <p:sp>
        <p:nvSpPr>
          <p:cNvPr id="14380" name="TextBox 14379"/>
          <p:cNvSpPr txBox="1"/>
          <p:nvPr/>
        </p:nvSpPr>
        <p:spPr>
          <a:xfrm>
            <a:off x="731520" y="29699711"/>
            <a:ext cx="9763442" cy="222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AUC-PR / prevalence
(מתאים ל-class imbalance ~1%)</a:t>
            </a:r>
          </a:p>
        </p:txBody>
      </p:sp>
      <p:sp>
        <p:nvSpPr>
          <p:cNvPr id="14381" name="Rectangle 14380"/>
          <p:cNvSpPr/>
          <p:nvPr/>
        </p:nvSpPr>
        <p:spPr>
          <a:xfrm>
            <a:off x="685800" y="32129729"/>
            <a:ext cx="9854882" cy="3188969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82" name="TextBox 14381"/>
          <p:cNvSpPr txBox="1"/>
          <p:nvPr/>
        </p:nvSpPr>
        <p:spPr>
          <a:xfrm>
            <a:off x="731520" y="32175449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מטריקה משנית</a:t>
            </a:r>
          </a:p>
        </p:txBody>
      </p:sp>
      <p:sp>
        <p:nvSpPr>
          <p:cNvPr id="14383" name="TextBox 14382"/>
          <p:cNvSpPr txBox="1"/>
          <p:nvPr/>
        </p:nvSpPr>
        <p:spPr>
          <a:xfrm>
            <a:off x="731520" y="32541210"/>
            <a:ext cx="976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4384" name="TextBox 14383"/>
          <p:cNvSpPr txBox="1"/>
          <p:nvPr/>
        </p:nvSpPr>
        <p:spPr>
          <a:xfrm>
            <a:off x="731520" y="33025841"/>
            <a:ext cx="9763442" cy="222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רגישות + ספציפיות</a:t>
            </a:r>
          </a:p>
        </p:txBody>
      </p:sp>
      <p:sp>
        <p:nvSpPr>
          <p:cNvPr id="14385" name="Rectangle 14384"/>
          <p:cNvSpPr/>
          <p:nvPr/>
        </p:nvSpPr>
        <p:spPr>
          <a:xfrm>
            <a:off x="685800" y="35455859"/>
            <a:ext cx="9854882" cy="318896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86" name="TextBox 14385"/>
          <p:cNvSpPr txBox="1"/>
          <p:nvPr/>
        </p:nvSpPr>
        <p:spPr>
          <a:xfrm>
            <a:off x="731520" y="35501579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רווחי סמך</a:t>
            </a:r>
          </a:p>
        </p:txBody>
      </p:sp>
      <p:sp>
        <p:nvSpPr>
          <p:cNvPr id="14387" name="TextBox 14386"/>
          <p:cNvSpPr txBox="1"/>
          <p:nvPr/>
        </p:nvSpPr>
        <p:spPr>
          <a:xfrm>
            <a:off x="731520" y="35867339"/>
            <a:ext cx="976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Bootstrap CI</a:t>
            </a:r>
          </a:p>
        </p:txBody>
      </p:sp>
      <p:sp>
        <p:nvSpPr>
          <p:cNvPr id="14388" name="TextBox 14387"/>
          <p:cNvSpPr txBox="1"/>
          <p:nvPr/>
        </p:nvSpPr>
        <p:spPr>
          <a:xfrm>
            <a:off x="731520" y="36351971"/>
            <a:ext cx="9763442" cy="222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n=1,000 | 95% CI</a:t>
            </a:r>
          </a:p>
        </p:txBody>
      </p:sp>
      <p:sp>
        <p:nvSpPr>
          <p:cNvPr id="14389" name="Rectangle 14388"/>
          <p:cNvSpPr/>
          <p:nvPr/>
        </p:nvSpPr>
        <p:spPr>
          <a:xfrm>
            <a:off x="685800" y="38781989"/>
            <a:ext cx="9854882" cy="3188969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0" name="TextBox 14389"/>
          <p:cNvSpPr txBox="1"/>
          <p:nvPr/>
        </p:nvSpPr>
        <p:spPr>
          <a:xfrm>
            <a:off x="731520" y="38827709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ולידציה חיצונית</a:t>
            </a:r>
          </a:p>
        </p:txBody>
      </p:sp>
      <p:sp>
        <p:nvSpPr>
          <p:cNvPr id="14391" name="TextBox 14390"/>
          <p:cNvSpPr txBox="1"/>
          <p:nvPr/>
        </p:nvSpPr>
        <p:spPr>
          <a:xfrm>
            <a:off x="731520" y="39193470"/>
            <a:ext cx="976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NHANES + EHRSHOT</a:t>
            </a:r>
          </a:p>
        </p:txBody>
      </p:sp>
      <p:sp>
        <p:nvSpPr>
          <p:cNvPr id="14392" name="TextBox 14391"/>
          <p:cNvSpPr txBox="1"/>
          <p:nvPr/>
        </p:nvSpPr>
        <p:spPr>
          <a:xfrm>
            <a:off x="731520" y="39678101"/>
            <a:ext cx="9763442" cy="222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Stanford OMOP CDM</a:t>
            </a:r>
          </a:p>
        </p:txBody>
      </p:sp>
      <p:sp>
        <p:nvSpPr>
          <p:cNvPr id="14393" name="Rectangle 14392"/>
          <p:cNvSpPr/>
          <p:nvPr/>
        </p:nvSpPr>
        <p:spPr>
          <a:xfrm>
            <a:off x="11089322" y="6720840"/>
            <a:ext cx="10220642" cy="24231600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4" name="Rectangle 14393"/>
          <p:cNvSpPr/>
          <p:nvPr/>
        </p:nvSpPr>
        <p:spPr>
          <a:xfrm>
            <a:off x="11089322" y="6720840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ארכיטקטורת הפריימוורק</a:t>
            </a:r>
          </a:p>
        </p:txBody>
      </p:sp>
      <p:sp>
        <p:nvSpPr>
          <p:cNvPr id="14395" name="Rectangle 14394"/>
          <p:cNvSpPr/>
          <p:nvPr/>
        </p:nvSpPr>
        <p:spPr>
          <a:xfrm>
            <a:off x="11272202" y="7498079"/>
            <a:ext cx="9854882" cy="50292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6" name="TextBox 14395"/>
          <p:cNvSpPr txBox="1"/>
          <p:nvPr/>
        </p:nvSpPr>
        <p:spPr>
          <a:xfrm>
            <a:off x="11317922" y="7589519"/>
            <a:ext cx="976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CBC Input</a:t>
            </a:r>
          </a:p>
        </p:txBody>
      </p:sp>
      <p:sp>
        <p:nvSpPr>
          <p:cNvPr id="14397" name="Rectangle 14396"/>
          <p:cNvSpPr/>
          <p:nvPr/>
        </p:nvSpPr>
        <p:spPr>
          <a:xfrm>
            <a:off x="16163068" y="12527280"/>
            <a:ext cx="73152" cy="32004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8" name="Rectangle 14397"/>
          <p:cNvSpPr/>
          <p:nvPr/>
        </p:nvSpPr>
        <p:spPr>
          <a:xfrm>
            <a:off x="16062484" y="12801600"/>
            <a:ext cx="274320" cy="13716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99" name="TextBox 14398"/>
          <p:cNvSpPr txBox="1"/>
          <p:nvPr/>
        </p:nvSpPr>
        <p:spPr>
          <a:xfrm>
            <a:off x="11345354" y="818387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HCT · HGB · MCH</a:t>
            </a:r>
          </a:p>
        </p:txBody>
      </p:sp>
      <p:sp>
        <p:nvSpPr>
          <p:cNvPr id="14400" name="TextBox 14399"/>
          <p:cNvSpPr txBox="1"/>
          <p:nvPr/>
        </p:nvSpPr>
        <p:spPr>
          <a:xfrm>
            <a:off x="11345354" y="87782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MCHC · MCV · PLT</a:t>
            </a:r>
          </a:p>
        </p:txBody>
      </p:sp>
      <p:sp>
        <p:nvSpPr>
          <p:cNvPr id="14401" name="TextBox 14400"/>
          <p:cNvSpPr txBox="1"/>
          <p:nvPr/>
        </p:nvSpPr>
        <p:spPr>
          <a:xfrm>
            <a:off x="11345354" y="93726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RBC · RDW · WBC</a:t>
            </a:r>
          </a:p>
        </p:txBody>
      </p:sp>
      <p:sp>
        <p:nvSpPr>
          <p:cNvPr id="14402" name="TextBox 14401"/>
          <p:cNvSpPr txBox="1"/>
          <p:nvPr/>
        </p:nvSpPr>
        <p:spPr>
          <a:xfrm>
            <a:off x="11345354" y="996695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Neut% · Lym% · Mono%</a:t>
            </a:r>
          </a:p>
        </p:txBody>
      </p:sp>
      <p:sp>
        <p:nvSpPr>
          <p:cNvPr id="14403" name="TextBox 14402"/>
          <p:cNvSpPr txBox="1"/>
          <p:nvPr/>
        </p:nvSpPr>
        <p:spPr>
          <a:xfrm>
            <a:off x="11345354" y="1056131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Eos% · Baso%</a:t>
            </a:r>
          </a:p>
        </p:txBody>
      </p:sp>
      <p:sp>
        <p:nvSpPr>
          <p:cNvPr id="14404" name="TextBox 14403"/>
          <p:cNvSpPr txBox="1"/>
          <p:nvPr/>
        </p:nvSpPr>
        <p:spPr>
          <a:xfrm>
            <a:off x="11345354" y="1115568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─────</a:t>
            </a:r>
          </a:p>
        </p:txBody>
      </p:sp>
      <p:sp>
        <p:nvSpPr>
          <p:cNvPr id="14405" name="TextBox 14404"/>
          <p:cNvSpPr txBox="1"/>
          <p:nvPr/>
        </p:nvSpPr>
        <p:spPr>
          <a:xfrm>
            <a:off x="11345354" y="117500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MIMIC-IV v3.1</a:t>
            </a:r>
          </a:p>
        </p:txBody>
      </p:sp>
      <p:sp>
        <p:nvSpPr>
          <p:cNvPr id="14406" name="TextBox 14405"/>
          <p:cNvSpPr txBox="1"/>
          <p:nvPr/>
        </p:nvSpPr>
        <p:spPr>
          <a:xfrm>
            <a:off x="11345354" y="123444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90d lookback | split 80/20</a:t>
            </a:r>
          </a:p>
        </p:txBody>
      </p:sp>
      <p:sp>
        <p:nvSpPr>
          <p:cNvPr id="14407" name="Rectangle 14406"/>
          <p:cNvSpPr/>
          <p:nvPr/>
        </p:nvSpPr>
        <p:spPr>
          <a:xfrm>
            <a:off x="11272202" y="12938759"/>
            <a:ext cx="9854882" cy="5029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08" name="TextBox 14407"/>
          <p:cNvSpPr txBox="1"/>
          <p:nvPr/>
        </p:nvSpPr>
        <p:spPr>
          <a:xfrm>
            <a:off x="11317922" y="13030199"/>
            <a:ext cx="976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עיבוד מקדים</a:t>
            </a:r>
          </a:p>
        </p:txBody>
      </p:sp>
      <p:sp>
        <p:nvSpPr>
          <p:cNvPr id="14409" name="Rectangle 14408"/>
          <p:cNvSpPr/>
          <p:nvPr/>
        </p:nvSpPr>
        <p:spPr>
          <a:xfrm>
            <a:off x="16163068" y="17967960"/>
            <a:ext cx="73152" cy="32004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0" name="Rectangle 14409"/>
          <p:cNvSpPr/>
          <p:nvPr/>
        </p:nvSpPr>
        <p:spPr>
          <a:xfrm>
            <a:off x="16062484" y="18242280"/>
            <a:ext cx="274320" cy="13716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1" name="TextBox 14410"/>
          <p:cNvSpPr txBox="1"/>
          <p:nvPr/>
        </p:nvSpPr>
        <p:spPr>
          <a:xfrm>
            <a:off x="11345354" y="1362455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90-day lookback</a:t>
            </a:r>
          </a:p>
        </p:txBody>
      </p:sp>
      <p:sp>
        <p:nvSpPr>
          <p:cNvPr id="14412" name="TextBox 14411"/>
          <p:cNvSpPr txBox="1"/>
          <p:nvPr/>
        </p:nvSpPr>
        <p:spPr>
          <a:xfrm>
            <a:off x="11345354" y="1421891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First 24h index</a:t>
            </a:r>
          </a:p>
        </p:txBody>
      </p:sp>
      <p:sp>
        <p:nvSpPr>
          <p:cNvPr id="14413" name="TextBox 14412"/>
          <p:cNvSpPr txBox="1"/>
          <p:nvPr/>
        </p:nvSpPr>
        <p:spPr>
          <a:xfrm>
            <a:off x="11345354" y="1481328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Last value aggregation</a:t>
            </a:r>
          </a:p>
        </p:txBody>
      </p:sp>
      <p:sp>
        <p:nvSpPr>
          <p:cNvPr id="14414" name="TextBox 14413"/>
          <p:cNvSpPr txBox="1"/>
          <p:nvPr/>
        </p:nvSpPr>
        <p:spPr>
          <a:xfrm>
            <a:off x="11345354" y="1540763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Median imputation</a:t>
            </a:r>
          </a:p>
        </p:txBody>
      </p:sp>
      <p:sp>
        <p:nvSpPr>
          <p:cNvPr id="14415" name="TextBox 14414"/>
          <p:cNvSpPr txBox="1"/>
          <p:nvPr/>
        </p:nvSpPr>
        <p:spPr>
          <a:xfrm>
            <a:off x="11345354" y="160020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Normalization (StandardScaler)</a:t>
            </a:r>
          </a:p>
        </p:txBody>
      </p:sp>
      <p:sp>
        <p:nvSpPr>
          <p:cNvPr id="14416" name="TextBox 14415"/>
          <p:cNvSpPr txBox="1"/>
          <p:nvPr/>
        </p:nvSpPr>
        <p:spPr>
          <a:xfrm>
            <a:off x="11345354" y="1659635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Train/Test split (80/20)</a:t>
            </a:r>
          </a:p>
        </p:txBody>
      </p:sp>
      <p:sp>
        <p:nvSpPr>
          <p:cNvPr id="14417" name="Rectangle 14416"/>
          <p:cNvSpPr/>
          <p:nvPr/>
        </p:nvSpPr>
        <p:spPr>
          <a:xfrm>
            <a:off x="11272202" y="18379440"/>
            <a:ext cx="9854882" cy="502920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18" name="TextBox 14417"/>
          <p:cNvSpPr txBox="1"/>
          <p:nvPr/>
        </p:nvSpPr>
        <p:spPr>
          <a:xfrm>
            <a:off x="11317922" y="18470880"/>
            <a:ext cx="976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Interchangeable Logic</a:t>
            </a:r>
          </a:p>
        </p:txBody>
      </p:sp>
      <p:sp>
        <p:nvSpPr>
          <p:cNvPr id="14419" name="Rectangle 14418"/>
          <p:cNvSpPr/>
          <p:nvPr/>
        </p:nvSpPr>
        <p:spPr>
          <a:xfrm>
            <a:off x="16163068" y="23408640"/>
            <a:ext cx="73152" cy="32004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0" name="Rectangle 14419"/>
          <p:cNvSpPr/>
          <p:nvPr/>
        </p:nvSpPr>
        <p:spPr>
          <a:xfrm>
            <a:off x="16062484" y="23682960"/>
            <a:ext cx="274320" cy="13716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1" name="TextBox 14420"/>
          <p:cNvSpPr txBox="1"/>
          <p:nvPr/>
        </p:nvSpPr>
        <p:spPr>
          <a:xfrm>
            <a:off x="11345354" y="190652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M1 — Threshold Opt.  |  Youden's Index</a:t>
            </a:r>
          </a:p>
        </p:txBody>
      </p:sp>
      <p:sp>
        <p:nvSpPr>
          <p:cNvPr id="14422" name="TextBox 14421"/>
          <p:cNvSpPr txBox="1"/>
          <p:nvPr/>
        </p:nvSpPr>
        <p:spPr>
          <a:xfrm>
            <a:off x="11345354" y="196596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M2 — Random Search   |  10,000 formulas</a:t>
            </a:r>
          </a:p>
        </p:txBody>
      </p:sp>
      <p:sp>
        <p:nvSpPr>
          <p:cNvPr id="14423" name="TextBox 14422"/>
          <p:cNvSpPr txBox="1"/>
          <p:nvPr/>
        </p:nvSpPr>
        <p:spPr>
          <a:xfrm>
            <a:off x="11345354" y="2025396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DEBD7"/>
                </a:solidFill>
              </a:rPr>
              <a:t>M3 — Genetic Prog.   |  pop=500, gen=100  🏆</a:t>
            </a:r>
          </a:p>
        </p:txBody>
      </p:sp>
      <p:sp>
        <p:nvSpPr>
          <p:cNvPr id="14424" name="TextBox 14423"/>
          <p:cNvSpPr txBox="1"/>
          <p:nvPr/>
        </p:nvSpPr>
        <p:spPr>
          <a:xfrm>
            <a:off x="11345354" y="2084832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M4 — LLM (Med-Gemma 4B)  |  Seeded prompts</a:t>
            </a:r>
          </a:p>
        </p:txBody>
      </p:sp>
      <p:sp>
        <p:nvSpPr>
          <p:cNvPr id="14425" name="TextBox 14424"/>
          <p:cNvSpPr txBox="1"/>
          <p:nvPr/>
        </p:nvSpPr>
        <p:spPr>
          <a:xfrm>
            <a:off x="11345354" y="2144268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─────</a:t>
            </a:r>
          </a:p>
        </p:txBody>
      </p:sp>
      <p:sp>
        <p:nvSpPr>
          <p:cNvPr id="14426" name="TextBox 14425"/>
          <p:cNvSpPr txBox="1"/>
          <p:nvPr/>
        </p:nvSpPr>
        <p:spPr>
          <a:xfrm>
            <a:off x="11345354" y="220370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Baseline: Logistic Regression (14 features)</a:t>
            </a:r>
          </a:p>
        </p:txBody>
      </p:sp>
      <p:sp>
        <p:nvSpPr>
          <p:cNvPr id="14427" name="Rectangle 14426"/>
          <p:cNvSpPr/>
          <p:nvPr/>
        </p:nvSpPr>
        <p:spPr>
          <a:xfrm>
            <a:off x="11272202" y="23820120"/>
            <a:ext cx="9854882" cy="50292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28" name="TextBox 14427"/>
          <p:cNvSpPr txBox="1"/>
          <p:nvPr/>
        </p:nvSpPr>
        <p:spPr>
          <a:xfrm>
            <a:off x="11317922" y="23911560"/>
            <a:ext cx="976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הערכה</a:t>
            </a:r>
          </a:p>
        </p:txBody>
      </p:sp>
      <p:sp>
        <p:nvSpPr>
          <p:cNvPr id="14429" name="TextBox 14428"/>
          <p:cNvSpPr txBox="1"/>
          <p:nvPr/>
        </p:nvSpPr>
        <p:spPr>
          <a:xfrm>
            <a:off x="11345354" y="2450592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AUC-PR Lift  (ראשית)</a:t>
            </a:r>
          </a:p>
        </p:txBody>
      </p:sp>
      <p:sp>
        <p:nvSpPr>
          <p:cNvPr id="14430" name="TextBox 14429"/>
          <p:cNvSpPr txBox="1"/>
          <p:nvPr/>
        </p:nvSpPr>
        <p:spPr>
          <a:xfrm>
            <a:off x="11345354" y="2510028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AUC-ROC  (משנית)</a:t>
            </a:r>
          </a:p>
        </p:txBody>
      </p:sp>
      <p:sp>
        <p:nvSpPr>
          <p:cNvPr id="14431" name="TextBox 14430"/>
          <p:cNvSpPr txBox="1"/>
          <p:nvPr/>
        </p:nvSpPr>
        <p:spPr>
          <a:xfrm>
            <a:off x="11345354" y="256946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Bootstrap CI  n=1,000</a:t>
            </a:r>
          </a:p>
        </p:txBody>
      </p:sp>
      <p:sp>
        <p:nvSpPr>
          <p:cNvPr id="14432" name="TextBox 14431"/>
          <p:cNvSpPr txBox="1"/>
          <p:nvPr/>
        </p:nvSpPr>
        <p:spPr>
          <a:xfrm>
            <a:off x="11345354" y="262890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vs. LR Baseline</a:t>
            </a:r>
          </a:p>
        </p:txBody>
      </p:sp>
      <p:sp>
        <p:nvSpPr>
          <p:cNvPr id="14433" name="TextBox 14432"/>
          <p:cNvSpPr txBox="1"/>
          <p:nvPr/>
        </p:nvSpPr>
        <p:spPr>
          <a:xfrm>
            <a:off x="11345354" y="2688336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─────</a:t>
            </a:r>
          </a:p>
        </p:txBody>
      </p:sp>
      <p:sp>
        <p:nvSpPr>
          <p:cNvPr id="14434" name="TextBox 14433"/>
          <p:cNvSpPr txBox="1"/>
          <p:nvPr/>
        </p:nvSpPr>
        <p:spPr>
          <a:xfrm>
            <a:off x="11345354" y="2747772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NHANES · EHRSHOT external</a:t>
            </a:r>
          </a:p>
        </p:txBody>
      </p:sp>
      <p:sp>
        <p:nvSpPr>
          <p:cNvPr id="14435" name="Rectangle 14434"/>
          <p:cNvSpPr/>
          <p:nvPr/>
        </p:nvSpPr>
        <p:spPr>
          <a:xfrm>
            <a:off x="11089322" y="31318200"/>
            <a:ext cx="10220642" cy="10881359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36" name="Rectangle 14435"/>
          <p:cNvSpPr/>
          <p:nvPr/>
        </p:nvSpPr>
        <p:spPr>
          <a:xfrm>
            <a:off x="11089322" y="3131820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Cross-Method Feature Consensus — RA</a:t>
            </a:r>
          </a:p>
        </p:txBody>
      </p:sp>
      <p:sp>
        <p:nvSpPr>
          <p:cNvPr id="14437" name="Rectangle 14436"/>
          <p:cNvSpPr/>
          <p:nvPr/>
        </p:nvSpPr>
        <p:spPr>
          <a:xfrm>
            <a:off x="13192442" y="32004000"/>
            <a:ext cx="1910508" cy="45720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38" name="TextBox 14437"/>
          <p:cNvSpPr txBox="1"/>
          <p:nvPr/>
        </p:nvSpPr>
        <p:spPr>
          <a:xfrm>
            <a:off x="13192442" y="32049719"/>
            <a:ext cx="1910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M3: GP</a:t>
            </a:r>
          </a:p>
        </p:txBody>
      </p:sp>
      <p:sp>
        <p:nvSpPr>
          <p:cNvPr id="14439" name="Rectangle 14438"/>
          <p:cNvSpPr/>
          <p:nvPr/>
        </p:nvSpPr>
        <p:spPr>
          <a:xfrm>
            <a:off x="15176103" y="32004000"/>
            <a:ext cx="1910508" cy="4572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40" name="TextBox 14439"/>
          <p:cNvSpPr txBox="1"/>
          <p:nvPr/>
        </p:nvSpPr>
        <p:spPr>
          <a:xfrm>
            <a:off x="15176103" y="32049719"/>
            <a:ext cx="1910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M4: LLM</a:t>
            </a:r>
          </a:p>
        </p:txBody>
      </p:sp>
      <p:sp>
        <p:nvSpPr>
          <p:cNvPr id="14441" name="Rectangle 14440"/>
          <p:cNvSpPr/>
          <p:nvPr/>
        </p:nvSpPr>
        <p:spPr>
          <a:xfrm>
            <a:off x="17159764" y="32004000"/>
            <a:ext cx="1910508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42" name="TextBox 14441"/>
          <p:cNvSpPr txBox="1"/>
          <p:nvPr/>
        </p:nvSpPr>
        <p:spPr>
          <a:xfrm>
            <a:off x="17159764" y="32049719"/>
            <a:ext cx="1910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M1: Thresh.</a:t>
            </a:r>
          </a:p>
        </p:txBody>
      </p:sp>
      <p:sp>
        <p:nvSpPr>
          <p:cNvPr id="14443" name="Rectangle 14442"/>
          <p:cNvSpPr/>
          <p:nvPr/>
        </p:nvSpPr>
        <p:spPr>
          <a:xfrm>
            <a:off x="19143424" y="32004000"/>
            <a:ext cx="191050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44" name="TextBox 14443"/>
          <p:cNvSpPr txBox="1"/>
          <p:nvPr/>
        </p:nvSpPr>
        <p:spPr>
          <a:xfrm>
            <a:off x="19143424" y="32049719"/>
            <a:ext cx="1910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M2: Random</a:t>
            </a:r>
          </a:p>
        </p:txBody>
      </p:sp>
      <p:sp>
        <p:nvSpPr>
          <p:cNvPr id="14445" name="TextBox 14444"/>
          <p:cNvSpPr txBox="1"/>
          <p:nvPr/>
        </p:nvSpPr>
        <p:spPr>
          <a:xfrm>
            <a:off x="11180762" y="32552640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1" i="0">
                <a:solidFill>
                  <a:srgbClr val="E8773D"/>
                </a:solidFill>
              </a:rPr>
              <a:t>RDW</a:t>
            </a:r>
          </a:p>
        </p:txBody>
      </p:sp>
      <p:sp>
        <p:nvSpPr>
          <p:cNvPr id="14446" name="Rectangle 14445"/>
          <p:cNvSpPr/>
          <p:nvPr/>
        </p:nvSpPr>
        <p:spPr>
          <a:xfrm>
            <a:off x="13192442" y="32589216"/>
            <a:ext cx="1910508" cy="1709927"/>
          </a:xfrm>
          <a:prstGeom prst="rect">
            <a:avLst/>
          </a:prstGeom>
          <a:solidFill>
            <a:srgbClr val="EB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47" name="TextBox 14446"/>
          <p:cNvSpPr txBox="1"/>
          <p:nvPr/>
        </p:nvSpPr>
        <p:spPr>
          <a:xfrm>
            <a:off x="13192442" y="32589216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85%</a:t>
            </a:r>
          </a:p>
        </p:txBody>
      </p:sp>
      <p:sp>
        <p:nvSpPr>
          <p:cNvPr id="14448" name="Rectangle 14447"/>
          <p:cNvSpPr/>
          <p:nvPr/>
        </p:nvSpPr>
        <p:spPr>
          <a:xfrm>
            <a:off x="15176103" y="32589216"/>
            <a:ext cx="1910508" cy="1709927"/>
          </a:xfrm>
          <a:prstGeom prst="rect">
            <a:avLst/>
          </a:prstGeom>
          <a:solidFill>
            <a:srgbClr val="6C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49" name="TextBox 14448"/>
          <p:cNvSpPr txBox="1"/>
          <p:nvPr/>
        </p:nvSpPr>
        <p:spPr>
          <a:xfrm>
            <a:off x="15176103" y="32589216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64%</a:t>
            </a:r>
          </a:p>
        </p:txBody>
      </p:sp>
      <p:sp>
        <p:nvSpPr>
          <p:cNvPr id="14450" name="Rectangle 14449"/>
          <p:cNvSpPr/>
          <p:nvPr/>
        </p:nvSpPr>
        <p:spPr>
          <a:xfrm>
            <a:off x="17159764" y="32589216"/>
            <a:ext cx="1910508" cy="1709927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51" name="TextBox 14450"/>
          <p:cNvSpPr txBox="1"/>
          <p:nvPr/>
        </p:nvSpPr>
        <p:spPr>
          <a:xfrm>
            <a:off x="17159764" y="32589216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4452" name="Rectangle 14451"/>
          <p:cNvSpPr/>
          <p:nvPr/>
        </p:nvSpPr>
        <p:spPr>
          <a:xfrm>
            <a:off x="19143424" y="32589216"/>
            <a:ext cx="1910508" cy="1709927"/>
          </a:xfrm>
          <a:prstGeom prst="rect">
            <a:avLst/>
          </a:prstGeom>
          <a:solidFill>
            <a:srgbClr val="CB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53" name="TextBox 14452"/>
          <p:cNvSpPr txBox="1"/>
          <p:nvPr/>
        </p:nvSpPr>
        <p:spPr>
          <a:xfrm>
            <a:off x="19143424" y="32589216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40%</a:t>
            </a:r>
          </a:p>
        </p:txBody>
      </p:sp>
      <p:sp>
        <p:nvSpPr>
          <p:cNvPr id="14454" name="TextBox 14453"/>
          <p:cNvSpPr txBox="1"/>
          <p:nvPr/>
        </p:nvSpPr>
        <p:spPr>
          <a:xfrm>
            <a:off x="11180762" y="34354008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1" i="0">
                <a:solidFill>
                  <a:srgbClr val="E8773D"/>
                </a:solidFill>
              </a:rPr>
              <a:t>PLT</a:t>
            </a:r>
          </a:p>
        </p:txBody>
      </p:sp>
      <p:sp>
        <p:nvSpPr>
          <p:cNvPr id="14455" name="Rectangle 14454"/>
          <p:cNvSpPr/>
          <p:nvPr/>
        </p:nvSpPr>
        <p:spPr>
          <a:xfrm>
            <a:off x="13192442" y="34390584"/>
            <a:ext cx="1910508" cy="1709927"/>
          </a:xfrm>
          <a:prstGeom prst="rect">
            <a:avLst/>
          </a:prstGeom>
          <a:solidFill>
            <a:srgbClr val="EA8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56" name="TextBox 14455"/>
          <p:cNvSpPr txBox="1"/>
          <p:nvPr/>
        </p:nvSpPr>
        <p:spPr>
          <a:xfrm>
            <a:off x="13192442" y="34390584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4457" name="Rectangle 14456"/>
          <p:cNvSpPr/>
          <p:nvPr/>
        </p:nvSpPr>
        <p:spPr>
          <a:xfrm>
            <a:off x="15176103" y="34390584"/>
            <a:ext cx="1910508" cy="1709927"/>
          </a:xfrm>
          <a:prstGeom prst="rect">
            <a:avLst/>
          </a:prstGeom>
          <a:solidFill>
            <a:srgbClr val="83B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58" name="TextBox 14457"/>
          <p:cNvSpPr txBox="1"/>
          <p:nvPr/>
        </p:nvSpPr>
        <p:spPr>
          <a:xfrm>
            <a:off x="15176103" y="34390584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54%</a:t>
            </a:r>
          </a:p>
        </p:txBody>
      </p:sp>
      <p:sp>
        <p:nvSpPr>
          <p:cNvPr id="14459" name="Rectangle 14458"/>
          <p:cNvSpPr/>
          <p:nvPr/>
        </p:nvSpPr>
        <p:spPr>
          <a:xfrm>
            <a:off x="17159764" y="34390584"/>
            <a:ext cx="1910508" cy="1709927"/>
          </a:xfrm>
          <a:prstGeom prst="rect">
            <a:avLst/>
          </a:prstGeom>
          <a:solidFill>
            <a:srgbClr val="959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60" name="TextBox 14459"/>
          <p:cNvSpPr txBox="1"/>
          <p:nvPr/>
        </p:nvSpPr>
        <p:spPr>
          <a:xfrm>
            <a:off x="17159764" y="34390584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4461" name="Rectangle 14460"/>
          <p:cNvSpPr/>
          <p:nvPr/>
        </p:nvSpPr>
        <p:spPr>
          <a:xfrm>
            <a:off x="19143424" y="34390584"/>
            <a:ext cx="1910508" cy="1709927"/>
          </a:xfrm>
          <a:prstGeom prst="rect">
            <a:avLst/>
          </a:prstGeom>
          <a:solidFill>
            <a:srgbClr val="B2B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62" name="TextBox 14461"/>
          <p:cNvSpPr txBox="1"/>
          <p:nvPr/>
        </p:nvSpPr>
        <p:spPr>
          <a:xfrm>
            <a:off x="19143424" y="34390584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14463" name="TextBox 14462"/>
          <p:cNvSpPr txBox="1"/>
          <p:nvPr/>
        </p:nvSpPr>
        <p:spPr>
          <a:xfrm>
            <a:off x="11180762" y="36155376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1" i="0">
                <a:solidFill>
                  <a:srgbClr val="E8773D"/>
                </a:solidFill>
              </a:rPr>
              <a:t>MCHC</a:t>
            </a:r>
          </a:p>
        </p:txBody>
      </p:sp>
      <p:sp>
        <p:nvSpPr>
          <p:cNvPr id="14464" name="Rectangle 14463"/>
          <p:cNvSpPr/>
          <p:nvPr/>
        </p:nvSpPr>
        <p:spPr>
          <a:xfrm>
            <a:off x="13192442" y="36191952"/>
            <a:ext cx="1910508" cy="1709927"/>
          </a:xfrm>
          <a:prstGeom prst="rect">
            <a:avLst/>
          </a:prstGeom>
          <a:solidFill>
            <a:srgbClr val="ED9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65" name="TextBox 14464"/>
          <p:cNvSpPr txBox="1"/>
          <p:nvPr/>
        </p:nvSpPr>
        <p:spPr>
          <a:xfrm>
            <a:off x="13192442" y="36191952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75%</a:t>
            </a:r>
          </a:p>
        </p:txBody>
      </p:sp>
      <p:sp>
        <p:nvSpPr>
          <p:cNvPr id="14466" name="Rectangle 14465"/>
          <p:cNvSpPr/>
          <p:nvPr/>
        </p:nvSpPr>
        <p:spPr>
          <a:xfrm>
            <a:off x="15176103" y="36191952"/>
            <a:ext cx="1910508" cy="1709927"/>
          </a:xfrm>
          <a:prstGeom prst="rect">
            <a:avLst/>
          </a:prstGeom>
          <a:solidFill>
            <a:srgbClr val="97C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67" name="TextBox 14466"/>
          <p:cNvSpPr txBox="1"/>
          <p:nvPr/>
        </p:nvSpPr>
        <p:spPr>
          <a:xfrm>
            <a:off x="15176103" y="36191952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14468" name="Rectangle 14467"/>
          <p:cNvSpPr/>
          <p:nvPr/>
        </p:nvSpPr>
        <p:spPr>
          <a:xfrm>
            <a:off x="17159764" y="36191952"/>
            <a:ext cx="1910508" cy="1709927"/>
          </a:xfrm>
          <a:prstGeom prst="rect">
            <a:avLst/>
          </a:prstGeom>
          <a:solidFill>
            <a:srgbClr val="AA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69" name="TextBox 14468"/>
          <p:cNvSpPr txBox="1"/>
          <p:nvPr/>
        </p:nvSpPr>
        <p:spPr>
          <a:xfrm>
            <a:off x="17159764" y="36191952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40%</a:t>
            </a:r>
          </a:p>
        </p:txBody>
      </p:sp>
      <p:sp>
        <p:nvSpPr>
          <p:cNvPr id="14470" name="Rectangle 14469"/>
          <p:cNvSpPr/>
          <p:nvPr/>
        </p:nvSpPr>
        <p:spPr>
          <a:xfrm>
            <a:off x="19143424" y="36191952"/>
            <a:ext cx="1910508" cy="1709927"/>
          </a:xfrm>
          <a:prstGeom prst="rect">
            <a:avLst/>
          </a:prstGeom>
          <a:solidFill>
            <a:srgbClr val="B8B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71" name="TextBox 14470"/>
          <p:cNvSpPr txBox="1"/>
          <p:nvPr/>
        </p:nvSpPr>
        <p:spPr>
          <a:xfrm>
            <a:off x="19143424" y="36191952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55%</a:t>
            </a:r>
          </a:p>
        </p:txBody>
      </p:sp>
      <p:sp>
        <p:nvSpPr>
          <p:cNvPr id="14472" name="TextBox 14471"/>
          <p:cNvSpPr txBox="1"/>
          <p:nvPr/>
        </p:nvSpPr>
        <p:spPr>
          <a:xfrm>
            <a:off x="11180762" y="37956744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mono_pct</a:t>
            </a:r>
          </a:p>
        </p:txBody>
      </p:sp>
      <p:sp>
        <p:nvSpPr>
          <p:cNvPr id="14473" name="Rectangle 14472"/>
          <p:cNvSpPr/>
          <p:nvPr/>
        </p:nvSpPr>
        <p:spPr>
          <a:xfrm>
            <a:off x="13192442" y="37993320"/>
            <a:ext cx="1910508" cy="1709927"/>
          </a:xfrm>
          <a:prstGeom prst="rect">
            <a:avLst/>
          </a:prstGeom>
          <a:solidFill>
            <a:srgbClr val="F0A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74" name="TextBox 14473"/>
          <p:cNvSpPr txBox="1"/>
          <p:nvPr/>
        </p:nvSpPr>
        <p:spPr>
          <a:xfrm>
            <a:off x="13192442" y="37993320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65%</a:t>
            </a:r>
          </a:p>
        </p:txBody>
      </p:sp>
      <p:sp>
        <p:nvSpPr>
          <p:cNvPr id="14475" name="Rectangle 14474"/>
          <p:cNvSpPr/>
          <p:nvPr/>
        </p:nvSpPr>
        <p:spPr>
          <a:xfrm>
            <a:off x="15176103" y="37993320"/>
            <a:ext cx="1910508" cy="1709927"/>
          </a:xfrm>
          <a:prstGeom prst="rect">
            <a:avLst/>
          </a:prstGeom>
          <a:solidFill>
            <a:srgbClr val="DC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76" name="TextBox 14475"/>
          <p:cNvSpPr txBox="1"/>
          <p:nvPr/>
        </p:nvSpPr>
        <p:spPr>
          <a:xfrm>
            <a:off x="15176103" y="37993320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15%</a:t>
            </a:r>
          </a:p>
        </p:txBody>
      </p:sp>
      <p:sp>
        <p:nvSpPr>
          <p:cNvPr id="14477" name="Rectangle 14476"/>
          <p:cNvSpPr/>
          <p:nvPr/>
        </p:nvSpPr>
        <p:spPr>
          <a:xfrm>
            <a:off x="17159764" y="37993320"/>
            <a:ext cx="1910508" cy="1709927"/>
          </a:xfrm>
          <a:prstGeom prst="rect">
            <a:avLst/>
          </a:prstGeom>
          <a:solidFill>
            <a:srgbClr val="E9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78" name="TextBox 14477"/>
          <p:cNvSpPr txBox="1"/>
          <p:nvPr/>
        </p:nvSpPr>
        <p:spPr>
          <a:xfrm>
            <a:off x="17159764" y="37993320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10%</a:t>
            </a:r>
          </a:p>
        </p:txBody>
      </p:sp>
      <p:sp>
        <p:nvSpPr>
          <p:cNvPr id="14479" name="Rectangle 14478"/>
          <p:cNvSpPr/>
          <p:nvPr/>
        </p:nvSpPr>
        <p:spPr>
          <a:xfrm>
            <a:off x="19143424" y="37993320"/>
            <a:ext cx="1910508" cy="1709927"/>
          </a:xfrm>
          <a:prstGeom prst="rect">
            <a:avLst/>
          </a:prstGeom>
          <a:solidFill>
            <a:srgbClr val="E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80" name="TextBox 14479"/>
          <p:cNvSpPr txBox="1"/>
          <p:nvPr/>
        </p:nvSpPr>
        <p:spPr>
          <a:xfrm>
            <a:off x="19143424" y="37993320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20%</a:t>
            </a:r>
          </a:p>
        </p:txBody>
      </p:sp>
      <p:sp>
        <p:nvSpPr>
          <p:cNvPr id="14481" name="TextBox 14480"/>
          <p:cNvSpPr txBox="1"/>
          <p:nvPr/>
        </p:nvSpPr>
        <p:spPr>
          <a:xfrm>
            <a:off x="11180762" y="39758112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RBC</a:t>
            </a:r>
          </a:p>
        </p:txBody>
      </p:sp>
      <p:sp>
        <p:nvSpPr>
          <p:cNvPr id="14482" name="Rectangle 14481"/>
          <p:cNvSpPr/>
          <p:nvPr/>
        </p:nvSpPr>
        <p:spPr>
          <a:xfrm>
            <a:off x="13192442" y="39794688"/>
            <a:ext cx="1910508" cy="1709927"/>
          </a:xfrm>
          <a:prstGeom prst="rect">
            <a:avLst/>
          </a:prstGeom>
          <a:solidFill>
            <a:srgbClr val="F5C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83" name="TextBox 14482"/>
          <p:cNvSpPr txBox="1"/>
          <p:nvPr/>
        </p:nvSpPr>
        <p:spPr>
          <a:xfrm>
            <a:off x="13192442" y="39794688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40%</a:t>
            </a:r>
          </a:p>
        </p:txBody>
      </p:sp>
      <p:sp>
        <p:nvSpPr>
          <p:cNvPr id="14484" name="Rectangle 14483"/>
          <p:cNvSpPr/>
          <p:nvPr/>
        </p:nvSpPr>
        <p:spPr>
          <a:xfrm>
            <a:off x="15176103" y="39794688"/>
            <a:ext cx="1910508" cy="1709927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85" name="TextBox 14484"/>
          <p:cNvSpPr txBox="1"/>
          <p:nvPr/>
        </p:nvSpPr>
        <p:spPr>
          <a:xfrm>
            <a:off x="15176103" y="39794688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12%</a:t>
            </a:r>
          </a:p>
        </p:txBody>
      </p:sp>
      <p:sp>
        <p:nvSpPr>
          <p:cNvPr id="14486" name="Rectangle 14485"/>
          <p:cNvSpPr/>
          <p:nvPr/>
        </p:nvSpPr>
        <p:spPr>
          <a:xfrm>
            <a:off x="17159764" y="39794688"/>
            <a:ext cx="1910508" cy="1709927"/>
          </a:xfrm>
          <a:prstGeom prst="rect">
            <a:avLst/>
          </a:prstGeom>
          <a:solidFill>
            <a:srgbClr val="56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87" name="TextBox 14486"/>
          <p:cNvSpPr txBox="1"/>
          <p:nvPr/>
        </p:nvSpPr>
        <p:spPr>
          <a:xfrm>
            <a:off x="17159764" y="39794688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14488" name="Rectangle 14487"/>
          <p:cNvSpPr/>
          <p:nvPr/>
        </p:nvSpPr>
        <p:spPr>
          <a:xfrm>
            <a:off x="19143424" y="39794688"/>
            <a:ext cx="1910508" cy="1709927"/>
          </a:xfrm>
          <a:prstGeom prst="rect">
            <a:avLst/>
          </a:prstGeom>
          <a:solidFill>
            <a:srgbClr val="BFC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89" name="TextBox 14488"/>
          <p:cNvSpPr txBox="1"/>
          <p:nvPr/>
        </p:nvSpPr>
        <p:spPr>
          <a:xfrm>
            <a:off x="19143424" y="39794688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4490" name="Rectangle 14489"/>
          <p:cNvSpPr/>
          <p:nvPr/>
        </p:nvSpPr>
        <p:spPr>
          <a:xfrm>
            <a:off x="11272202" y="41513760"/>
            <a:ext cx="9854882" cy="548640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91" name="TextBox 14490"/>
          <p:cNvSpPr txBox="1"/>
          <p:nvPr/>
        </p:nvSpPr>
        <p:spPr>
          <a:xfrm>
            <a:off x="11317922" y="41586912"/>
            <a:ext cx="97634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7A8A"/>
                </a:solidFill>
              </a:rPr>
              <a:t>RDW · PLT · MCHC — consensus features across all methods</a:t>
            </a:r>
          </a:p>
        </p:txBody>
      </p:sp>
      <p:sp>
        <p:nvSpPr>
          <p:cNvPr id="14492" name="Rectangle 14491"/>
          <p:cNvSpPr/>
          <p:nvPr/>
        </p:nvSpPr>
        <p:spPr>
          <a:xfrm>
            <a:off x="21675725" y="6720840"/>
            <a:ext cx="10220642" cy="14173200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93" name="Rectangle 14492"/>
          <p:cNvSpPr/>
          <p:nvPr/>
        </p:nvSpPr>
        <p:spPr>
          <a:xfrm>
            <a:off x="21675725" y="672084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תוצאות — Rheumatoid Arthritis</a:t>
            </a:r>
          </a:p>
        </p:txBody>
      </p:sp>
      <p:sp>
        <p:nvSpPr>
          <p:cNvPr id="14494" name="Rectangle 14493"/>
          <p:cNvSpPr/>
          <p:nvPr/>
        </p:nvSpPr>
        <p:spPr>
          <a:xfrm>
            <a:off x="21950045" y="7498079"/>
            <a:ext cx="9672002" cy="7132320"/>
          </a:xfrm>
          <a:prstGeom prst="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95" name="Rectangle 14494"/>
          <p:cNvSpPr/>
          <p:nvPr/>
        </p:nvSpPr>
        <p:spPr>
          <a:xfrm>
            <a:off x="22955885" y="13894307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96" name="TextBox 14495"/>
          <p:cNvSpPr txBox="1"/>
          <p:nvPr/>
        </p:nvSpPr>
        <p:spPr>
          <a:xfrm>
            <a:off x="21950045" y="137342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1.0×</a:t>
            </a:r>
          </a:p>
        </p:txBody>
      </p:sp>
      <p:sp>
        <p:nvSpPr>
          <p:cNvPr id="14497" name="Rectangle 14496"/>
          <p:cNvSpPr/>
          <p:nvPr/>
        </p:nvSpPr>
        <p:spPr>
          <a:xfrm>
            <a:off x="22955885" y="12873227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98" name="TextBox 14497"/>
          <p:cNvSpPr txBox="1"/>
          <p:nvPr/>
        </p:nvSpPr>
        <p:spPr>
          <a:xfrm>
            <a:off x="21950045" y="127132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1.1×</a:t>
            </a:r>
          </a:p>
        </p:txBody>
      </p:sp>
      <p:sp>
        <p:nvSpPr>
          <p:cNvPr id="14499" name="Rectangle 14498"/>
          <p:cNvSpPr/>
          <p:nvPr/>
        </p:nvSpPr>
        <p:spPr>
          <a:xfrm>
            <a:off x="22955885" y="11852148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00" name="TextBox 14499"/>
          <p:cNvSpPr txBox="1"/>
          <p:nvPr/>
        </p:nvSpPr>
        <p:spPr>
          <a:xfrm>
            <a:off x="21950045" y="116921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1.2×</a:t>
            </a:r>
          </a:p>
        </p:txBody>
      </p:sp>
      <p:sp>
        <p:nvSpPr>
          <p:cNvPr id="14501" name="Rectangle 14500"/>
          <p:cNvSpPr/>
          <p:nvPr/>
        </p:nvSpPr>
        <p:spPr>
          <a:xfrm>
            <a:off x="22955885" y="10831067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02" name="TextBox 14501"/>
          <p:cNvSpPr txBox="1"/>
          <p:nvPr/>
        </p:nvSpPr>
        <p:spPr>
          <a:xfrm>
            <a:off x="21950045" y="1067104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1.3×</a:t>
            </a:r>
          </a:p>
        </p:txBody>
      </p:sp>
      <p:sp>
        <p:nvSpPr>
          <p:cNvPr id="14503" name="Rectangle 14502"/>
          <p:cNvSpPr/>
          <p:nvPr/>
        </p:nvSpPr>
        <p:spPr>
          <a:xfrm>
            <a:off x="22955885" y="9809988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04" name="TextBox 14503"/>
          <p:cNvSpPr txBox="1"/>
          <p:nvPr/>
        </p:nvSpPr>
        <p:spPr>
          <a:xfrm>
            <a:off x="21950045" y="964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1.4×</a:t>
            </a:r>
          </a:p>
        </p:txBody>
      </p:sp>
      <p:sp>
        <p:nvSpPr>
          <p:cNvPr id="14505" name="Rectangle 14504"/>
          <p:cNvSpPr/>
          <p:nvPr/>
        </p:nvSpPr>
        <p:spPr>
          <a:xfrm>
            <a:off x="22955885" y="8788908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06" name="TextBox 14505"/>
          <p:cNvSpPr txBox="1"/>
          <p:nvPr/>
        </p:nvSpPr>
        <p:spPr>
          <a:xfrm>
            <a:off x="21950045" y="8628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1.5×</a:t>
            </a:r>
          </a:p>
        </p:txBody>
      </p:sp>
      <p:sp>
        <p:nvSpPr>
          <p:cNvPr id="14507" name="Rectangle 14506"/>
          <p:cNvSpPr/>
          <p:nvPr/>
        </p:nvSpPr>
        <p:spPr>
          <a:xfrm>
            <a:off x="22955885" y="7767827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08" name="TextBox 14507"/>
          <p:cNvSpPr txBox="1"/>
          <p:nvPr/>
        </p:nvSpPr>
        <p:spPr>
          <a:xfrm>
            <a:off x="21950045" y="760780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1.6×</a:t>
            </a:r>
          </a:p>
        </p:txBody>
      </p:sp>
      <p:sp>
        <p:nvSpPr>
          <p:cNvPr id="14509" name="Rectangle 14508"/>
          <p:cNvSpPr/>
          <p:nvPr/>
        </p:nvSpPr>
        <p:spPr>
          <a:xfrm>
            <a:off x="22955885" y="8895588"/>
            <a:ext cx="848328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10" name="TextBox 14509"/>
          <p:cNvSpPr txBox="1"/>
          <p:nvPr/>
        </p:nvSpPr>
        <p:spPr>
          <a:xfrm>
            <a:off x="29153168" y="85481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1">
                <a:solidFill>
                  <a:srgbClr val="7F8C8D"/>
                </a:solidFill>
              </a:rPr>
              <a:t>LR Baseline 1.49×</a:t>
            </a:r>
          </a:p>
        </p:txBody>
      </p:sp>
      <p:sp>
        <p:nvSpPr>
          <p:cNvPr id="14511" name="Rectangle 14510"/>
          <p:cNvSpPr/>
          <p:nvPr/>
        </p:nvSpPr>
        <p:spPr>
          <a:xfrm>
            <a:off x="23210383" y="7874507"/>
            <a:ext cx="1187659" cy="6024372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12" name="TextBox 14511"/>
          <p:cNvSpPr txBox="1"/>
          <p:nvPr/>
        </p:nvSpPr>
        <p:spPr>
          <a:xfrm>
            <a:off x="23118943" y="7463027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773D"/>
                </a:solidFill>
              </a:rPr>
              <a:t>1.59×</a:t>
            </a:r>
          </a:p>
        </p:txBody>
      </p:sp>
      <p:sp>
        <p:nvSpPr>
          <p:cNvPr id="14513" name="TextBox 14512"/>
          <p:cNvSpPr txBox="1"/>
          <p:nvPr/>
        </p:nvSpPr>
        <p:spPr>
          <a:xfrm>
            <a:off x="23164663" y="7097267"/>
            <a:ext cx="12790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🏆</a:t>
            </a:r>
          </a:p>
        </p:txBody>
      </p:sp>
      <p:sp>
        <p:nvSpPr>
          <p:cNvPr id="14514" name="TextBox 14513"/>
          <p:cNvSpPr txBox="1"/>
          <p:nvPr/>
        </p:nvSpPr>
        <p:spPr>
          <a:xfrm>
            <a:off x="23073223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GP</a:t>
            </a:r>
          </a:p>
        </p:txBody>
      </p:sp>
      <p:sp>
        <p:nvSpPr>
          <p:cNvPr id="14515" name="TextBox 14514"/>
          <p:cNvSpPr txBox="1"/>
          <p:nvPr/>
        </p:nvSpPr>
        <p:spPr>
          <a:xfrm>
            <a:off x="23073223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4 feat.</a:t>
            </a:r>
          </a:p>
        </p:txBody>
      </p:sp>
      <p:sp>
        <p:nvSpPr>
          <p:cNvPr id="14516" name="Rectangle 14515"/>
          <p:cNvSpPr/>
          <p:nvPr/>
        </p:nvSpPr>
        <p:spPr>
          <a:xfrm>
            <a:off x="24907040" y="8895588"/>
            <a:ext cx="1187659" cy="5003291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17" name="TextBox 14516"/>
          <p:cNvSpPr txBox="1"/>
          <p:nvPr/>
        </p:nvSpPr>
        <p:spPr>
          <a:xfrm>
            <a:off x="24815600" y="8484108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F8C8D"/>
                </a:solidFill>
              </a:rPr>
              <a:t>1.49×</a:t>
            </a:r>
          </a:p>
        </p:txBody>
      </p:sp>
      <p:sp>
        <p:nvSpPr>
          <p:cNvPr id="14518" name="TextBox 14517"/>
          <p:cNvSpPr txBox="1"/>
          <p:nvPr/>
        </p:nvSpPr>
        <p:spPr>
          <a:xfrm>
            <a:off x="24769880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LR Base</a:t>
            </a:r>
          </a:p>
        </p:txBody>
      </p:sp>
      <p:sp>
        <p:nvSpPr>
          <p:cNvPr id="14519" name="TextBox 14518"/>
          <p:cNvSpPr txBox="1"/>
          <p:nvPr/>
        </p:nvSpPr>
        <p:spPr>
          <a:xfrm>
            <a:off x="24769880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14 feat.</a:t>
            </a:r>
          </a:p>
        </p:txBody>
      </p:sp>
      <p:sp>
        <p:nvSpPr>
          <p:cNvPr id="14520" name="Rectangle 14519"/>
          <p:cNvSpPr/>
          <p:nvPr/>
        </p:nvSpPr>
        <p:spPr>
          <a:xfrm>
            <a:off x="26603696" y="9304020"/>
            <a:ext cx="1187659" cy="4594859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21" name="TextBox 14520"/>
          <p:cNvSpPr txBox="1"/>
          <p:nvPr/>
        </p:nvSpPr>
        <p:spPr>
          <a:xfrm>
            <a:off x="26512256" y="8892540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7A8A"/>
                </a:solidFill>
              </a:rPr>
              <a:t>1.45×</a:t>
            </a:r>
          </a:p>
        </p:txBody>
      </p:sp>
      <p:sp>
        <p:nvSpPr>
          <p:cNvPr id="14522" name="TextBox 14521"/>
          <p:cNvSpPr txBox="1"/>
          <p:nvPr/>
        </p:nvSpPr>
        <p:spPr>
          <a:xfrm>
            <a:off x="26466536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LLM</a:t>
            </a:r>
          </a:p>
        </p:txBody>
      </p:sp>
      <p:sp>
        <p:nvSpPr>
          <p:cNvPr id="14523" name="TextBox 14522"/>
          <p:cNvSpPr txBox="1"/>
          <p:nvPr/>
        </p:nvSpPr>
        <p:spPr>
          <a:xfrm>
            <a:off x="26466536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3 feat.</a:t>
            </a:r>
          </a:p>
        </p:txBody>
      </p:sp>
      <p:sp>
        <p:nvSpPr>
          <p:cNvPr id="14524" name="Rectangle 14523"/>
          <p:cNvSpPr/>
          <p:nvPr/>
        </p:nvSpPr>
        <p:spPr>
          <a:xfrm>
            <a:off x="28300353" y="10018776"/>
            <a:ext cx="1187659" cy="3880103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25" name="TextBox 14524"/>
          <p:cNvSpPr txBox="1"/>
          <p:nvPr/>
        </p:nvSpPr>
        <p:spPr>
          <a:xfrm>
            <a:off x="28208913" y="9607296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C3E50"/>
                </a:solidFill>
              </a:rPr>
              <a:t>1.38×</a:t>
            </a:r>
          </a:p>
        </p:txBody>
      </p:sp>
      <p:sp>
        <p:nvSpPr>
          <p:cNvPr id="14526" name="TextBox 14525"/>
          <p:cNvSpPr txBox="1"/>
          <p:nvPr/>
        </p:nvSpPr>
        <p:spPr>
          <a:xfrm>
            <a:off x="28163193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Threshold</a:t>
            </a:r>
          </a:p>
        </p:txBody>
      </p:sp>
      <p:sp>
        <p:nvSpPr>
          <p:cNvPr id="14527" name="TextBox 14526"/>
          <p:cNvSpPr txBox="1"/>
          <p:nvPr/>
        </p:nvSpPr>
        <p:spPr>
          <a:xfrm>
            <a:off x="28163193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1 feat.</a:t>
            </a:r>
          </a:p>
        </p:txBody>
      </p:sp>
      <p:sp>
        <p:nvSpPr>
          <p:cNvPr id="14528" name="Rectangle 14527"/>
          <p:cNvSpPr/>
          <p:nvPr/>
        </p:nvSpPr>
        <p:spPr>
          <a:xfrm>
            <a:off x="29997009" y="10631423"/>
            <a:ext cx="1187659" cy="3267456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29" name="TextBox 14528"/>
          <p:cNvSpPr txBox="1"/>
          <p:nvPr/>
        </p:nvSpPr>
        <p:spPr>
          <a:xfrm>
            <a:off x="29905569" y="10219944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DC3C7"/>
                </a:solidFill>
              </a:rPr>
              <a:t>1.32×</a:t>
            </a:r>
          </a:p>
        </p:txBody>
      </p:sp>
      <p:sp>
        <p:nvSpPr>
          <p:cNvPr id="14530" name="TextBox 14529"/>
          <p:cNvSpPr txBox="1"/>
          <p:nvPr/>
        </p:nvSpPr>
        <p:spPr>
          <a:xfrm>
            <a:off x="29859849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Random</a:t>
            </a:r>
          </a:p>
        </p:txBody>
      </p:sp>
      <p:sp>
        <p:nvSpPr>
          <p:cNvPr id="14531" name="TextBox 14530"/>
          <p:cNvSpPr txBox="1"/>
          <p:nvPr/>
        </p:nvSpPr>
        <p:spPr>
          <a:xfrm>
            <a:off x="29859849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7 feat.</a:t>
            </a:r>
          </a:p>
        </p:txBody>
      </p:sp>
      <p:sp>
        <p:nvSpPr>
          <p:cNvPr id="14532" name="TextBox 14531"/>
          <p:cNvSpPr txBox="1"/>
          <p:nvPr/>
        </p:nvSpPr>
        <p:spPr>
          <a:xfrm>
            <a:off x="21950045" y="10351008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F8C8D"/>
                </a:solidFill>
              </a:rPr>
              <a:t>AUC-PR Lift</a:t>
            </a:r>
          </a:p>
        </p:txBody>
      </p:sp>
      <p:sp>
        <p:nvSpPr>
          <p:cNvPr id="14533" name="TextBox 14532"/>
          <p:cNvSpPr txBox="1"/>
          <p:nvPr/>
        </p:nvSpPr>
        <p:spPr>
          <a:xfrm>
            <a:off x="21812885" y="14859000"/>
            <a:ext cx="99463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E8773D"/>
                </a:solidFill>
              </a:rPr>
              <a:t>ממצאים עיקריים</a:t>
            </a:r>
          </a:p>
        </p:txBody>
      </p:sp>
      <p:sp>
        <p:nvSpPr>
          <p:cNvPr id="14534" name="Rectangle 14533"/>
          <p:cNvSpPr/>
          <p:nvPr/>
        </p:nvSpPr>
        <p:spPr>
          <a:xfrm>
            <a:off x="21812885" y="15361920"/>
            <a:ext cx="73152" cy="109728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35" name="TextBox 14534"/>
          <p:cNvSpPr txBox="1"/>
          <p:nvPr/>
        </p:nvSpPr>
        <p:spPr>
          <a:xfrm>
            <a:off x="21995765" y="15407640"/>
            <a:ext cx="971772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GP מנצח: 1.59× lift עם 4 features — עולה על LR (1.49×) עם 14</a:t>
            </a:r>
          </a:p>
        </p:txBody>
      </p:sp>
      <p:sp>
        <p:nvSpPr>
          <p:cNvPr id="14536" name="Rectangle 14535"/>
          <p:cNvSpPr/>
          <p:nvPr/>
        </p:nvSpPr>
        <p:spPr>
          <a:xfrm>
            <a:off x="21812885" y="16779240"/>
            <a:ext cx="73152" cy="109728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37" name="TextBox 14536"/>
          <p:cNvSpPr txBox="1"/>
          <p:nvPr/>
        </p:nvSpPr>
        <p:spPr>
          <a:xfrm>
            <a:off x="21995765" y="16824960"/>
            <a:ext cx="971772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LLM — הכי יעיל: 3 features, 2 ops, lift 1.45× ≈ LR</a:t>
            </a:r>
          </a:p>
        </p:txBody>
      </p:sp>
      <p:sp>
        <p:nvSpPr>
          <p:cNvPr id="14538" name="Rectangle 14537"/>
          <p:cNvSpPr/>
          <p:nvPr/>
        </p:nvSpPr>
        <p:spPr>
          <a:xfrm>
            <a:off x="21812885" y="18196560"/>
            <a:ext cx="73152" cy="10972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39" name="TextBox 14538"/>
          <p:cNvSpPr txBox="1"/>
          <p:nvPr/>
        </p:nvSpPr>
        <p:spPr>
          <a:xfrm>
            <a:off x="21995765" y="18242280"/>
            <a:ext cx="971772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Random לא מספיק: 7 features, 18 ops → 1.32× (מתחת baseline)</a:t>
            </a:r>
          </a:p>
        </p:txBody>
      </p:sp>
      <p:sp>
        <p:nvSpPr>
          <p:cNvPr id="14540" name="Rectangle 14539"/>
          <p:cNvSpPr/>
          <p:nvPr/>
        </p:nvSpPr>
        <p:spPr>
          <a:xfrm>
            <a:off x="21812885" y="19613880"/>
            <a:ext cx="73152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41" name="TextBox 14540"/>
          <p:cNvSpPr txBox="1"/>
          <p:nvPr/>
        </p:nvSpPr>
        <p:spPr>
          <a:xfrm>
            <a:off x="21995765" y="19659600"/>
            <a:ext cx="971772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Threshold — נקודת ייחוס: feature יחיד rbc&lt;3.99 → 1.38×</a:t>
            </a:r>
          </a:p>
        </p:txBody>
      </p:sp>
      <p:sp>
        <p:nvSpPr>
          <p:cNvPr id="14542" name="Rectangle 14541"/>
          <p:cNvSpPr/>
          <p:nvPr/>
        </p:nvSpPr>
        <p:spPr>
          <a:xfrm>
            <a:off x="21675725" y="21259800"/>
            <a:ext cx="10220642" cy="10972800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43" name="Rectangle 14542"/>
          <p:cNvSpPr/>
          <p:nvPr/>
        </p:nvSpPr>
        <p:spPr>
          <a:xfrm>
            <a:off x="21675725" y="21259800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מסקנות</a:t>
            </a:r>
          </a:p>
        </p:txBody>
      </p:sp>
      <p:sp>
        <p:nvSpPr>
          <p:cNvPr id="14544" name="Rectangle 14543"/>
          <p:cNvSpPr/>
          <p:nvPr/>
        </p:nvSpPr>
        <p:spPr>
          <a:xfrm>
            <a:off x="21858605" y="21945600"/>
            <a:ext cx="9854882" cy="2354579"/>
          </a:xfrm>
          <a:prstGeom prst="rect">
            <a:avLst/>
          </a:prstGeom>
          <a:solidFill>
            <a:srgbClr val="FDEBD7"/>
          </a:solidFill>
          <a:ln w="1270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45" name="TextBox 14544"/>
          <p:cNvSpPr txBox="1"/>
          <p:nvPr/>
        </p:nvSpPr>
        <p:spPr>
          <a:xfrm>
            <a:off x="31073408" y="220370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🏆</a:t>
            </a:r>
          </a:p>
        </p:txBody>
      </p:sp>
      <p:sp>
        <p:nvSpPr>
          <p:cNvPr id="14546" name="TextBox 14545"/>
          <p:cNvSpPr txBox="1"/>
          <p:nvPr/>
        </p:nvSpPr>
        <p:spPr>
          <a:xfrm>
            <a:off x="21995765" y="2205532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E8773D"/>
                </a:solidFill>
              </a:rPr>
              <a:t>Genetic Programming</a:t>
            </a:r>
          </a:p>
        </p:txBody>
      </p:sp>
      <p:sp>
        <p:nvSpPr>
          <p:cNvPr id="14547" name="TextBox 14546"/>
          <p:cNvSpPr txBox="1"/>
          <p:nvPr/>
        </p:nvSpPr>
        <p:spPr>
          <a:xfrm>
            <a:off x="21995765" y="22603968"/>
            <a:ext cx="9580562" cy="157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השיטה הטובה ביותר — 1.59× lift ב-RA עם 4 features ו-34 ops. מגלה אינטראקציות (mono_pct/neut_pct) שה-LLM לא מצא.</a:t>
            </a:r>
          </a:p>
        </p:txBody>
      </p:sp>
      <p:sp>
        <p:nvSpPr>
          <p:cNvPr id="14548" name="Rectangle 14547"/>
          <p:cNvSpPr/>
          <p:nvPr/>
        </p:nvSpPr>
        <p:spPr>
          <a:xfrm>
            <a:off x="21858605" y="24483060"/>
            <a:ext cx="9854882" cy="2354579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49" name="TextBox 14548"/>
          <p:cNvSpPr txBox="1"/>
          <p:nvPr/>
        </p:nvSpPr>
        <p:spPr>
          <a:xfrm>
            <a:off x="31073408" y="245745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⚡</a:t>
            </a:r>
          </a:p>
        </p:txBody>
      </p:sp>
      <p:sp>
        <p:nvSpPr>
          <p:cNvPr id="14550" name="TextBox 14549"/>
          <p:cNvSpPr txBox="1"/>
          <p:nvPr/>
        </p:nvSpPr>
        <p:spPr>
          <a:xfrm>
            <a:off x="21995765" y="2459278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1A7A8A"/>
                </a:solidFill>
              </a:rPr>
              <a:t>LLM (Med-Gemma 4B)</a:t>
            </a:r>
          </a:p>
        </p:txBody>
      </p:sp>
      <p:sp>
        <p:nvSpPr>
          <p:cNvPr id="14551" name="TextBox 14550"/>
          <p:cNvSpPr txBox="1"/>
          <p:nvPr/>
        </p:nvSpPr>
        <p:spPr>
          <a:xfrm>
            <a:off x="21995765" y="25141427"/>
            <a:ext cx="9580562" cy="157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(hct−hgb)/(plt+0.01) — 3 features, 2 ops, lift 1.45×. ידע רפואי מייצר נוסחאות פשוטות ויעילות.</a:t>
            </a:r>
          </a:p>
        </p:txBody>
      </p:sp>
      <p:sp>
        <p:nvSpPr>
          <p:cNvPr id="14552" name="Rectangle 14551"/>
          <p:cNvSpPr/>
          <p:nvPr/>
        </p:nvSpPr>
        <p:spPr>
          <a:xfrm>
            <a:off x="21858605" y="27020520"/>
            <a:ext cx="9854882" cy="2354579"/>
          </a:xfrm>
          <a:prstGeom prst="rect">
            <a:avLst/>
          </a:prstGeom>
          <a:solidFill>
            <a:srgbClr val="F0F3F4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53" name="TextBox 14552"/>
          <p:cNvSpPr txBox="1"/>
          <p:nvPr/>
        </p:nvSpPr>
        <p:spPr>
          <a:xfrm>
            <a:off x="31073408" y="27111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14554" name="TextBox 14553"/>
          <p:cNvSpPr txBox="1"/>
          <p:nvPr/>
        </p:nvSpPr>
        <p:spPr>
          <a:xfrm>
            <a:off x="21995765" y="2713024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2C3E50"/>
                </a:solidFill>
              </a:rPr>
              <a:t>הפריימוורק עובד</a:t>
            </a:r>
          </a:p>
        </p:txBody>
      </p:sp>
      <p:sp>
        <p:nvSpPr>
          <p:cNvPr id="14555" name="TextBox 14554"/>
          <p:cNvSpPr txBox="1"/>
          <p:nvPr/>
        </p:nvSpPr>
        <p:spPr>
          <a:xfrm>
            <a:off x="21995765" y="27678888"/>
            <a:ext cx="9580562" cy="157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השוואה הוגנת: אותם נתונים, split ומטריקות לכל 4 שיטות. כל שיטה חושפת היבט שונה של המרחב.</a:t>
            </a:r>
          </a:p>
        </p:txBody>
      </p:sp>
      <p:sp>
        <p:nvSpPr>
          <p:cNvPr id="14556" name="Rectangle 14555"/>
          <p:cNvSpPr/>
          <p:nvPr/>
        </p:nvSpPr>
        <p:spPr>
          <a:xfrm>
            <a:off x="21858605" y="29557980"/>
            <a:ext cx="9854882" cy="2354579"/>
          </a:xfrm>
          <a:prstGeom prst="rect">
            <a:avLst/>
          </a:prstGeom>
          <a:solidFill>
            <a:srgbClr val="F0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57" name="TextBox 14556"/>
          <p:cNvSpPr txBox="1"/>
          <p:nvPr/>
        </p:nvSpPr>
        <p:spPr>
          <a:xfrm>
            <a:off x="31073408" y="296494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⚠</a:t>
            </a:r>
          </a:p>
        </p:txBody>
      </p:sp>
      <p:sp>
        <p:nvSpPr>
          <p:cNvPr id="14558" name="TextBox 14557"/>
          <p:cNvSpPr txBox="1"/>
          <p:nvPr/>
        </p:nvSpPr>
        <p:spPr>
          <a:xfrm>
            <a:off x="21995765" y="2966770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7F8C8D"/>
                </a:solidFill>
              </a:rPr>
              <a:t>מגבלות</a:t>
            </a:r>
          </a:p>
        </p:txBody>
      </p:sp>
      <p:sp>
        <p:nvSpPr>
          <p:cNvPr id="14559" name="TextBox 14558"/>
          <p:cNvSpPr txBox="1"/>
          <p:nvPr/>
        </p:nvSpPr>
        <p:spPr>
          <a:xfrm>
            <a:off x="21995765" y="30216348"/>
            <a:ext cx="9580562" cy="157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CI רחב בשל test set קטן (~300 cases). הפרשים בין שיטות אינם מובהקים סטטיסטית.</a:t>
            </a:r>
          </a:p>
        </p:txBody>
      </p:sp>
      <p:sp>
        <p:nvSpPr>
          <p:cNvPr id="14560" name="Rectangle 14559"/>
          <p:cNvSpPr/>
          <p:nvPr/>
        </p:nvSpPr>
        <p:spPr>
          <a:xfrm>
            <a:off x="21675725" y="32598360"/>
            <a:ext cx="10220642" cy="9601200"/>
          </a:xfrm>
          <a:prstGeom prst="rect">
            <a:avLst/>
          </a:prstGeom>
          <a:solidFill>
            <a:srgbClr val="F0F3F4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61" name="Rectangle 14560"/>
          <p:cNvSpPr/>
          <p:nvPr/>
        </p:nvSpPr>
        <p:spPr>
          <a:xfrm>
            <a:off x="21675725" y="32598360"/>
            <a:ext cx="10220642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ולידציה חיצונית והמשך מחקר</a:t>
            </a:r>
          </a:p>
        </p:txBody>
      </p:sp>
      <p:sp>
        <p:nvSpPr>
          <p:cNvPr id="14562" name="Rectangle 14561"/>
          <p:cNvSpPr/>
          <p:nvPr/>
        </p:nvSpPr>
        <p:spPr>
          <a:xfrm>
            <a:off x="21858605" y="33284160"/>
            <a:ext cx="985488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63" name="TextBox 14562"/>
          <p:cNvSpPr txBox="1"/>
          <p:nvPr/>
        </p:nvSpPr>
        <p:spPr>
          <a:xfrm>
            <a:off x="21904325" y="33357311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ולידציה חיצונית: EHRSHOT (Stanford) + NHANES</a:t>
            </a:r>
          </a:p>
        </p:txBody>
      </p:sp>
      <p:sp>
        <p:nvSpPr>
          <p:cNvPr id="14564" name="Rectangle 14563"/>
          <p:cNvSpPr/>
          <p:nvPr/>
        </p:nvSpPr>
        <p:spPr>
          <a:xfrm>
            <a:off x="21858605" y="34033968"/>
            <a:ext cx="109728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65" name="TextBox 14564"/>
          <p:cNvSpPr txBox="1"/>
          <p:nvPr/>
        </p:nvSpPr>
        <p:spPr>
          <a:xfrm>
            <a:off x="22059773" y="33924240"/>
            <a:ext cx="965371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GP מחזיק ביצועים ב-EHRSHOT: RA 1.59× → 2.46× (שיפור!)</a:t>
            </a:r>
          </a:p>
        </p:txBody>
      </p:sp>
      <p:sp>
        <p:nvSpPr>
          <p:cNvPr id="14566" name="Rectangle 14565"/>
          <p:cNvSpPr/>
          <p:nvPr/>
        </p:nvSpPr>
        <p:spPr>
          <a:xfrm>
            <a:off x="21858605" y="34948368"/>
            <a:ext cx="109728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67" name="TextBox 14566"/>
          <p:cNvSpPr txBox="1"/>
          <p:nvPr/>
        </p:nvSpPr>
        <p:spPr>
          <a:xfrm>
            <a:off x="22059773" y="34838640"/>
            <a:ext cx="965371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LLM overfits: Lupus 3.70× (MIMIC) → 1.76× (EHRSHOT)</a:t>
            </a:r>
          </a:p>
        </p:txBody>
      </p:sp>
      <p:sp>
        <p:nvSpPr>
          <p:cNvPr id="14568" name="Rectangle 14567"/>
          <p:cNvSpPr/>
          <p:nvPr/>
        </p:nvSpPr>
        <p:spPr>
          <a:xfrm>
            <a:off x="21858605" y="35862768"/>
            <a:ext cx="109728" cy="5029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69" name="TextBox 14568"/>
          <p:cNvSpPr txBox="1"/>
          <p:nvPr/>
        </p:nvSpPr>
        <p:spPr>
          <a:xfrm>
            <a:off x="22059773" y="35753040"/>
            <a:ext cx="965371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NHANES: AUC-PR גולמי ל-RA + Psoriasis (Lift חסר)</a:t>
            </a:r>
          </a:p>
        </p:txBody>
      </p:sp>
      <p:sp>
        <p:nvSpPr>
          <p:cNvPr id="14570" name="Rectangle 14569"/>
          <p:cNvSpPr/>
          <p:nvPr/>
        </p:nvSpPr>
        <p:spPr>
          <a:xfrm>
            <a:off x="21858605" y="36804600"/>
            <a:ext cx="985488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71" name="TextBox 14570"/>
          <p:cNvSpPr txBox="1"/>
          <p:nvPr/>
        </p:nvSpPr>
        <p:spPr>
          <a:xfrm>
            <a:off x="21904325" y="36859464"/>
            <a:ext cx="97634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FFFFFF"/>
                </a:solidFill>
              </a:rPr>
              <a:t>🔭  המשך מחקר</a:t>
            </a:r>
          </a:p>
        </p:txBody>
      </p:sp>
      <p:sp>
        <p:nvSpPr>
          <p:cNvPr id="14572" name="Rectangle 14571"/>
          <p:cNvSpPr/>
          <p:nvPr/>
        </p:nvSpPr>
        <p:spPr>
          <a:xfrm>
            <a:off x="21858605" y="37353240"/>
            <a:ext cx="9854882" cy="1017269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73" name="TextBox 14572"/>
          <p:cNvSpPr txBox="1"/>
          <p:nvPr/>
        </p:nvSpPr>
        <p:spPr>
          <a:xfrm>
            <a:off x="21950045" y="37398960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Nested Cross-Validation</a:t>
            </a:r>
          </a:p>
        </p:txBody>
      </p:sp>
      <p:sp>
        <p:nvSpPr>
          <p:cNvPr id="14574" name="TextBox 14573"/>
          <p:cNvSpPr txBox="1"/>
          <p:nvPr/>
        </p:nvSpPr>
        <p:spPr>
          <a:xfrm>
            <a:off x="21950045" y="37764720"/>
            <a:ext cx="9672002" cy="56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החלפת train/test קבוע ב-5-fold stratified CV</a:t>
            </a:r>
          </a:p>
        </p:txBody>
      </p:sp>
      <p:sp>
        <p:nvSpPr>
          <p:cNvPr id="14575" name="Rectangle 14574"/>
          <p:cNvSpPr/>
          <p:nvPr/>
        </p:nvSpPr>
        <p:spPr>
          <a:xfrm>
            <a:off x="21858605" y="38535102"/>
            <a:ext cx="9854882" cy="1017269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76" name="TextBox 14575"/>
          <p:cNvSpPr txBox="1"/>
          <p:nvPr/>
        </p:nvSpPr>
        <p:spPr>
          <a:xfrm>
            <a:off x="21950045" y="38580821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Seeded GP מכל המחלות</a:t>
            </a:r>
          </a:p>
        </p:txBody>
      </p:sp>
      <p:sp>
        <p:nvSpPr>
          <p:cNvPr id="14577" name="TextBox 14576"/>
          <p:cNvSpPr txBox="1"/>
          <p:nvPr/>
        </p:nvSpPr>
        <p:spPr>
          <a:xfrm>
            <a:off x="21950045" y="38946582"/>
            <a:ext cx="9672002" cy="56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שימוש בנוסחאות LLM כאתחול לאוכלוסיית GP</a:t>
            </a:r>
          </a:p>
        </p:txBody>
      </p:sp>
      <p:sp>
        <p:nvSpPr>
          <p:cNvPr id="14578" name="Rectangle 14577"/>
          <p:cNvSpPr/>
          <p:nvPr/>
        </p:nvSpPr>
        <p:spPr>
          <a:xfrm>
            <a:off x="21858605" y="39716964"/>
            <a:ext cx="9854882" cy="1017269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79" name="TextBox 14578"/>
          <p:cNvSpPr txBox="1"/>
          <p:nvPr/>
        </p:nvSpPr>
        <p:spPr>
          <a:xfrm>
            <a:off x="21950045" y="39762684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Cross-method equivalence</a:t>
            </a:r>
          </a:p>
        </p:txBody>
      </p:sp>
      <p:sp>
        <p:nvSpPr>
          <p:cNvPr id="14580" name="TextBox 14579"/>
          <p:cNvSpPr txBox="1"/>
          <p:nvPr/>
        </p:nvSpPr>
        <p:spPr>
          <a:xfrm>
            <a:off x="21950045" y="40128444"/>
            <a:ext cx="9672002" cy="56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Pearson correlation בין score vectors של שיטות שונות</a:t>
            </a:r>
          </a:p>
        </p:txBody>
      </p:sp>
      <p:sp>
        <p:nvSpPr>
          <p:cNvPr id="14581" name="Rectangle 14580"/>
          <p:cNvSpPr/>
          <p:nvPr/>
        </p:nvSpPr>
        <p:spPr>
          <a:xfrm>
            <a:off x="21858605" y="40898826"/>
            <a:ext cx="9854882" cy="1017269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82" name="TextBox 14581"/>
          <p:cNvSpPr txBox="1"/>
          <p:nvPr/>
        </p:nvSpPr>
        <p:spPr>
          <a:xfrm>
            <a:off x="21950045" y="40944546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הרחבה למחלות נוספות</a:t>
            </a:r>
          </a:p>
        </p:txBody>
      </p:sp>
      <p:sp>
        <p:nvSpPr>
          <p:cNvPr id="14583" name="TextBox 14582"/>
          <p:cNvSpPr txBox="1"/>
          <p:nvPr/>
        </p:nvSpPr>
        <p:spPr>
          <a:xfrm>
            <a:off x="21950045" y="41310306"/>
            <a:ext cx="9672002" cy="56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הפריימוורק agnostic — ICD code + CBC data מספיקים</a:t>
            </a:r>
          </a:p>
        </p:txBody>
      </p:sp>
      <p:sp>
        <p:nvSpPr>
          <p:cNvPr id="14584" name="Rectangle 14583"/>
          <p:cNvSpPr/>
          <p:nvPr/>
        </p:nvSpPr>
        <p:spPr>
          <a:xfrm>
            <a:off x="0" y="42199560"/>
            <a:ext cx="32399288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86" name="Rectangle 14585"/>
          <p:cNvSpPr/>
          <p:nvPr/>
        </p:nvSpPr>
        <p:spPr>
          <a:xfrm>
            <a:off x="502920" y="6720840"/>
            <a:ext cx="10220642" cy="11704320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87" name="Rectangle 14586"/>
          <p:cNvSpPr/>
          <p:nvPr/>
        </p:nvSpPr>
        <p:spPr>
          <a:xfrm>
            <a:off x="502920" y="672084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מוטיבציה ורקע</a:t>
            </a:r>
          </a:p>
        </p:txBody>
      </p:sp>
      <p:sp>
        <p:nvSpPr>
          <p:cNvPr id="14588" name="Rectangle 14587"/>
          <p:cNvSpPr/>
          <p:nvPr/>
        </p:nvSpPr>
        <p:spPr>
          <a:xfrm>
            <a:off x="685800" y="7452359"/>
            <a:ext cx="9854882" cy="3291840"/>
          </a:xfrm>
          <a:prstGeom prst="rect">
            <a:avLst/>
          </a:prstGeom>
          <a:solidFill>
            <a:srgbClr val="FDEBD7"/>
          </a:solidFill>
          <a:ln w="1270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89" name="TextBox 14588"/>
          <p:cNvSpPr txBox="1"/>
          <p:nvPr/>
        </p:nvSpPr>
        <p:spPr>
          <a:xfrm>
            <a:off x="9900602" y="754379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⚠</a:t>
            </a:r>
          </a:p>
        </p:txBody>
      </p:sp>
      <p:sp>
        <p:nvSpPr>
          <p:cNvPr id="14590" name="TextBox 14589"/>
          <p:cNvSpPr txBox="1"/>
          <p:nvPr/>
        </p:nvSpPr>
        <p:spPr>
          <a:xfrm>
            <a:off x="822960" y="7562087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E8773D"/>
                </a:solidFill>
              </a:rPr>
              <a:t>האתגר</a:t>
            </a:r>
          </a:p>
        </p:txBody>
      </p:sp>
      <p:sp>
        <p:nvSpPr>
          <p:cNvPr id="14591" name="TextBox 14590"/>
          <p:cNvSpPr txBox="1"/>
          <p:nvPr/>
        </p:nvSpPr>
        <p:spPr>
          <a:xfrm>
            <a:off x="822960" y="8110727"/>
            <a:ext cx="958056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אבחון מחלות אוטואימוניות (זאבת, קרוהן, RA, סוכרת, פסוריאזיס) מסתמך על בדיקות יקרות, מורכבות ומאוחרות.</a:t>
            </a:r>
          </a:p>
        </p:txBody>
      </p:sp>
      <p:sp>
        <p:nvSpPr>
          <p:cNvPr id="14592" name="Rectangle 14591"/>
          <p:cNvSpPr/>
          <p:nvPr/>
        </p:nvSpPr>
        <p:spPr>
          <a:xfrm>
            <a:off x="685800" y="11018520"/>
            <a:ext cx="9854882" cy="3291840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93" name="TextBox 14592"/>
          <p:cNvSpPr txBox="1"/>
          <p:nvPr/>
        </p:nvSpPr>
        <p:spPr>
          <a:xfrm>
            <a:off x="9900602" y="11109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💡</a:t>
            </a:r>
          </a:p>
        </p:txBody>
      </p:sp>
      <p:sp>
        <p:nvSpPr>
          <p:cNvPr id="14594" name="TextBox 14593"/>
          <p:cNvSpPr txBox="1"/>
          <p:nvPr/>
        </p:nvSpPr>
        <p:spPr>
          <a:xfrm>
            <a:off x="822960" y="1112824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1A7A8A"/>
                </a:solidFill>
              </a:rPr>
              <a:t>ההזדמנות</a:t>
            </a:r>
          </a:p>
        </p:txBody>
      </p:sp>
      <p:sp>
        <p:nvSpPr>
          <p:cNvPr id="14595" name="TextBox 14594"/>
          <p:cNvSpPr txBox="1"/>
          <p:nvPr/>
        </p:nvSpPr>
        <p:spPr>
          <a:xfrm>
            <a:off x="822960" y="11676888"/>
            <a:ext cx="958056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ספירת דם מלאה (CBC) היא בדיקה זולה, שגרתית וזמינה בכל מפגש רפואי — אך הפוטנציאל שלה כביומרקר אבחנתי טרם מוצה.</a:t>
            </a:r>
          </a:p>
        </p:txBody>
      </p:sp>
      <p:sp>
        <p:nvSpPr>
          <p:cNvPr id="14596" name="Rectangle 14595"/>
          <p:cNvSpPr/>
          <p:nvPr/>
        </p:nvSpPr>
        <p:spPr>
          <a:xfrm>
            <a:off x="685800" y="14584680"/>
            <a:ext cx="9854882" cy="3291840"/>
          </a:xfrm>
          <a:prstGeom prst="rect">
            <a:avLst/>
          </a:prstGeom>
          <a:solidFill>
            <a:srgbClr val="F0F3F4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97" name="TextBox 14596"/>
          <p:cNvSpPr txBox="1"/>
          <p:nvPr/>
        </p:nvSpPr>
        <p:spPr>
          <a:xfrm>
            <a:off x="9900602" y="14676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🔬</a:t>
            </a:r>
          </a:p>
        </p:txBody>
      </p:sp>
      <p:sp>
        <p:nvSpPr>
          <p:cNvPr id="14598" name="TextBox 14597"/>
          <p:cNvSpPr txBox="1"/>
          <p:nvPr/>
        </p:nvSpPr>
        <p:spPr>
          <a:xfrm>
            <a:off x="822960" y="1469440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2C3E50"/>
                </a:solidFill>
              </a:rPr>
              <a:t>החזון</a:t>
            </a:r>
          </a:p>
        </p:txBody>
      </p:sp>
      <p:sp>
        <p:nvSpPr>
          <p:cNvPr id="14599" name="TextBox 14598"/>
          <p:cNvSpPr txBox="1"/>
          <p:nvPr/>
        </p:nvSpPr>
        <p:spPr>
          <a:xfrm>
            <a:off x="822960" y="15243047"/>
            <a:ext cx="958056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מחקר זה בוחן האם ניתן לגזור נוסחאות מתמטיות פשוטות מערכי CBC שגרתיים לצורך חיזוי ואבחון מוקדם של 6 מחלות.</a:t>
            </a:r>
          </a:p>
        </p:txBody>
      </p:sp>
      <p:sp>
        <p:nvSpPr>
          <p:cNvPr id="14600" name="Rectangle 14599"/>
          <p:cNvSpPr/>
          <p:nvPr/>
        </p:nvSpPr>
        <p:spPr>
          <a:xfrm>
            <a:off x="502920" y="18790919"/>
            <a:ext cx="10220642" cy="8961120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01" name="Rectangle 14600"/>
          <p:cNvSpPr/>
          <p:nvPr/>
        </p:nvSpPr>
        <p:spPr>
          <a:xfrm>
            <a:off x="502920" y="18790919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הגדרת הבעיה</a:t>
            </a:r>
          </a:p>
        </p:txBody>
      </p:sp>
      <p:sp>
        <p:nvSpPr>
          <p:cNvPr id="14602" name="Rectangle 14601"/>
          <p:cNvSpPr/>
          <p:nvPr/>
        </p:nvSpPr>
        <p:spPr>
          <a:xfrm>
            <a:off x="685800" y="19522439"/>
            <a:ext cx="9854882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03" name="TextBox 14602"/>
          <p:cNvSpPr txBox="1"/>
          <p:nvPr/>
        </p:nvSpPr>
        <p:spPr>
          <a:xfrm>
            <a:off x="731520" y="19595591"/>
            <a:ext cx="976344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FFFFFF"/>
                </a:solidFill>
              </a:rPr>
              <a:t>שאלת המחקר: איזו שיטה לייצור נוסחאות מניבה את המודל המיטבי — וכיצד להשוות ביניהן בצורה הוגנת?</a:t>
            </a:r>
          </a:p>
        </p:txBody>
      </p:sp>
      <p:sp>
        <p:nvSpPr>
          <p:cNvPr id="14604" name="Rectangle 14603"/>
          <p:cNvSpPr/>
          <p:nvPr/>
        </p:nvSpPr>
        <p:spPr>
          <a:xfrm>
            <a:off x="685800" y="21214080"/>
            <a:ext cx="9854882" cy="132588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05" name="TextBox 14604"/>
          <p:cNvSpPr txBox="1"/>
          <p:nvPr/>
        </p:nvSpPr>
        <p:spPr>
          <a:xfrm>
            <a:off x="731520" y="21287231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קלט</a:t>
            </a:r>
          </a:p>
        </p:txBody>
      </p:sp>
      <p:sp>
        <p:nvSpPr>
          <p:cNvPr id="14606" name="TextBox 14605"/>
          <p:cNvSpPr txBox="1"/>
          <p:nvPr/>
        </p:nvSpPr>
        <p:spPr>
          <a:xfrm>
            <a:off x="2286000" y="21287231"/>
            <a:ext cx="81632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14 מאפיינים מ-CBC: ספירת תאים + אחוזי ד"ל</a:t>
            </a:r>
          </a:p>
        </p:txBody>
      </p:sp>
      <p:sp>
        <p:nvSpPr>
          <p:cNvPr id="14607" name="Rectangle 14606"/>
          <p:cNvSpPr/>
          <p:nvPr/>
        </p:nvSpPr>
        <p:spPr>
          <a:xfrm>
            <a:off x="685800" y="22722839"/>
            <a:ext cx="9854882" cy="132588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08" name="TextBox 14607"/>
          <p:cNvSpPr txBox="1"/>
          <p:nvPr/>
        </p:nvSpPr>
        <p:spPr>
          <a:xfrm>
            <a:off x="731520" y="22795991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יעד</a:t>
            </a:r>
          </a:p>
        </p:txBody>
      </p:sp>
      <p:sp>
        <p:nvSpPr>
          <p:cNvPr id="14609" name="TextBox 14608"/>
          <p:cNvSpPr txBox="1"/>
          <p:nvPr/>
        </p:nvSpPr>
        <p:spPr>
          <a:xfrm>
            <a:off x="2286000" y="22795991"/>
            <a:ext cx="81632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נוסחה פשוטה מ-≤5 מאפיינים, שקולה ל-LR עם כל הנתונים</a:t>
            </a:r>
          </a:p>
        </p:txBody>
      </p:sp>
      <p:sp>
        <p:nvSpPr>
          <p:cNvPr id="14610" name="Rectangle 14609"/>
          <p:cNvSpPr/>
          <p:nvPr/>
        </p:nvSpPr>
        <p:spPr>
          <a:xfrm>
            <a:off x="685800" y="24231600"/>
            <a:ext cx="9854882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11" name="TextBox 14610"/>
          <p:cNvSpPr txBox="1"/>
          <p:nvPr/>
        </p:nvSpPr>
        <p:spPr>
          <a:xfrm>
            <a:off x="731520" y="24304752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מחלות</a:t>
            </a:r>
          </a:p>
        </p:txBody>
      </p:sp>
      <p:sp>
        <p:nvSpPr>
          <p:cNvPr id="14612" name="TextBox 14611"/>
          <p:cNvSpPr txBox="1"/>
          <p:nvPr/>
        </p:nvSpPr>
        <p:spPr>
          <a:xfrm>
            <a:off x="2286000" y="24304752"/>
            <a:ext cx="81632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RA · קרוהן · T1D · T2D · פסוריאזיס · זאבת (6)</a:t>
            </a:r>
          </a:p>
        </p:txBody>
      </p:sp>
      <p:sp>
        <p:nvSpPr>
          <p:cNvPr id="14613" name="Rectangle 14612"/>
          <p:cNvSpPr/>
          <p:nvPr/>
        </p:nvSpPr>
        <p:spPr>
          <a:xfrm>
            <a:off x="685800" y="25740360"/>
            <a:ext cx="9854882" cy="13258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14" name="TextBox 14613"/>
          <p:cNvSpPr txBox="1"/>
          <p:nvPr/>
        </p:nvSpPr>
        <p:spPr>
          <a:xfrm>
            <a:off x="731520" y="25813511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נתונים</a:t>
            </a:r>
          </a:p>
        </p:txBody>
      </p:sp>
      <p:sp>
        <p:nvSpPr>
          <p:cNvPr id="14615" name="TextBox 14614"/>
          <p:cNvSpPr txBox="1"/>
          <p:nvPr/>
        </p:nvSpPr>
        <p:spPr>
          <a:xfrm>
            <a:off x="2286000" y="25813511"/>
            <a:ext cx="816324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MIMIC-IV v3.1 | BigQuery | split 80/20 קבוע</a:t>
            </a:r>
          </a:p>
        </p:txBody>
      </p:sp>
      <p:sp>
        <p:nvSpPr>
          <p:cNvPr id="14616" name="Rectangle 14615"/>
          <p:cNvSpPr/>
          <p:nvPr/>
        </p:nvSpPr>
        <p:spPr>
          <a:xfrm>
            <a:off x="502920" y="28117799"/>
            <a:ext cx="10220642" cy="14081759"/>
          </a:xfrm>
          <a:prstGeom prst="rect">
            <a:avLst/>
          </a:prstGeom>
          <a:solidFill>
            <a:srgbClr val="F0F3F4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17" name="Rectangle 14616"/>
          <p:cNvSpPr/>
          <p:nvPr/>
        </p:nvSpPr>
        <p:spPr>
          <a:xfrm>
            <a:off x="502920" y="28117799"/>
            <a:ext cx="10220642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נתונים ומטריקות</a:t>
            </a:r>
          </a:p>
        </p:txBody>
      </p:sp>
      <p:sp>
        <p:nvSpPr>
          <p:cNvPr id="14618" name="Rectangle 14617"/>
          <p:cNvSpPr/>
          <p:nvPr/>
        </p:nvSpPr>
        <p:spPr>
          <a:xfrm>
            <a:off x="685800" y="28803599"/>
            <a:ext cx="9854882" cy="3188969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19" name="TextBox 14618"/>
          <p:cNvSpPr txBox="1"/>
          <p:nvPr/>
        </p:nvSpPr>
        <p:spPr>
          <a:xfrm>
            <a:off x="731520" y="28849319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מטריקה ראשית</a:t>
            </a:r>
          </a:p>
        </p:txBody>
      </p:sp>
      <p:sp>
        <p:nvSpPr>
          <p:cNvPr id="14620" name="TextBox 14619"/>
          <p:cNvSpPr txBox="1"/>
          <p:nvPr/>
        </p:nvSpPr>
        <p:spPr>
          <a:xfrm>
            <a:off x="731520" y="29215079"/>
            <a:ext cx="976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AUC-PR Lift</a:t>
            </a:r>
          </a:p>
        </p:txBody>
      </p:sp>
      <p:sp>
        <p:nvSpPr>
          <p:cNvPr id="14621" name="TextBox 14620"/>
          <p:cNvSpPr txBox="1"/>
          <p:nvPr/>
        </p:nvSpPr>
        <p:spPr>
          <a:xfrm>
            <a:off x="731520" y="29699711"/>
            <a:ext cx="9763442" cy="222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AUC-PR / prevalence
(מתאים ל-class imbalance ~1%)</a:t>
            </a:r>
          </a:p>
        </p:txBody>
      </p:sp>
      <p:sp>
        <p:nvSpPr>
          <p:cNvPr id="14622" name="Rectangle 14621"/>
          <p:cNvSpPr/>
          <p:nvPr/>
        </p:nvSpPr>
        <p:spPr>
          <a:xfrm>
            <a:off x="685800" y="32129729"/>
            <a:ext cx="9854882" cy="3188969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23" name="TextBox 14622"/>
          <p:cNvSpPr txBox="1"/>
          <p:nvPr/>
        </p:nvSpPr>
        <p:spPr>
          <a:xfrm>
            <a:off x="731520" y="32175449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מטריקה משנית</a:t>
            </a:r>
          </a:p>
        </p:txBody>
      </p:sp>
      <p:sp>
        <p:nvSpPr>
          <p:cNvPr id="14624" name="TextBox 14623"/>
          <p:cNvSpPr txBox="1"/>
          <p:nvPr/>
        </p:nvSpPr>
        <p:spPr>
          <a:xfrm>
            <a:off x="731520" y="32541210"/>
            <a:ext cx="976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4625" name="TextBox 14624"/>
          <p:cNvSpPr txBox="1"/>
          <p:nvPr/>
        </p:nvSpPr>
        <p:spPr>
          <a:xfrm>
            <a:off x="731520" y="33025841"/>
            <a:ext cx="9763442" cy="222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רגישות + ספציפיות</a:t>
            </a:r>
          </a:p>
        </p:txBody>
      </p:sp>
      <p:sp>
        <p:nvSpPr>
          <p:cNvPr id="14626" name="Rectangle 14625"/>
          <p:cNvSpPr/>
          <p:nvPr/>
        </p:nvSpPr>
        <p:spPr>
          <a:xfrm>
            <a:off x="685800" y="35455859"/>
            <a:ext cx="9854882" cy="3188969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27" name="TextBox 14626"/>
          <p:cNvSpPr txBox="1"/>
          <p:nvPr/>
        </p:nvSpPr>
        <p:spPr>
          <a:xfrm>
            <a:off x="731520" y="35501579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רווחי סמך</a:t>
            </a:r>
          </a:p>
        </p:txBody>
      </p:sp>
      <p:sp>
        <p:nvSpPr>
          <p:cNvPr id="14628" name="TextBox 14627"/>
          <p:cNvSpPr txBox="1"/>
          <p:nvPr/>
        </p:nvSpPr>
        <p:spPr>
          <a:xfrm>
            <a:off x="731520" y="35867339"/>
            <a:ext cx="976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Bootstrap CI</a:t>
            </a:r>
          </a:p>
        </p:txBody>
      </p:sp>
      <p:sp>
        <p:nvSpPr>
          <p:cNvPr id="14629" name="TextBox 14628"/>
          <p:cNvSpPr txBox="1"/>
          <p:nvPr/>
        </p:nvSpPr>
        <p:spPr>
          <a:xfrm>
            <a:off x="731520" y="36351971"/>
            <a:ext cx="9763442" cy="222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n=1,000 | 95% CI</a:t>
            </a:r>
          </a:p>
        </p:txBody>
      </p:sp>
      <p:sp>
        <p:nvSpPr>
          <p:cNvPr id="14630" name="Rectangle 14629"/>
          <p:cNvSpPr/>
          <p:nvPr/>
        </p:nvSpPr>
        <p:spPr>
          <a:xfrm>
            <a:off x="685800" y="38781989"/>
            <a:ext cx="9854882" cy="3188969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31" name="TextBox 14630"/>
          <p:cNvSpPr txBox="1"/>
          <p:nvPr/>
        </p:nvSpPr>
        <p:spPr>
          <a:xfrm>
            <a:off x="731520" y="38827709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ולידציה חיצונית</a:t>
            </a:r>
          </a:p>
        </p:txBody>
      </p:sp>
      <p:sp>
        <p:nvSpPr>
          <p:cNvPr id="14632" name="TextBox 14631"/>
          <p:cNvSpPr txBox="1"/>
          <p:nvPr/>
        </p:nvSpPr>
        <p:spPr>
          <a:xfrm>
            <a:off x="731520" y="39193470"/>
            <a:ext cx="9763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NHANES + EHRSHOT</a:t>
            </a:r>
          </a:p>
        </p:txBody>
      </p:sp>
      <p:sp>
        <p:nvSpPr>
          <p:cNvPr id="14633" name="TextBox 14632"/>
          <p:cNvSpPr txBox="1"/>
          <p:nvPr/>
        </p:nvSpPr>
        <p:spPr>
          <a:xfrm>
            <a:off x="731520" y="39678101"/>
            <a:ext cx="9763442" cy="222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Stanford OMOP CDM</a:t>
            </a:r>
          </a:p>
        </p:txBody>
      </p:sp>
      <p:sp>
        <p:nvSpPr>
          <p:cNvPr id="14634" name="Rectangle 14633"/>
          <p:cNvSpPr/>
          <p:nvPr/>
        </p:nvSpPr>
        <p:spPr>
          <a:xfrm>
            <a:off x="11089322" y="6720840"/>
            <a:ext cx="10220642" cy="24231600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35" name="Rectangle 14634"/>
          <p:cNvSpPr/>
          <p:nvPr/>
        </p:nvSpPr>
        <p:spPr>
          <a:xfrm>
            <a:off x="11089322" y="6720840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ארכיטקטורת הפריימוורק</a:t>
            </a:r>
          </a:p>
        </p:txBody>
      </p:sp>
      <p:sp>
        <p:nvSpPr>
          <p:cNvPr id="14636" name="Rectangle 14635"/>
          <p:cNvSpPr/>
          <p:nvPr/>
        </p:nvSpPr>
        <p:spPr>
          <a:xfrm>
            <a:off x="11272202" y="7498079"/>
            <a:ext cx="9854882" cy="50292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37" name="TextBox 14636"/>
          <p:cNvSpPr txBox="1"/>
          <p:nvPr/>
        </p:nvSpPr>
        <p:spPr>
          <a:xfrm>
            <a:off x="11317922" y="7589519"/>
            <a:ext cx="976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CBC Input</a:t>
            </a:r>
          </a:p>
        </p:txBody>
      </p:sp>
      <p:sp>
        <p:nvSpPr>
          <p:cNvPr id="14638" name="Rectangle 14637"/>
          <p:cNvSpPr/>
          <p:nvPr/>
        </p:nvSpPr>
        <p:spPr>
          <a:xfrm>
            <a:off x="16163068" y="12527280"/>
            <a:ext cx="73152" cy="32004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39" name="Rectangle 14638"/>
          <p:cNvSpPr/>
          <p:nvPr/>
        </p:nvSpPr>
        <p:spPr>
          <a:xfrm>
            <a:off x="16062484" y="12801600"/>
            <a:ext cx="274320" cy="13716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40" name="TextBox 14639"/>
          <p:cNvSpPr txBox="1"/>
          <p:nvPr/>
        </p:nvSpPr>
        <p:spPr>
          <a:xfrm>
            <a:off x="11345354" y="818387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HCT · HGB · MCH</a:t>
            </a:r>
          </a:p>
        </p:txBody>
      </p:sp>
      <p:sp>
        <p:nvSpPr>
          <p:cNvPr id="14641" name="TextBox 14640"/>
          <p:cNvSpPr txBox="1"/>
          <p:nvPr/>
        </p:nvSpPr>
        <p:spPr>
          <a:xfrm>
            <a:off x="11345354" y="87782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MCHC · MCV · PLT</a:t>
            </a:r>
          </a:p>
        </p:txBody>
      </p:sp>
      <p:sp>
        <p:nvSpPr>
          <p:cNvPr id="14642" name="TextBox 14641"/>
          <p:cNvSpPr txBox="1"/>
          <p:nvPr/>
        </p:nvSpPr>
        <p:spPr>
          <a:xfrm>
            <a:off x="11345354" y="93726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RBC · RDW · WBC</a:t>
            </a:r>
          </a:p>
        </p:txBody>
      </p:sp>
      <p:sp>
        <p:nvSpPr>
          <p:cNvPr id="14643" name="TextBox 14642"/>
          <p:cNvSpPr txBox="1"/>
          <p:nvPr/>
        </p:nvSpPr>
        <p:spPr>
          <a:xfrm>
            <a:off x="11345354" y="996695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Neut% · Lym% · Mono%</a:t>
            </a:r>
          </a:p>
        </p:txBody>
      </p:sp>
      <p:sp>
        <p:nvSpPr>
          <p:cNvPr id="14644" name="TextBox 14643"/>
          <p:cNvSpPr txBox="1"/>
          <p:nvPr/>
        </p:nvSpPr>
        <p:spPr>
          <a:xfrm>
            <a:off x="11345354" y="1056131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Eos% · Baso%</a:t>
            </a:r>
          </a:p>
        </p:txBody>
      </p:sp>
      <p:sp>
        <p:nvSpPr>
          <p:cNvPr id="14645" name="TextBox 14644"/>
          <p:cNvSpPr txBox="1"/>
          <p:nvPr/>
        </p:nvSpPr>
        <p:spPr>
          <a:xfrm>
            <a:off x="11345354" y="1115568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─────</a:t>
            </a:r>
          </a:p>
        </p:txBody>
      </p:sp>
      <p:sp>
        <p:nvSpPr>
          <p:cNvPr id="14646" name="TextBox 14645"/>
          <p:cNvSpPr txBox="1"/>
          <p:nvPr/>
        </p:nvSpPr>
        <p:spPr>
          <a:xfrm>
            <a:off x="11345354" y="117500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MIMIC-IV v3.1</a:t>
            </a:r>
          </a:p>
        </p:txBody>
      </p:sp>
      <p:sp>
        <p:nvSpPr>
          <p:cNvPr id="14647" name="TextBox 14646"/>
          <p:cNvSpPr txBox="1"/>
          <p:nvPr/>
        </p:nvSpPr>
        <p:spPr>
          <a:xfrm>
            <a:off x="11345354" y="123444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90d lookback | split 80/20</a:t>
            </a:r>
          </a:p>
        </p:txBody>
      </p:sp>
      <p:sp>
        <p:nvSpPr>
          <p:cNvPr id="14648" name="Rectangle 14647"/>
          <p:cNvSpPr/>
          <p:nvPr/>
        </p:nvSpPr>
        <p:spPr>
          <a:xfrm>
            <a:off x="11272202" y="12938759"/>
            <a:ext cx="9854882" cy="5029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49" name="TextBox 14648"/>
          <p:cNvSpPr txBox="1"/>
          <p:nvPr/>
        </p:nvSpPr>
        <p:spPr>
          <a:xfrm>
            <a:off x="11317922" y="13030199"/>
            <a:ext cx="976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עיבוד מקדים</a:t>
            </a:r>
          </a:p>
        </p:txBody>
      </p:sp>
      <p:sp>
        <p:nvSpPr>
          <p:cNvPr id="14650" name="Rectangle 14649"/>
          <p:cNvSpPr/>
          <p:nvPr/>
        </p:nvSpPr>
        <p:spPr>
          <a:xfrm>
            <a:off x="16163068" y="17967960"/>
            <a:ext cx="73152" cy="32004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51" name="Rectangle 14650"/>
          <p:cNvSpPr/>
          <p:nvPr/>
        </p:nvSpPr>
        <p:spPr>
          <a:xfrm>
            <a:off x="16062484" y="18242280"/>
            <a:ext cx="274320" cy="13716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52" name="TextBox 14651"/>
          <p:cNvSpPr txBox="1"/>
          <p:nvPr/>
        </p:nvSpPr>
        <p:spPr>
          <a:xfrm>
            <a:off x="11345354" y="1362455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90-day lookback</a:t>
            </a:r>
          </a:p>
        </p:txBody>
      </p:sp>
      <p:sp>
        <p:nvSpPr>
          <p:cNvPr id="14653" name="TextBox 14652"/>
          <p:cNvSpPr txBox="1"/>
          <p:nvPr/>
        </p:nvSpPr>
        <p:spPr>
          <a:xfrm>
            <a:off x="11345354" y="1421891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First 24h index</a:t>
            </a:r>
          </a:p>
        </p:txBody>
      </p:sp>
      <p:sp>
        <p:nvSpPr>
          <p:cNvPr id="14654" name="TextBox 14653"/>
          <p:cNvSpPr txBox="1"/>
          <p:nvPr/>
        </p:nvSpPr>
        <p:spPr>
          <a:xfrm>
            <a:off x="11345354" y="1481328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Last value aggregation</a:t>
            </a:r>
          </a:p>
        </p:txBody>
      </p:sp>
      <p:sp>
        <p:nvSpPr>
          <p:cNvPr id="14655" name="TextBox 14654"/>
          <p:cNvSpPr txBox="1"/>
          <p:nvPr/>
        </p:nvSpPr>
        <p:spPr>
          <a:xfrm>
            <a:off x="11345354" y="1540763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Median imputation</a:t>
            </a:r>
          </a:p>
        </p:txBody>
      </p:sp>
      <p:sp>
        <p:nvSpPr>
          <p:cNvPr id="14656" name="TextBox 14655"/>
          <p:cNvSpPr txBox="1"/>
          <p:nvPr/>
        </p:nvSpPr>
        <p:spPr>
          <a:xfrm>
            <a:off x="11345354" y="160020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Normalization (StandardScaler)</a:t>
            </a:r>
          </a:p>
        </p:txBody>
      </p:sp>
      <p:sp>
        <p:nvSpPr>
          <p:cNvPr id="14657" name="TextBox 14656"/>
          <p:cNvSpPr txBox="1"/>
          <p:nvPr/>
        </p:nvSpPr>
        <p:spPr>
          <a:xfrm>
            <a:off x="11345354" y="16596359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› Train/Test split (80/20)</a:t>
            </a:r>
          </a:p>
        </p:txBody>
      </p:sp>
      <p:sp>
        <p:nvSpPr>
          <p:cNvPr id="14658" name="Rectangle 14657"/>
          <p:cNvSpPr/>
          <p:nvPr/>
        </p:nvSpPr>
        <p:spPr>
          <a:xfrm>
            <a:off x="11272202" y="18379440"/>
            <a:ext cx="9854882" cy="502920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59" name="TextBox 14658"/>
          <p:cNvSpPr txBox="1"/>
          <p:nvPr/>
        </p:nvSpPr>
        <p:spPr>
          <a:xfrm>
            <a:off x="11317922" y="18470880"/>
            <a:ext cx="976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Interchangeable Logic</a:t>
            </a:r>
          </a:p>
        </p:txBody>
      </p:sp>
      <p:sp>
        <p:nvSpPr>
          <p:cNvPr id="14660" name="Rectangle 14659"/>
          <p:cNvSpPr/>
          <p:nvPr/>
        </p:nvSpPr>
        <p:spPr>
          <a:xfrm>
            <a:off x="16163068" y="23408640"/>
            <a:ext cx="73152" cy="32004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61" name="Rectangle 14660"/>
          <p:cNvSpPr/>
          <p:nvPr/>
        </p:nvSpPr>
        <p:spPr>
          <a:xfrm>
            <a:off x="16062484" y="23682960"/>
            <a:ext cx="274320" cy="13716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62" name="TextBox 14661"/>
          <p:cNvSpPr txBox="1"/>
          <p:nvPr/>
        </p:nvSpPr>
        <p:spPr>
          <a:xfrm>
            <a:off x="11345354" y="190652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M1 — Threshold Opt.  |  Youden's Index</a:t>
            </a:r>
          </a:p>
        </p:txBody>
      </p:sp>
      <p:sp>
        <p:nvSpPr>
          <p:cNvPr id="14663" name="TextBox 14662"/>
          <p:cNvSpPr txBox="1"/>
          <p:nvPr/>
        </p:nvSpPr>
        <p:spPr>
          <a:xfrm>
            <a:off x="11345354" y="196596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M2 — Random Search   |  10,000 formulas</a:t>
            </a:r>
          </a:p>
        </p:txBody>
      </p:sp>
      <p:sp>
        <p:nvSpPr>
          <p:cNvPr id="14664" name="TextBox 14663"/>
          <p:cNvSpPr txBox="1"/>
          <p:nvPr/>
        </p:nvSpPr>
        <p:spPr>
          <a:xfrm>
            <a:off x="11345354" y="2025396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DEBD7"/>
                </a:solidFill>
              </a:rPr>
              <a:t>M3 — Genetic Prog.   |  pop=500, gen=100  🏆</a:t>
            </a:r>
          </a:p>
        </p:txBody>
      </p:sp>
      <p:sp>
        <p:nvSpPr>
          <p:cNvPr id="14665" name="TextBox 14664"/>
          <p:cNvSpPr txBox="1"/>
          <p:nvPr/>
        </p:nvSpPr>
        <p:spPr>
          <a:xfrm>
            <a:off x="11345354" y="2084832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M4 — LLM (Med-Gemma 4B)  |  Seeded prompts</a:t>
            </a:r>
          </a:p>
        </p:txBody>
      </p:sp>
      <p:sp>
        <p:nvSpPr>
          <p:cNvPr id="14666" name="TextBox 14665"/>
          <p:cNvSpPr txBox="1"/>
          <p:nvPr/>
        </p:nvSpPr>
        <p:spPr>
          <a:xfrm>
            <a:off x="11345354" y="2144268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─────</a:t>
            </a:r>
          </a:p>
        </p:txBody>
      </p:sp>
      <p:sp>
        <p:nvSpPr>
          <p:cNvPr id="14667" name="TextBox 14666"/>
          <p:cNvSpPr txBox="1"/>
          <p:nvPr/>
        </p:nvSpPr>
        <p:spPr>
          <a:xfrm>
            <a:off x="11345354" y="220370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Baseline: Logistic Regression (14 features)</a:t>
            </a:r>
          </a:p>
        </p:txBody>
      </p:sp>
      <p:sp>
        <p:nvSpPr>
          <p:cNvPr id="14668" name="Rectangle 14667"/>
          <p:cNvSpPr/>
          <p:nvPr/>
        </p:nvSpPr>
        <p:spPr>
          <a:xfrm>
            <a:off x="11272202" y="23820120"/>
            <a:ext cx="9854882" cy="50292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69" name="TextBox 14668"/>
          <p:cNvSpPr txBox="1"/>
          <p:nvPr/>
        </p:nvSpPr>
        <p:spPr>
          <a:xfrm>
            <a:off x="11317922" y="23911560"/>
            <a:ext cx="976344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הערכה</a:t>
            </a:r>
          </a:p>
        </p:txBody>
      </p:sp>
      <p:sp>
        <p:nvSpPr>
          <p:cNvPr id="14670" name="TextBox 14669"/>
          <p:cNvSpPr txBox="1"/>
          <p:nvPr/>
        </p:nvSpPr>
        <p:spPr>
          <a:xfrm>
            <a:off x="11345354" y="2450592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AUC-PR Lift  (ראשית)</a:t>
            </a:r>
          </a:p>
        </p:txBody>
      </p:sp>
      <p:sp>
        <p:nvSpPr>
          <p:cNvPr id="14671" name="TextBox 14670"/>
          <p:cNvSpPr txBox="1"/>
          <p:nvPr/>
        </p:nvSpPr>
        <p:spPr>
          <a:xfrm>
            <a:off x="11345354" y="2510028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AUC-ROC  (משנית)</a:t>
            </a:r>
          </a:p>
        </p:txBody>
      </p:sp>
      <p:sp>
        <p:nvSpPr>
          <p:cNvPr id="14672" name="TextBox 14671"/>
          <p:cNvSpPr txBox="1"/>
          <p:nvPr/>
        </p:nvSpPr>
        <p:spPr>
          <a:xfrm>
            <a:off x="11345354" y="2569464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Bootstrap CI  n=1,000</a:t>
            </a:r>
          </a:p>
        </p:txBody>
      </p:sp>
      <p:sp>
        <p:nvSpPr>
          <p:cNvPr id="14673" name="TextBox 14672"/>
          <p:cNvSpPr txBox="1"/>
          <p:nvPr/>
        </p:nvSpPr>
        <p:spPr>
          <a:xfrm>
            <a:off x="11345354" y="2628900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vs. LR Baseline</a:t>
            </a:r>
          </a:p>
        </p:txBody>
      </p:sp>
      <p:sp>
        <p:nvSpPr>
          <p:cNvPr id="14674" name="TextBox 14673"/>
          <p:cNvSpPr txBox="1"/>
          <p:nvPr/>
        </p:nvSpPr>
        <p:spPr>
          <a:xfrm>
            <a:off x="11345354" y="2688336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─────</a:t>
            </a:r>
          </a:p>
        </p:txBody>
      </p:sp>
      <p:sp>
        <p:nvSpPr>
          <p:cNvPr id="14675" name="TextBox 14674"/>
          <p:cNvSpPr txBox="1"/>
          <p:nvPr/>
        </p:nvSpPr>
        <p:spPr>
          <a:xfrm>
            <a:off x="11345354" y="27477720"/>
            <a:ext cx="95256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NHANES · EHRSHOT external</a:t>
            </a:r>
          </a:p>
        </p:txBody>
      </p:sp>
      <p:sp>
        <p:nvSpPr>
          <p:cNvPr id="14676" name="Rectangle 14675"/>
          <p:cNvSpPr/>
          <p:nvPr/>
        </p:nvSpPr>
        <p:spPr>
          <a:xfrm>
            <a:off x="11089322" y="31318200"/>
            <a:ext cx="10220642" cy="10881359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77" name="Rectangle 14676"/>
          <p:cNvSpPr/>
          <p:nvPr/>
        </p:nvSpPr>
        <p:spPr>
          <a:xfrm>
            <a:off x="11089322" y="3131820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Cross-Method Feature Consensus — RA</a:t>
            </a:r>
          </a:p>
        </p:txBody>
      </p:sp>
      <p:sp>
        <p:nvSpPr>
          <p:cNvPr id="14678" name="Rectangle 14677"/>
          <p:cNvSpPr/>
          <p:nvPr/>
        </p:nvSpPr>
        <p:spPr>
          <a:xfrm>
            <a:off x="13192442" y="32004000"/>
            <a:ext cx="1910508" cy="45720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79" name="TextBox 14678"/>
          <p:cNvSpPr txBox="1"/>
          <p:nvPr/>
        </p:nvSpPr>
        <p:spPr>
          <a:xfrm>
            <a:off x="13192442" y="32049719"/>
            <a:ext cx="1910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M3: GP</a:t>
            </a:r>
          </a:p>
        </p:txBody>
      </p:sp>
      <p:sp>
        <p:nvSpPr>
          <p:cNvPr id="14680" name="Rectangle 14679"/>
          <p:cNvSpPr/>
          <p:nvPr/>
        </p:nvSpPr>
        <p:spPr>
          <a:xfrm>
            <a:off x="15176103" y="32004000"/>
            <a:ext cx="1910508" cy="4572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81" name="TextBox 14680"/>
          <p:cNvSpPr txBox="1"/>
          <p:nvPr/>
        </p:nvSpPr>
        <p:spPr>
          <a:xfrm>
            <a:off x="15176103" y="32049719"/>
            <a:ext cx="1910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M4: LLM</a:t>
            </a:r>
          </a:p>
        </p:txBody>
      </p:sp>
      <p:sp>
        <p:nvSpPr>
          <p:cNvPr id="14682" name="Rectangle 14681"/>
          <p:cNvSpPr/>
          <p:nvPr/>
        </p:nvSpPr>
        <p:spPr>
          <a:xfrm>
            <a:off x="17159764" y="32004000"/>
            <a:ext cx="1910508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83" name="TextBox 14682"/>
          <p:cNvSpPr txBox="1"/>
          <p:nvPr/>
        </p:nvSpPr>
        <p:spPr>
          <a:xfrm>
            <a:off x="17159764" y="32049719"/>
            <a:ext cx="1910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M1: Thresh.</a:t>
            </a:r>
          </a:p>
        </p:txBody>
      </p:sp>
      <p:sp>
        <p:nvSpPr>
          <p:cNvPr id="14684" name="Rectangle 14683"/>
          <p:cNvSpPr/>
          <p:nvPr/>
        </p:nvSpPr>
        <p:spPr>
          <a:xfrm>
            <a:off x="19143424" y="32004000"/>
            <a:ext cx="1910508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85" name="TextBox 14684"/>
          <p:cNvSpPr txBox="1"/>
          <p:nvPr/>
        </p:nvSpPr>
        <p:spPr>
          <a:xfrm>
            <a:off x="19143424" y="32049719"/>
            <a:ext cx="1910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M2: Random</a:t>
            </a:r>
          </a:p>
        </p:txBody>
      </p:sp>
      <p:sp>
        <p:nvSpPr>
          <p:cNvPr id="14686" name="TextBox 14685"/>
          <p:cNvSpPr txBox="1"/>
          <p:nvPr/>
        </p:nvSpPr>
        <p:spPr>
          <a:xfrm>
            <a:off x="11180762" y="32552640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1" i="0">
                <a:solidFill>
                  <a:srgbClr val="E8773D"/>
                </a:solidFill>
              </a:rPr>
              <a:t>RDW</a:t>
            </a:r>
          </a:p>
        </p:txBody>
      </p:sp>
      <p:sp>
        <p:nvSpPr>
          <p:cNvPr id="14687" name="Rectangle 14686"/>
          <p:cNvSpPr/>
          <p:nvPr/>
        </p:nvSpPr>
        <p:spPr>
          <a:xfrm>
            <a:off x="13192442" y="32589216"/>
            <a:ext cx="1910508" cy="1709927"/>
          </a:xfrm>
          <a:prstGeom prst="rect">
            <a:avLst/>
          </a:prstGeom>
          <a:solidFill>
            <a:srgbClr val="EB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88" name="TextBox 14687"/>
          <p:cNvSpPr txBox="1"/>
          <p:nvPr/>
        </p:nvSpPr>
        <p:spPr>
          <a:xfrm>
            <a:off x="13192442" y="32589216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85%</a:t>
            </a:r>
          </a:p>
        </p:txBody>
      </p:sp>
      <p:sp>
        <p:nvSpPr>
          <p:cNvPr id="14689" name="Rectangle 14688"/>
          <p:cNvSpPr/>
          <p:nvPr/>
        </p:nvSpPr>
        <p:spPr>
          <a:xfrm>
            <a:off x="15176103" y="32589216"/>
            <a:ext cx="1910508" cy="1709927"/>
          </a:xfrm>
          <a:prstGeom prst="rect">
            <a:avLst/>
          </a:prstGeom>
          <a:solidFill>
            <a:srgbClr val="6CA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90" name="TextBox 14689"/>
          <p:cNvSpPr txBox="1"/>
          <p:nvPr/>
        </p:nvSpPr>
        <p:spPr>
          <a:xfrm>
            <a:off x="15176103" y="32589216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64%</a:t>
            </a:r>
          </a:p>
        </p:txBody>
      </p:sp>
      <p:sp>
        <p:nvSpPr>
          <p:cNvPr id="14691" name="Rectangle 14690"/>
          <p:cNvSpPr/>
          <p:nvPr/>
        </p:nvSpPr>
        <p:spPr>
          <a:xfrm>
            <a:off x="17159764" y="32589216"/>
            <a:ext cx="1910508" cy="1709927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92" name="TextBox 14691"/>
          <p:cNvSpPr txBox="1"/>
          <p:nvPr/>
        </p:nvSpPr>
        <p:spPr>
          <a:xfrm>
            <a:off x="17159764" y="32589216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4693" name="Rectangle 14692"/>
          <p:cNvSpPr/>
          <p:nvPr/>
        </p:nvSpPr>
        <p:spPr>
          <a:xfrm>
            <a:off x="19143424" y="32589216"/>
            <a:ext cx="1910508" cy="1709927"/>
          </a:xfrm>
          <a:prstGeom prst="rect">
            <a:avLst/>
          </a:prstGeom>
          <a:solidFill>
            <a:srgbClr val="CB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94" name="TextBox 14693"/>
          <p:cNvSpPr txBox="1"/>
          <p:nvPr/>
        </p:nvSpPr>
        <p:spPr>
          <a:xfrm>
            <a:off x="19143424" y="32589216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40%</a:t>
            </a:r>
          </a:p>
        </p:txBody>
      </p:sp>
      <p:sp>
        <p:nvSpPr>
          <p:cNvPr id="14695" name="TextBox 14694"/>
          <p:cNvSpPr txBox="1"/>
          <p:nvPr/>
        </p:nvSpPr>
        <p:spPr>
          <a:xfrm>
            <a:off x="11180762" y="34354008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1" i="0">
                <a:solidFill>
                  <a:srgbClr val="E8773D"/>
                </a:solidFill>
              </a:rPr>
              <a:t>PLT</a:t>
            </a:r>
          </a:p>
        </p:txBody>
      </p:sp>
      <p:sp>
        <p:nvSpPr>
          <p:cNvPr id="14696" name="Rectangle 14695"/>
          <p:cNvSpPr/>
          <p:nvPr/>
        </p:nvSpPr>
        <p:spPr>
          <a:xfrm>
            <a:off x="13192442" y="34390584"/>
            <a:ext cx="1910508" cy="1709927"/>
          </a:xfrm>
          <a:prstGeom prst="rect">
            <a:avLst/>
          </a:prstGeom>
          <a:solidFill>
            <a:srgbClr val="EA8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97" name="TextBox 14696"/>
          <p:cNvSpPr txBox="1"/>
          <p:nvPr/>
        </p:nvSpPr>
        <p:spPr>
          <a:xfrm>
            <a:off x="13192442" y="34390584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14698" name="Rectangle 14697"/>
          <p:cNvSpPr/>
          <p:nvPr/>
        </p:nvSpPr>
        <p:spPr>
          <a:xfrm>
            <a:off x="15176103" y="34390584"/>
            <a:ext cx="1910508" cy="1709927"/>
          </a:xfrm>
          <a:prstGeom prst="rect">
            <a:avLst/>
          </a:prstGeom>
          <a:solidFill>
            <a:srgbClr val="83B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99" name="TextBox 14698"/>
          <p:cNvSpPr txBox="1"/>
          <p:nvPr/>
        </p:nvSpPr>
        <p:spPr>
          <a:xfrm>
            <a:off x="15176103" y="34390584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54%</a:t>
            </a:r>
          </a:p>
        </p:txBody>
      </p:sp>
      <p:sp>
        <p:nvSpPr>
          <p:cNvPr id="14700" name="Rectangle 14699"/>
          <p:cNvSpPr/>
          <p:nvPr/>
        </p:nvSpPr>
        <p:spPr>
          <a:xfrm>
            <a:off x="17159764" y="34390584"/>
            <a:ext cx="1910508" cy="1709927"/>
          </a:xfrm>
          <a:prstGeom prst="rect">
            <a:avLst/>
          </a:prstGeom>
          <a:solidFill>
            <a:srgbClr val="959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01" name="TextBox 14700"/>
          <p:cNvSpPr txBox="1"/>
          <p:nvPr/>
        </p:nvSpPr>
        <p:spPr>
          <a:xfrm>
            <a:off x="17159764" y="34390584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4702" name="Rectangle 14701"/>
          <p:cNvSpPr/>
          <p:nvPr/>
        </p:nvSpPr>
        <p:spPr>
          <a:xfrm>
            <a:off x="19143424" y="34390584"/>
            <a:ext cx="1910508" cy="1709927"/>
          </a:xfrm>
          <a:prstGeom prst="rect">
            <a:avLst/>
          </a:prstGeom>
          <a:solidFill>
            <a:srgbClr val="B2B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03" name="TextBox 14702"/>
          <p:cNvSpPr txBox="1"/>
          <p:nvPr/>
        </p:nvSpPr>
        <p:spPr>
          <a:xfrm>
            <a:off x="19143424" y="34390584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60%</a:t>
            </a:r>
          </a:p>
        </p:txBody>
      </p:sp>
      <p:sp>
        <p:nvSpPr>
          <p:cNvPr id="14704" name="TextBox 14703"/>
          <p:cNvSpPr txBox="1"/>
          <p:nvPr/>
        </p:nvSpPr>
        <p:spPr>
          <a:xfrm>
            <a:off x="11180762" y="36155376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1" i="0">
                <a:solidFill>
                  <a:srgbClr val="E8773D"/>
                </a:solidFill>
              </a:rPr>
              <a:t>MCHC</a:t>
            </a:r>
          </a:p>
        </p:txBody>
      </p:sp>
      <p:sp>
        <p:nvSpPr>
          <p:cNvPr id="14705" name="Rectangle 14704"/>
          <p:cNvSpPr/>
          <p:nvPr/>
        </p:nvSpPr>
        <p:spPr>
          <a:xfrm>
            <a:off x="13192442" y="36191952"/>
            <a:ext cx="1910508" cy="1709927"/>
          </a:xfrm>
          <a:prstGeom prst="rect">
            <a:avLst/>
          </a:prstGeom>
          <a:solidFill>
            <a:srgbClr val="ED9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06" name="TextBox 14705"/>
          <p:cNvSpPr txBox="1"/>
          <p:nvPr/>
        </p:nvSpPr>
        <p:spPr>
          <a:xfrm>
            <a:off x="13192442" y="36191952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75%</a:t>
            </a:r>
          </a:p>
        </p:txBody>
      </p:sp>
      <p:sp>
        <p:nvSpPr>
          <p:cNvPr id="14707" name="Rectangle 14706"/>
          <p:cNvSpPr/>
          <p:nvPr/>
        </p:nvSpPr>
        <p:spPr>
          <a:xfrm>
            <a:off x="15176103" y="36191952"/>
            <a:ext cx="1910508" cy="1709927"/>
          </a:xfrm>
          <a:prstGeom prst="rect">
            <a:avLst/>
          </a:prstGeom>
          <a:solidFill>
            <a:srgbClr val="97C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08" name="TextBox 14707"/>
          <p:cNvSpPr txBox="1"/>
          <p:nvPr/>
        </p:nvSpPr>
        <p:spPr>
          <a:xfrm>
            <a:off x="15176103" y="36191952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14709" name="Rectangle 14708"/>
          <p:cNvSpPr/>
          <p:nvPr/>
        </p:nvSpPr>
        <p:spPr>
          <a:xfrm>
            <a:off x="17159764" y="36191952"/>
            <a:ext cx="1910508" cy="1709927"/>
          </a:xfrm>
          <a:prstGeom prst="rect">
            <a:avLst/>
          </a:prstGeom>
          <a:solidFill>
            <a:srgbClr val="AAB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10" name="TextBox 14709"/>
          <p:cNvSpPr txBox="1"/>
          <p:nvPr/>
        </p:nvSpPr>
        <p:spPr>
          <a:xfrm>
            <a:off x="17159764" y="36191952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40%</a:t>
            </a:r>
          </a:p>
        </p:txBody>
      </p:sp>
      <p:sp>
        <p:nvSpPr>
          <p:cNvPr id="14711" name="Rectangle 14710"/>
          <p:cNvSpPr/>
          <p:nvPr/>
        </p:nvSpPr>
        <p:spPr>
          <a:xfrm>
            <a:off x="19143424" y="36191952"/>
            <a:ext cx="1910508" cy="1709927"/>
          </a:xfrm>
          <a:prstGeom prst="rect">
            <a:avLst/>
          </a:prstGeom>
          <a:solidFill>
            <a:srgbClr val="B8B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12" name="TextBox 14711"/>
          <p:cNvSpPr txBox="1"/>
          <p:nvPr/>
        </p:nvSpPr>
        <p:spPr>
          <a:xfrm>
            <a:off x="19143424" y="36191952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55%</a:t>
            </a:r>
          </a:p>
        </p:txBody>
      </p:sp>
      <p:sp>
        <p:nvSpPr>
          <p:cNvPr id="14713" name="TextBox 14712"/>
          <p:cNvSpPr txBox="1"/>
          <p:nvPr/>
        </p:nvSpPr>
        <p:spPr>
          <a:xfrm>
            <a:off x="11180762" y="37956744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mono_pct</a:t>
            </a:r>
          </a:p>
        </p:txBody>
      </p:sp>
      <p:sp>
        <p:nvSpPr>
          <p:cNvPr id="14714" name="Rectangle 14713"/>
          <p:cNvSpPr/>
          <p:nvPr/>
        </p:nvSpPr>
        <p:spPr>
          <a:xfrm>
            <a:off x="13192442" y="37993320"/>
            <a:ext cx="1910508" cy="1709927"/>
          </a:xfrm>
          <a:prstGeom prst="rect">
            <a:avLst/>
          </a:prstGeom>
          <a:solidFill>
            <a:srgbClr val="F0A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15" name="TextBox 14714"/>
          <p:cNvSpPr txBox="1"/>
          <p:nvPr/>
        </p:nvSpPr>
        <p:spPr>
          <a:xfrm>
            <a:off x="13192442" y="37993320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65%</a:t>
            </a:r>
          </a:p>
        </p:txBody>
      </p:sp>
      <p:sp>
        <p:nvSpPr>
          <p:cNvPr id="14716" name="Rectangle 14715"/>
          <p:cNvSpPr/>
          <p:nvPr/>
        </p:nvSpPr>
        <p:spPr>
          <a:xfrm>
            <a:off x="15176103" y="37993320"/>
            <a:ext cx="1910508" cy="1709927"/>
          </a:xfrm>
          <a:prstGeom prst="rect">
            <a:avLst/>
          </a:prstGeom>
          <a:solidFill>
            <a:srgbClr val="DC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17" name="TextBox 14716"/>
          <p:cNvSpPr txBox="1"/>
          <p:nvPr/>
        </p:nvSpPr>
        <p:spPr>
          <a:xfrm>
            <a:off x="15176103" y="37993320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15%</a:t>
            </a:r>
          </a:p>
        </p:txBody>
      </p:sp>
      <p:sp>
        <p:nvSpPr>
          <p:cNvPr id="14718" name="Rectangle 14717"/>
          <p:cNvSpPr/>
          <p:nvPr/>
        </p:nvSpPr>
        <p:spPr>
          <a:xfrm>
            <a:off x="17159764" y="37993320"/>
            <a:ext cx="1910508" cy="1709927"/>
          </a:xfrm>
          <a:prstGeom prst="rect">
            <a:avLst/>
          </a:prstGeom>
          <a:solidFill>
            <a:srgbClr val="E9EB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19" name="TextBox 14718"/>
          <p:cNvSpPr txBox="1"/>
          <p:nvPr/>
        </p:nvSpPr>
        <p:spPr>
          <a:xfrm>
            <a:off x="17159764" y="37993320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10%</a:t>
            </a:r>
          </a:p>
        </p:txBody>
      </p:sp>
      <p:sp>
        <p:nvSpPr>
          <p:cNvPr id="14720" name="Rectangle 14719"/>
          <p:cNvSpPr/>
          <p:nvPr/>
        </p:nvSpPr>
        <p:spPr>
          <a:xfrm>
            <a:off x="19143424" y="37993320"/>
            <a:ext cx="1910508" cy="1709927"/>
          </a:xfrm>
          <a:prstGeom prst="rect">
            <a:avLst/>
          </a:prstGeom>
          <a:solidFill>
            <a:srgbClr val="E5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21" name="TextBox 14720"/>
          <p:cNvSpPr txBox="1"/>
          <p:nvPr/>
        </p:nvSpPr>
        <p:spPr>
          <a:xfrm>
            <a:off x="19143424" y="37993320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20%</a:t>
            </a:r>
          </a:p>
        </p:txBody>
      </p:sp>
      <p:sp>
        <p:nvSpPr>
          <p:cNvPr id="14722" name="TextBox 14721"/>
          <p:cNvSpPr txBox="1"/>
          <p:nvPr/>
        </p:nvSpPr>
        <p:spPr>
          <a:xfrm>
            <a:off x="11180762" y="39758112"/>
            <a:ext cx="1920240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RBC</a:t>
            </a:r>
          </a:p>
        </p:txBody>
      </p:sp>
      <p:sp>
        <p:nvSpPr>
          <p:cNvPr id="14723" name="Rectangle 14722"/>
          <p:cNvSpPr/>
          <p:nvPr/>
        </p:nvSpPr>
        <p:spPr>
          <a:xfrm>
            <a:off x="13192442" y="39794688"/>
            <a:ext cx="1910508" cy="1709927"/>
          </a:xfrm>
          <a:prstGeom prst="rect">
            <a:avLst/>
          </a:prstGeom>
          <a:solidFill>
            <a:srgbClr val="F5C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24" name="TextBox 14723"/>
          <p:cNvSpPr txBox="1"/>
          <p:nvPr/>
        </p:nvSpPr>
        <p:spPr>
          <a:xfrm>
            <a:off x="13192442" y="39794688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40%</a:t>
            </a:r>
          </a:p>
        </p:txBody>
      </p:sp>
      <p:sp>
        <p:nvSpPr>
          <p:cNvPr id="14725" name="Rectangle 14724"/>
          <p:cNvSpPr/>
          <p:nvPr/>
        </p:nvSpPr>
        <p:spPr>
          <a:xfrm>
            <a:off x="15176103" y="39794688"/>
            <a:ext cx="1910508" cy="1709927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26" name="TextBox 14725"/>
          <p:cNvSpPr txBox="1"/>
          <p:nvPr/>
        </p:nvSpPr>
        <p:spPr>
          <a:xfrm>
            <a:off x="15176103" y="39794688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12%</a:t>
            </a:r>
          </a:p>
        </p:txBody>
      </p:sp>
      <p:sp>
        <p:nvSpPr>
          <p:cNvPr id="14727" name="Rectangle 14726"/>
          <p:cNvSpPr/>
          <p:nvPr/>
        </p:nvSpPr>
        <p:spPr>
          <a:xfrm>
            <a:off x="17159764" y="39794688"/>
            <a:ext cx="1910508" cy="1709927"/>
          </a:xfrm>
          <a:prstGeom prst="rect">
            <a:avLst/>
          </a:prstGeom>
          <a:solidFill>
            <a:srgbClr val="56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28" name="TextBox 14727"/>
          <p:cNvSpPr txBox="1"/>
          <p:nvPr/>
        </p:nvSpPr>
        <p:spPr>
          <a:xfrm>
            <a:off x="17159764" y="39794688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14729" name="Rectangle 14728"/>
          <p:cNvSpPr/>
          <p:nvPr/>
        </p:nvSpPr>
        <p:spPr>
          <a:xfrm>
            <a:off x="19143424" y="39794688"/>
            <a:ext cx="1910508" cy="1709927"/>
          </a:xfrm>
          <a:prstGeom prst="rect">
            <a:avLst/>
          </a:prstGeom>
          <a:solidFill>
            <a:srgbClr val="BFC5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30" name="TextBox 14729"/>
          <p:cNvSpPr txBox="1"/>
          <p:nvPr/>
        </p:nvSpPr>
        <p:spPr>
          <a:xfrm>
            <a:off x="19143424" y="39794688"/>
            <a:ext cx="1910508" cy="1709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4731" name="Rectangle 14730"/>
          <p:cNvSpPr/>
          <p:nvPr/>
        </p:nvSpPr>
        <p:spPr>
          <a:xfrm>
            <a:off x="11272202" y="41513760"/>
            <a:ext cx="9854882" cy="548640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32" name="TextBox 14731"/>
          <p:cNvSpPr txBox="1"/>
          <p:nvPr/>
        </p:nvSpPr>
        <p:spPr>
          <a:xfrm>
            <a:off x="11317922" y="41586912"/>
            <a:ext cx="976344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7A8A"/>
                </a:solidFill>
              </a:rPr>
              <a:t>RDW · PLT · MCHC — consensus features across all methods</a:t>
            </a:r>
          </a:p>
        </p:txBody>
      </p:sp>
      <p:sp>
        <p:nvSpPr>
          <p:cNvPr id="14733" name="Rectangle 14732"/>
          <p:cNvSpPr/>
          <p:nvPr/>
        </p:nvSpPr>
        <p:spPr>
          <a:xfrm>
            <a:off x="21675725" y="6720840"/>
            <a:ext cx="10220642" cy="14173200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34" name="Rectangle 14733"/>
          <p:cNvSpPr/>
          <p:nvPr/>
        </p:nvSpPr>
        <p:spPr>
          <a:xfrm>
            <a:off x="21675725" y="672084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תוצאות — Rheumatoid Arthritis</a:t>
            </a:r>
          </a:p>
        </p:txBody>
      </p:sp>
      <p:sp>
        <p:nvSpPr>
          <p:cNvPr id="14735" name="Rectangle 14734"/>
          <p:cNvSpPr/>
          <p:nvPr/>
        </p:nvSpPr>
        <p:spPr>
          <a:xfrm>
            <a:off x="21950045" y="7498079"/>
            <a:ext cx="9672002" cy="7132320"/>
          </a:xfrm>
          <a:prstGeom prst="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36" name="Rectangle 14735"/>
          <p:cNvSpPr/>
          <p:nvPr/>
        </p:nvSpPr>
        <p:spPr>
          <a:xfrm>
            <a:off x="22955885" y="13894307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37" name="TextBox 14736"/>
          <p:cNvSpPr txBox="1"/>
          <p:nvPr/>
        </p:nvSpPr>
        <p:spPr>
          <a:xfrm>
            <a:off x="21950045" y="137342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1.0×</a:t>
            </a:r>
          </a:p>
        </p:txBody>
      </p:sp>
      <p:sp>
        <p:nvSpPr>
          <p:cNvPr id="14738" name="Rectangle 14737"/>
          <p:cNvSpPr/>
          <p:nvPr/>
        </p:nvSpPr>
        <p:spPr>
          <a:xfrm>
            <a:off x="22955885" y="12873227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39" name="TextBox 14738"/>
          <p:cNvSpPr txBox="1"/>
          <p:nvPr/>
        </p:nvSpPr>
        <p:spPr>
          <a:xfrm>
            <a:off x="21950045" y="127132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1.1×</a:t>
            </a:r>
          </a:p>
        </p:txBody>
      </p:sp>
      <p:sp>
        <p:nvSpPr>
          <p:cNvPr id="14740" name="Rectangle 14739"/>
          <p:cNvSpPr/>
          <p:nvPr/>
        </p:nvSpPr>
        <p:spPr>
          <a:xfrm>
            <a:off x="22955885" y="11852148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41" name="TextBox 14740"/>
          <p:cNvSpPr txBox="1"/>
          <p:nvPr/>
        </p:nvSpPr>
        <p:spPr>
          <a:xfrm>
            <a:off x="21950045" y="116921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1.2×</a:t>
            </a:r>
          </a:p>
        </p:txBody>
      </p:sp>
      <p:sp>
        <p:nvSpPr>
          <p:cNvPr id="14742" name="Rectangle 14741"/>
          <p:cNvSpPr/>
          <p:nvPr/>
        </p:nvSpPr>
        <p:spPr>
          <a:xfrm>
            <a:off x="22955885" y="10831067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43" name="TextBox 14742"/>
          <p:cNvSpPr txBox="1"/>
          <p:nvPr/>
        </p:nvSpPr>
        <p:spPr>
          <a:xfrm>
            <a:off x="21950045" y="1067104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1.3×</a:t>
            </a:r>
          </a:p>
        </p:txBody>
      </p:sp>
      <p:sp>
        <p:nvSpPr>
          <p:cNvPr id="14744" name="Rectangle 14743"/>
          <p:cNvSpPr/>
          <p:nvPr/>
        </p:nvSpPr>
        <p:spPr>
          <a:xfrm>
            <a:off x="22955885" y="9809988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45" name="TextBox 14744"/>
          <p:cNvSpPr txBox="1"/>
          <p:nvPr/>
        </p:nvSpPr>
        <p:spPr>
          <a:xfrm>
            <a:off x="21950045" y="964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1.4×</a:t>
            </a:r>
          </a:p>
        </p:txBody>
      </p:sp>
      <p:sp>
        <p:nvSpPr>
          <p:cNvPr id="14746" name="Rectangle 14745"/>
          <p:cNvSpPr/>
          <p:nvPr/>
        </p:nvSpPr>
        <p:spPr>
          <a:xfrm>
            <a:off x="22955885" y="8788908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47" name="TextBox 14746"/>
          <p:cNvSpPr txBox="1"/>
          <p:nvPr/>
        </p:nvSpPr>
        <p:spPr>
          <a:xfrm>
            <a:off x="21950045" y="8628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1.5×</a:t>
            </a:r>
          </a:p>
        </p:txBody>
      </p:sp>
      <p:sp>
        <p:nvSpPr>
          <p:cNvPr id="14748" name="Rectangle 14747"/>
          <p:cNvSpPr/>
          <p:nvPr/>
        </p:nvSpPr>
        <p:spPr>
          <a:xfrm>
            <a:off x="22955885" y="7767827"/>
            <a:ext cx="8483282" cy="9144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49" name="TextBox 14748"/>
          <p:cNvSpPr txBox="1"/>
          <p:nvPr/>
        </p:nvSpPr>
        <p:spPr>
          <a:xfrm>
            <a:off x="21950045" y="760780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7F8C8D"/>
                </a:solidFill>
              </a:rPr>
              <a:t>1.6×</a:t>
            </a:r>
          </a:p>
        </p:txBody>
      </p:sp>
      <p:sp>
        <p:nvSpPr>
          <p:cNvPr id="14750" name="Rectangle 14749"/>
          <p:cNvSpPr/>
          <p:nvPr/>
        </p:nvSpPr>
        <p:spPr>
          <a:xfrm>
            <a:off x="22955885" y="8895588"/>
            <a:ext cx="8483282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51" name="TextBox 14750"/>
          <p:cNvSpPr txBox="1"/>
          <p:nvPr/>
        </p:nvSpPr>
        <p:spPr>
          <a:xfrm>
            <a:off x="29153168" y="85481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1">
                <a:solidFill>
                  <a:srgbClr val="7F8C8D"/>
                </a:solidFill>
              </a:rPr>
              <a:t>LR Baseline 1.49×</a:t>
            </a:r>
          </a:p>
        </p:txBody>
      </p:sp>
      <p:sp>
        <p:nvSpPr>
          <p:cNvPr id="14752" name="Rectangle 14751"/>
          <p:cNvSpPr/>
          <p:nvPr/>
        </p:nvSpPr>
        <p:spPr>
          <a:xfrm>
            <a:off x="23210383" y="7874507"/>
            <a:ext cx="1187659" cy="6024372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53" name="TextBox 14752"/>
          <p:cNvSpPr txBox="1"/>
          <p:nvPr/>
        </p:nvSpPr>
        <p:spPr>
          <a:xfrm>
            <a:off x="23118943" y="7463027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773D"/>
                </a:solidFill>
              </a:rPr>
              <a:t>1.59×</a:t>
            </a:r>
          </a:p>
        </p:txBody>
      </p:sp>
      <p:sp>
        <p:nvSpPr>
          <p:cNvPr id="14754" name="TextBox 14753"/>
          <p:cNvSpPr txBox="1"/>
          <p:nvPr/>
        </p:nvSpPr>
        <p:spPr>
          <a:xfrm>
            <a:off x="23164663" y="7097267"/>
            <a:ext cx="12790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C3E50"/>
                </a:solidFill>
              </a:rPr>
              <a:t>🏆</a:t>
            </a:r>
          </a:p>
        </p:txBody>
      </p:sp>
      <p:sp>
        <p:nvSpPr>
          <p:cNvPr id="14755" name="TextBox 14754"/>
          <p:cNvSpPr txBox="1"/>
          <p:nvPr/>
        </p:nvSpPr>
        <p:spPr>
          <a:xfrm>
            <a:off x="23073223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GP</a:t>
            </a:r>
          </a:p>
        </p:txBody>
      </p:sp>
      <p:sp>
        <p:nvSpPr>
          <p:cNvPr id="14756" name="TextBox 14755"/>
          <p:cNvSpPr txBox="1"/>
          <p:nvPr/>
        </p:nvSpPr>
        <p:spPr>
          <a:xfrm>
            <a:off x="23073223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4 feat.</a:t>
            </a:r>
          </a:p>
        </p:txBody>
      </p:sp>
      <p:sp>
        <p:nvSpPr>
          <p:cNvPr id="14757" name="Rectangle 14756"/>
          <p:cNvSpPr/>
          <p:nvPr/>
        </p:nvSpPr>
        <p:spPr>
          <a:xfrm>
            <a:off x="24907040" y="8895588"/>
            <a:ext cx="1187659" cy="5003291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58" name="TextBox 14757"/>
          <p:cNvSpPr txBox="1"/>
          <p:nvPr/>
        </p:nvSpPr>
        <p:spPr>
          <a:xfrm>
            <a:off x="24815600" y="8484108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F8C8D"/>
                </a:solidFill>
              </a:rPr>
              <a:t>1.49×</a:t>
            </a:r>
          </a:p>
        </p:txBody>
      </p:sp>
      <p:sp>
        <p:nvSpPr>
          <p:cNvPr id="14759" name="TextBox 14758"/>
          <p:cNvSpPr txBox="1"/>
          <p:nvPr/>
        </p:nvSpPr>
        <p:spPr>
          <a:xfrm>
            <a:off x="24769880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LR Base</a:t>
            </a:r>
          </a:p>
        </p:txBody>
      </p:sp>
      <p:sp>
        <p:nvSpPr>
          <p:cNvPr id="14760" name="TextBox 14759"/>
          <p:cNvSpPr txBox="1"/>
          <p:nvPr/>
        </p:nvSpPr>
        <p:spPr>
          <a:xfrm>
            <a:off x="24769880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14 feat.</a:t>
            </a:r>
          </a:p>
        </p:txBody>
      </p:sp>
      <p:sp>
        <p:nvSpPr>
          <p:cNvPr id="14761" name="Rectangle 14760"/>
          <p:cNvSpPr/>
          <p:nvPr/>
        </p:nvSpPr>
        <p:spPr>
          <a:xfrm>
            <a:off x="26603696" y="9304020"/>
            <a:ext cx="1187659" cy="4594859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62" name="TextBox 14761"/>
          <p:cNvSpPr txBox="1"/>
          <p:nvPr/>
        </p:nvSpPr>
        <p:spPr>
          <a:xfrm>
            <a:off x="26512256" y="8892540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7A8A"/>
                </a:solidFill>
              </a:rPr>
              <a:t>1.45×</a:t>
            </a:r>
          </a:p>
        </p:txBody>
      </p:sp>
      <p:sp>
        <p:nvSpPr>
          <p:cNvPr id="14763" name="TextBox 14762"/>
          <p:cNvSpPr txBox="1"/>
          <p:nvPr/>
        </p:nvSpPr>
        <p:spPr>
          <a:xfrm>
            <a:off x="26466536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LLM</a:t>
            </a:r>
          </a:p>
        </p:txBody>
      </p:sp>
      <p:sp>
        <p:nvSpPr>
          <p:cNvPr id="14764" name="TextBox 14763"/>
          <p:cNvSpPr txBox="1"/>
          <p:nvPr/>
        </p:nvSpPr>
        <p:spPr>
          <a:xfrm>
            <a:off x="26466536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3 feat.</a:t>
            </a:r>
          </a:p>
        </p:txBody>
      </p:sp>
      <p:sp>
        <p:nvSpPr>
          <p:cNvPr id="14765" name="Rectangle 14764"/>
          <p:cNvSpPr/>
          <p:nvPr/>
        </p:nvSpPr>
        <p:spPr>
          <a:xfrm>
            <a:off x="28300353" y="10018776"/>
            <a:ext cx="1187659" cy="3880103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66" name="TextBox 14765"/>
          <p:cNvSpPr txBox="1"/>
          <p:nvPr/>
        </p:nvSpPr>
        <p:spPr>
          <a:xfrm>
            <a:off x="28208913" y="9607296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C3E50"/>
                </a:solidFill>
              </a:rPr>
              <a:t>1.38×</a:t>
            </a:r>
          </a:p>
        </p:txBody>
      </p:sp>
      <p:sp>
        <p:nvSpPr>
          <p:cNvPr id="14767" name="TextBox 14766"/>
          <p:cNvSpPr txBox="1"/>
          <p:nvPr/>
        </p:nvSpPr>
        <p:spPr>
          <a:xfrm>
            <a:off x="28163193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Threshold</a:t>
            </a:r>
          </a:p>
        </p:txBody>
      </p:sp>
      <p:sp>
        <p:nvSpPr>
          <p:cNvPr id="14768" name="TextBox 14767"/>
          <p:cNvSpPr txBox="1"/>
          <p:nvPr/>
        </p:nvSpPr>
        <p:spPr>
          <a:xfrm>
            <a:off x="28163193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1 feat.</a:t>
            </a:r>
          </a:p>
        </p:txBody>
      </p:sp>
      <p:sp>
        <p:nvSpPr>
          <p:cNvPr id="14769" name="Rectangle 14768"/>
          <p:cNvSpPr/>
          <p:nvPr/>
        </p:nvSpPr>
        <p:spPr>
          <a:xfrm>
            <a:off x="29997009" y="10631423"/>
            <a:ext cx="1187659" cy="3267456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70" name="TextBox 14769"/>
          <p:cNvSpPr txBox="1"/>
          <p:nvPr/>
        </p:nvSpPr>
        <p:spPr>
          <a:xfrm>
            <a:off x="29905569" y="10219944"/>
            <a:ext cx="13705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DC3C7"/>
                </a:solidFill>
              </a:rPr>
              <a:t>1.32×</a:t>
            </a:r>
          </a:p>
        </p:txBody>
      </p:sp>
      <p:sp>
        <p:nvSpPr>
          <p:cNvPr id="14771" name="TextBox 14770"/>
          <p:cNvSpPr txBox="1"/>
          <p:nvPr/>
        </p:nvSpPr>
        <p:spPr>
          <a:xfrm>
            <a:off x="29859849" y="13944600"/>
            <a:ext cx="14619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</a:rPr>
              <a:t>Random</a:t>
            </a:r>
          </a:p>
        </p:txBody>
      </p:sp>
      <p:sp>
        <p:nvSpPr>
          <p:cNvPr id="14772" name="TextBox 14771"/>
          <p:cNvSpPr txBox="1"/>
          <p:nvPr/>
        </p:nvSpPr>
        <p:spPr>
          <a:xfrm>
            <a:off x="29859849" y="14264640"/>
            <a:ext cx="14619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F8C8D"/>
                </a:solidFill>
              </a:rPr>
              <a:t>7 feat.</a:t>
            </a:r>
          </a:p>
        </p:txBody>
      </p:sp>
      <p:sp>
        <p:nvSpPr>
          <p:cNvPr id="14773" name="TextBox 14772"/>
          <p:cNvSpPr txBox="1"/>
          <p:nvPr/>
        </p:nvSpPr>
        <p:spPr>
          <a:xfrm>
            <a:off x="21950045" y="10351008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F8C8D"/>
                </a:solidFill>
              </a:rPr>
              <a:t>AUC-PR Lift</a:t>
            </a:r>
          </a:p>
        </p:txBody>
      </p:sp>
      <p:sp>
        <p:nvSpPr>
          <p:cNvPr id="14774" name="TextBox 14773"/>
          <p:cNvSpPr txBox="1"/>
          <p:nvPr/>
        </p:nvSpPr>
        <p:spPr>
          <a:xfrm>
            <a:off x="21812885" y="14859000"/>
            <a:ext cx="99463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E8773D"/>
                </a:solidFill>
              </a:rPr>
              <a:t>ממצאים עיקריים</a:t>
            </a:r>
          </a:p>
        </p:txBody>
      </p:sp>
      <p:sp>
        <p:nvSpPr>
          <p:cNvPr id="14775" name="Rectangle 14774"/>
          <p:cNvSpPr/>
          <p:nvPr/>
        </p:nvSpPr>
        <p:spPr>
          <a:xfrm>
            <a:off x="21812885" y="15361920"/>
            <a:ext cx="73152" cy="109728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76" name="TextBox 14775"/>
          <p:cNvSpPr txBox="1"/>
          <p:nvPr/>
        </p:nvSpPr>
        <p:spPr>
          <a:xfrm>
            <a:off x="21995765" y="15407640"/>
            <a:ext cx="971772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GP מנצח: 1.59× lift עם 4 features — עולה על LR (1.49×) עם 14</a:t>
            </a:r>
          </a:p>
        </p:txBody>
      </p:sp>
      <p:sp>
        <p:nvSpPr>
          <p:cNvPr id="14777" name="Rectangle 14776"/>
          <p:cNvSpPr/>
          <p:nvPr/>
        </p:nvSpPr>
        <p:spPr>
          <a:xfrm>
            <a:off x="21812885" y="16779240"/>
            <a:ext cx="73152" cy="109728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78" name="TextBox 14777"/>
          <p:cNvSpPr txBox="1"/>
          <p:nvPr/>
        </p:nvSpPr>
        <p:spPr>
          <a:xfrm>
            <a:off x="21995765" y="16824960"/>
            <a:ext cx="971772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LLM — הכי יעיל: 3 features, 2 ops, lift 1.45× ≈ LR</a:t>
            </a:r>
          </a:p>
        </p:txBody>
      </p:sp>
      <p:sp>
        <p:nvSpPr>
          <p:cNvPr id="14779" name="Rectangle 14778"/>
          <p:cNvSpPr/>
          <p:nvPr/>
        </p:nvSpPr>
        <p:spPr>
          <a:xfrm>
            <a:off x="21812885" y="18196560"/>
            <a:ext cx="73152" cy="10972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80" name="TextBox 14779"/>
          <p:cNvSpPr txBox="1"/>
          <p:nvPr/>
        </p:nvSpPr>
        <p:spPr>
          <a:xfrm>
            <a:off x="21995765" y="18242280"/>
            <a:ext cx="971772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Random לא מספיק: 7 features, 18 ops → 1.32× (מתחת baseline)</a:t>
            </a:r>
          </a:p>
        </p:txBody>
      </p:sp>
      <p:sp>
        <p:nvSpPr>
          <p:cNvPr id="14781" name="Rectangle 14780"/>
          <p:cNvSpPr/>
          <p:nvPr/>
        </p:nvSpPr>
        <p:spPr>
          <a:xfrm>
            <a:off x="21812885" y="19613880"/>
            <a:ext cx="73152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82" name="TextBox 14781"/>
          <p:cNvSpPr txBox="1"/>
          <p:nvPr/>
        </p:nvSpPr>
        <p:spPr>
          <a:xfrm>
            <a:off x="21995765" y="19659600"/>
            <a:ext cx="971772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Threshold — נקודת ייחוס: feature יחיד rbc&lt;3.99 → 1.38×</a:t>
            </a:r>
          </a:p>
        </p:txBody>
      </p:sp>
      <p:sp>
        <p:nvSpPr>
          <p:cNvPr id="14783" name="Rectangle 14782"/>
          <p:cNvSpPr/>
          <p:nvPr/>
        </p:nvSpPr>
        <p:spPr>
          <a:xfrm>
            <a:off x="21675725" y="21259800"/>
            <a:ext cx="10220642" cy="10972800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84" name="Rectangle 14783"/>
          <p:cNvSpPr/>
          <p:nvPr/>
        </p:nvSpPr>
        <p:spPr>
          <a:xfrm>
            <a:off x="21675725" y="21259800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מסקנות</a:t>
            </a:r>
          </a:p>
        </p:txBody>
      </p:sp>
      <p:sp>
        <p:nvSpPr>
          <p:cNvPr id="14785" name="Rectangle 14784"/>
          <p:cNvSpPr/>
          <p:nvPr/>
        </p:nvSpPr>
        <p:spPr>
          <a:xfrm>
            <a:off x="21858605" y="21945600"/>
            <a:ext cx="9854882" cy="2354579"/>
          </a:xfrm>
          <a:prstGeom prst="rect">
            <a:avLst/>
          </a:prstGeom>
          <a:solidFill>
            <a:srgbClr val="FDEBD7"/>
          </a:solidFill>
          <a:ln w="1270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86" name="TextBox 14785"/>
          <p:cNvSpPr txBox="1"/>
          <p:nvPr/>
        </p:nvSpPr>
        <p:spPr>
          <a:xfrm>
            <a:off x="31073408" y="220370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🏆</a:t>
            </a:r>
          </a:p>
        </p:txBody>
      </p:sp>
      <p:sp>
        <p:nvSpPr>
          <p:cNvPr id="14787" name="TextBox 14786"/>
          <p:cNvSpPr txBox="1"/>
          <p:nvPr/>
        </p:nvSpPr>
        <p:spPr>
          <a:xfrm>
            <a:off x="21995765" y="2205532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E8773D"/>
                </a:solidFill>
              </a:rPr>
              <a:t>Genetic Programming</a:t>
            </a:r>
          </a:p>
        </p:txBody>
      </p:sp>
      <p:sp>
        <p:nvSpPr>
          <p:cNvPr id="14788" name="TextBox 14787"/>
          <p:cNvSpPr txBox="1"/>
          <p:nvPr/>
        </p:nvSpPr>
        <p:spPr>
          <a:xfrm>
            <a:off x="21995765" y="22603968"/>
            <a:ext cx="9580562" cy="157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2C3E50"/>
                </a:solidFill>
              </a:rPr>
              <a:t>השיטה</a:t>
            </a:r>
            <a:r>
              <a:rPr sz="2000" b="0" i="0" dirty="0">
                <a:solidFill>
                  <a:srgbClr val="2C3E50"/>
                </a:solidFill>
              </a:rPr>
              <a:t> </a:t>
            </a:r>
            <a:r>
              <a:rPr sz="2000" b="0" i="0" dirty="0" err="1">
                <a:solidFill>
                  <a:srgbClr val="2C3E50"/>
                </a:solidFill>
              </a:rPr>
              <a:t>הטובה</a:t>
            </a:r>
            <a:r>
              <a:rPr sz="2000" b="0" i="0" dirty="0">
                <a:solidFill>
                  <a:srgbClr val="2C3E50"/>
                </a:solidFill>
              </a:rPr>
              <a:t> </a:t>
            </a:r>
            <a:r>
              <a:rPr sz="2000" b="0" i="0" dirty="0" err="1">
                <a:solidFill>
                  <a:srgbClr val="2C3E50"/>
                </a:solidFill>
              </a:rPr>
              <a:t>ביותר</a:t>
            </a:r>
            <a:r>
              <a:rPr sz="2000" b="0" i="0" dirty="0">
                <a:solidFill>
                  <a:srgbClr val="2C3E50"/>
                </a:solidFill>
              </a:rPr>
              <a:t> — 1.59× lift ב-RA </a:t>
            </a:r>
            <a:r>
              <a:rPr sz="2000" b="0" i="0" dirty="0" err="1">
                <a:solidFill>
                  <a:srgbClr val="2C3E50"/>
                </a:solidFill>
              </a:rPr>
              <a:t>עם</a:t>
            </a:r>
            <a:r>
              <a:rPr sz="2000" b="0" i="0" dirty="0">
                <a:solidFill>
                  <a:srgbClr val="2C3E50"/>
                </a:solidFill>
              </a:rPr>
              <a:t> 4 features ו-34 ops. </a:t>
            </a:r>
            <a:r>
              <a:rPr sz="2000" b="0" i="0" dirty="0" err="1">
                <a:solidFill>
                  <a:srgbClr val="2C3E50"/>
                </a:solidFill>
              </a:rPr>
              <a:t>מגלה</a:t>
            </a:r>
            <a:r>
              <a:rPr sz="2000" b="0" i="0" dirty="0">
                <a:solidFill>
                  <a:srgbClr val="2C3E50"/>
                </a:solidFill>
              </a:rPr>
              <a:t> </a:t>
            </a:r>
            <a:r>
              <a:rPr sz="2000" b="0" i="0" dirty="0" err="1">
                <a:solidFill>
                  <a:srgbClr val="2C3E50"/>
                </a:solidFill>
              </a:rPr>
              <a:t>אינטראקציות</a:t>
            </a:r>
            <a:r>
              <a:rPr sz="2000" b="0" i="0" dirty="0">
                <a:solidFill>
                  <a:srgbClr val="2C3E50"/>
                </a:solidFill>
              </a:rPr>
              <a:t> (</a:t>
            </a:r>
            <a:r>
              <a:rPr sz="2000" b="0" i="0" dirty="0" err="1">
                <a:solidFill>
                  <a:srgbClr val="2C3E50"/>
                </a:solidFill>
              </a:rPr>
              <a:t>mono_pct</a:t>
            </a:r>
            <a:r>
              <a:rPr sz="2000" b="0" i="0" dirty="0">
                <a:solidFill>
                  <a:srgbClr val="2C3E50"/>
                </a:solidFill>
              </a:rPr>
              <a:t>/</a:t>
            </a:r>
            <a:r>
              <a:rPr sz="2000" b="0" i="0" dirty="0" err="1">
                <a:solidFill>
                  <a:srgbClr val="2C3E50"/>
                </a:solidFill>
              </a:rPr>
              <a:t>neut_pct</a:t>
            </a:r>
            <a:r>
              <a:rPr sz="2000" b="0" i="0" dirty="0">
                <a:solidFill>
                  <a:srgbClr val="2C3E50"/>
                </a:solidFill>
              </a:rPr>
              <a:t>) </a:t>
            </a:r>
            <a:r>
              <a:rPr sz="2000" b="0" i="0" dirty="0" err="1">
                <a:solidFill>
                  <a:srgbClr val="2C3E50"/>
                </a:solidFill>
              </a:rPr>
              <a:t>שה</a:t>
            </a:r>
            <a:r>
              <a:rPr sz="2000" b="0" i="0" dirty="0">
                <a:solidFill>
                  <a:srgbClr val="2C3E50"/>
                </a:solidFill>
              </a:rPr>
              <a:t>-LLM </a:t>
            </a:r>
            <a:r>
              <a:rPr sz="2000" b="0" i="0" dirty="0" err="1">
                <a:solidFill>
                  <a:srgbClr val="2C3E50"/>
                </a:solidFill>
              </a:rPr>
              <a:t>לא</a:t>
            </a:r>
            <a:r>
              <a:rPr sz="2000" b="0" i="0" dirty="0">
                <a:solidFill>
                  <a:srgbClr val="2C3E50"/>
                </a:solidFill>
              </a:rPr>
              <a:t> </a:t>
            </a:r>
            <a:r>
              <a:rPr sz="2000" b="0" i="0" dirty="0" err="1">
                <a:solidFill>
                  <a:srgbClr val="2C3E50"/>
                </a:solidFill>
              </a:rPr>
              <a:t>מצא</a:t>
            </a:r>
            <a:r>
              <a:rPr sz="2000" b="0" i="0" dirty="0">
                <a:solidFill>
                  <a:srgbClr val="2C3E50"/>
                </a:solidFill>
              </a:rPr>
              <a:t>.</a:t>
            </a:r>
          </a:p>
        </p:txBody>
      </p:sp>
      <p:sp>
        <p:nvSpPr>
          <p:cNvPr id="14789" name="Rectangle 14788"/>
          <p:cNvSpPr/>
          <p:nvPr/>
        </p:nvSpPr>
        <p:spPr>
          <a:xfrm>
            <a:off x="21858605" y="24483060"/>
            <a:ext cx="9854882" cy="2354579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90" name="TextBox 14789"/>
          <p:cNvSpPr txBox="1"/>
          <p:nvPr/>
        </p:nvSpPr>
        <p:spPr>
          <a:xfrm>
            <a:off x="31073408" y="245745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⚡</a:t>
            </a:r>
          </a:p>
        </p:txBody>
      </p:sp>
      <p:sp>
        <p:nvSpPr>
          <p:cNvPr id="14791" name="TextBox 14790"/>
          <p:cNvSpPr txBox="1"/>
          <p:nvPr/>
        </p:nvSpPr>
        <p:spPr>
          <a:xfrm>
            <a:off x="21995765" y="2459278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1A7A8A"/>
                </a:solidFill>
              </a:rPr>
              <a:t>LLM (Med-Gemma 4B)</a:t>
            </a:r>
          </a:p>
        </p:txBody>
      </p:sp>
      <p:sp>
        <p:nvSpPr>
          <p:cNvPr id="14792" name="TextBox 14791"/>
          <p:cNvSpPr txBox="1"/>
          <p:nvPr/>
        </p:nvSpPr>
        <p:spPr>
          <a:xfrm>
            <a:off x="21995765" y="25141427"/>
            <a:ext cx="9580562" cy="157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(hct−hgb)/(plt+0.01) — 3 features, 2 ops, lift 1.45×. ידע רפואי מייצר נוסחאות פשוטות ויעילות.</a:t>
            </a:r>
          </a:p>
        </p:txBody>
      </p:sp>
      <p:sp>
        <p:nvSpPr>
          <p:cNvPr id="14793" name="Rectangle 14792"/>
          <p:cNvSpPr/>
          <p:nvPr/>
        </p:nvSpPr>
        <p:spPr>
          <a:xfrm>
            <a:off x="21858605" y="27020520"/>
            <a:ext cx="9854882" cy="2354579"/>
          </a:xfrm>
          <a:prstGeom prst="rect">
            <a:avLst/>
          </a:prstGeom>
          <a:solidFill>
            <a:srgbClr val="F0F3F4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94" name="TextBox 14793"/>
          <p:cNvSpPr txBox="1"/>
          <p:nvPr/>
        </p:nvSpPr>
        <p:spPr>
          <a:xfrm>
            <a:off x="31073408" y="27111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14795" name="TextBox 14794"/>
          <p:cNvSpPr txBox="1"/>
          <p:nvPr/>
        </p:nvSpPr>
        <p:spPr>
          <a:xfrm>
            <a:off x="21995765" y="2713024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2C3E50"/>
                </a:solidFill>
              </a:rPr>
              <a:t>הפריימוורק עובד</a:t>
            </a:r>
          </a:p>
        </p:txBody>
      </p:sp>
      <p:sp>
        <p:nvSpPr>
          <p:cNvPr id="14796" name="TextBox 14795"/>
          <p:cNvSpPr txBox="1"/>
          <p:nvPr/>
        </p:nvSpPr>
        <p:spPr>
          <a:xfrm>
            <a:off x="21995765" y="27678888"/>
            <a:ext cx="9580562" cy="157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השוואה הוגנת: אותם נתונים, split ומטריקות לכל 4 שיטות. כל שיטה חושפת היבט שונה של המרחב.</a:t>
            </a:r>
          </a:p>
        </p:txBody>
      </p:sp>
      <p:sp>
        <p:nvSpPr>
          <p:cNvPr id="14797" name="Rectangle 14796"/>
          <p:cNvSpPr/>
          <p:nvPr/>
        </p:nvSpPr>
        <p:spPr>
          <a:xfrm>
            <a:off x="21858605" y="29557980"/>
            <a:ext cx="9854882" cy="2354579"/>
          </a:xfrm>
          <a:prstGeom prst="rect">
            <a:avLst/>
          </a:prstGeom>
          <a:solidFill>
            <a:srgbClr val="F0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98" name="TextBox 14797"/>
          <p:cNvSpPr txBox="1"/>
          <p:nvPr/>
        </p:nvSpPr>
        <p:spPr>
          <a:xfrm>
            <a:off x="31073408" y="296494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C3E50"/>
                </a:solidFill>
              </a:rPr>
              <a:t>⚠</a:t>
            </a:r>
          </a:p>
        </p:txBody>
      </p:sp>
      <p:sp>
        <p:nvSpPr>
          <p:cNvPr id="14799" name="TextBox 14798"/>
          <p:cNvSpPr txBox="1"/>
          <p:nvPr/>
        </p:nvSpPr>
        <p:spPr>
          <a:xfrm>
            <a:off x="21995765" y="29667708"/>
            <a:ext cx="903192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7F8C8D"/>
                </a:solidFill>
              </a:rPr>
              <a:t>מגבלות</a:t>
            </a:r>
          </a:p>
        </p:txBody>
      </p:sp>
      <p:sp>
        <p:nvSpPr>
          <p:cNvPr id="14800" name="TextBox 14799"/>
          <p:cNvSpPr txBox="1"/>
          <p:nvPr/>
        </p:nvSpPr>
        <p:spPr>
          <a:xfrm>
            <a:off x="21995765" y="30216348"/>
            <a:ext cx="9580562" cy="157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CI רחב בשל test set קטן (~300 cases). הפרשים בין שיטות אינם מובהקים סטטיסטית.</a:t>
            </a:r>
          </a:p>
        </p:txBody>
      </p:sp>
      <p:sp>
        <p:nvSpPr>
          <p:cNvPr id="14801" name="Rectangle 14800"/>
          <p:cNvSpPr/>
          <p:nvPr/>
        </p:nvSpPr>
        <p:spPr>
          <a:xfrm>
            <a:off x="21675725" y="32598360"/>
            <a:ext cx="10220642" cy="9601200"/>
          </a:xfrm>
          <a:prstGeom prst="rect">
            <a:avLst/>
          </a:prstGeom>
          <a:solidFill>
            <a:srgbClr val="F0F3F4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02" name="Rectangle 14801"/>
          <p:cNvSpPr/>
          <p:nvPr/>
        </p:nvSpPr>
        <p:spPr>
          <a:xfrm>
            <a:off x="21675725" y="32598360"/>
            <a:ext cx="10220642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ולידציה חיצונית והמשך מחקר</a:t>
            </a:r>
          </a:p>
        </p:txBody>
      </p:sp>
      <p:sp>
        <p:nvSpPr>
          <p:cNvPr id="14803" name="Rectangle 14802"/>
          <p:cNvSpPr/>
          <p:nvPr/>
        </p:nvSpPr>
        <p:spPr>
          <a:xfrm>
            <a:off x="21858605" y="33284160"/>
            <a:ext cx="985488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04" name="TextBox 14803"/>
          <p:cNvSpPr txBox="1"/>
          <p:nvPr/>
        </p:nvSpPr>
        <p:spPr>
          <a:xfrm>
            <a:off x="21904325" y="33357311"/>
            <a:ext cx="976344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FFFFFF"/>
                </a:solidFill>
              </a:rPr>
              <a:t>ולידציה חיצונית: EHRSHOT (Stanford) + NHANES</a:t>
            </a:r>
          </a:p>
        </p:txBody>
      </p:sp>
      <p:sp>
        <p:nvSpPr>
          <p:cNvPr id="14805" name="Rectangle 14804"/>
          <p:cNvSpPr/>
          <p:nvPr/>
        </p:nvSpPr>
        <p:spPr>
          <a:xfrm>
            <a:off x="21858605" y="34033968"/>
            <a:ext cx="109728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06" name="TextBox 14805"/>
          <p:cNvSpPr txBox="1"/>
          <p:nvPr/>
        </p:nvSpPr>
        <p:spPr>
          <a:xfrm>
            <a:off x="22059773" y="33924240"/>
            <a:ext cx="965371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GP מחזיק ביצועים ב-EHRSHOT: RA 1.59× → 2.46× (שיפור!)</a:t>
            </a:r>
          </a:p>
        </p:txBody>
      </p:sp>
      <p:sp>
        <p:nvSpPr>
          <p:cNvPr id="14807" name="Rectangle 14806"/>
          <p:cNvSpPr/>
          <p:nvPr/>
        </p:nvSpPr>
        <p:spPr>
          <a:xfrm>
            <a:off x="21858605" y="34948368"/>
            <a:ext cx="109728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08" name="TextBox 14807"/>
          <p:cNvSpPr txBox="1"/>
          <p:nvPr/>
        </p:nvSpPr>
        <p:spPr>
          <a:xfrm>
            <a:off x="22059773" y="34838640"/>
            <a:ext cx="965371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LLM overfits: Lupus 3.70× (MIMIC) → 1.76× (EHRSHOT)</a:t>
            </a:r>
          </a:p>
        </p:txBody>
      </p:sp>
      <p:sp>
        <p:nvSpPr>
          <p:cNvPr id="14809" name="Rectangle 14808"/>
          <p:cNvSpPr/>
          <p:nvPr/>
        </p:nvSpPr>
        <p:spPr>
          <a:xfrm>
            <a:off x="21858605" y="35862768"/>
            <a:ext cx="109728" cy="5029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10" name="TextBox 14809"/>
          <p:cNvSpPr txBox="1"/>
          <p:nvPr/>
        </p:nvSpPr>
        <p:spPr>
          <a:xfrm>
            <a:off x="22059773" y="35753040"/>
            <a:ext cx="965371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 dirty="0">
                <a:solidFill>
                  <a:srgbClr val="2C3E50"/>
                </a:solidFill>
              </a:rPr>
              <a:t>NHANES: AUC-PR </a:t>
            </a:r>
            <a:r>
              <a:rPr sz="1800" b="0" i="0" dirty="0" err="1">
                <a:solidFill>
                  <a:srgbClr val="2C3E50"/>
                </a:solidFill>
              </a:rPr>
              <a:t>גולמי</a:t>
            </a:r>
            <a:r>
              <a:rPr sz="1800" b="0" i="0" dirty="0">
                <a:solidFill>
                  <a:srgbClr val="2C3E50"/>
                </a:solidFill>
              </a:rPr>
              <a:t> ל-RA + Psoriasis (Lift </a:t>
            </a:r>
            <a:r>
              <a:rPr sz="1800" b="0" i="0" dirty="0" err="1">
                <a:solidFill>
                  <a:srgbClr val="2C3E50"/>
                </a:solidFill>
              </a:rPr>
              <a:t>חסר</a:t>
            </a:r>
            <a:r>
              <a:rPr sz="1800" b="0" i="0" dirty="0">
                <a:solidFill>
                  <a:srgbClr val="2C3E50"/>
                </a:solidFill>
              </a:rPr>
              <a:t>)</a:t>
            </a:r>
          </a:p>
        </p:txBody>
      </p:sp>
      <p:sp>
        <p:nvSpPr>
          <p:cNvPr id="14811" name="Rectangle 14810"/>
          <p:cNvSpPr/>
          <p:nvPr/>
        </p:nvSpPr>
        <p:spPr>
          <a:xfrm>
            <a:off x="21858605" y="36804600"/>
            <a:ext cx="985488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12" name="TextBox 14811"/>
          <p:cNvSpPr txBox="1"/>
          <p:nvPr/>
        </p:nvSpPr>
        <p:spPr>
          <a:xfrm>
            <a:off x="21904325" y="36859464"/>
            <a:ext cx="976344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FFFFFF"/>
                </a:solidFill>
              </a:rPr>
              <a:t>🔭  המשך מחקר</a:t>
            </a:r>
          </a:p>
        </p:txBody>
      </p:sp>
      <p:sp>
        <p:nvSpPr>
          <p:cNvPr id="14813" name="Rectangle 14812"/>
          <p:cNvSpPr/>
          <p:nvPr/>
        </p:nvSpPr>
        <p:spPr>
          <a:xfrm>
            <a:off x="21858605" y="37353240"/>
            <a:ext cx="9854882" cy="1017269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14" name="TextBox 14813"/>
          <p:cNvSpPr txBox="1"/>
          <p:nvPr/>
        </p:nvSpPr>
        <p:spPr>
          <a:xfrm>
            <a:off x="21950045" y="37398960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Nested Cross-Validation</a:t>
            </a:r>
          </a:p>
        </p:txBody>
      </p:sp>
      <p:sp>
        <p:nvSpPr>
          <p:cNvPr id="14815" name="TextBox 14814"/>
          <p:cNvSpPr txBox="1"/>
          <p:nvPr/>
        </p:nvSpPr>
        <p:spPr>
          <a:xfrm>
            <a:off x="21950045" y="37764720"/>
            <a:ext cx="9672002" cy="56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החלפת train/test קבוע ב-5-fold stratified CV</a:t>
            </a:r>
          </a:p>
        </p:txBody>
      </p:sp>
      <p:sp>
        <p:nvSpPr>
          <p:cNvPr id="14816" name="Rectangle 14815"/>
          <p:cNvSpPr/>
          <p:nvPr/>
        </p:nvSpPr>
        <p:spPr>
          <a:xfrm>
            <a:off x="21858605" y="38535102"/>
            <a:ext cx="9854882" cy="1017269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17" name="TextBox 14816"/>
          <p:cNvSpPr txBox="1"/>
          <p:nvPr/>
        </p:nvSpPr>
        <p:spPr>
          <a:xfrm>
            <a:off x="21950045" y="38580821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Seeded GP מכל המחלות</a:t>
            </a:r>
          </a:p>
        </p:txBody>
      </p:sp>
      <p:sp>
        <p:nvSpPr>
          <p:cNvPr id="14818" name="TextBox 14817"/>
          <p:cNvSpPr txBox="1"/>
          <p:nvPr/>
        </p:nvSpPr>
        <p:spPr>
          <a:xfrm>
            <a:off x="21950045" y="38946582"/>
            <a:ext cx="9672002" cy="56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שימוש בנוסחאות LLM כאתחול לאוכלוסיית GP</a:t>
            </a:r>
          </a:p>
        </p:txBody>
      </p:sp>
      <p:sp>
        <p:nvSpPr>
          <p:cNvPr id="14819" name="Rectangle 14818"/>
          <p:cNvSpPr/>
          <p:nvPr/>
        </p:nvSpPr>
        <p:spPr>
          <a:xfrm>
            <a:off x="21858605" y="39716964"/>
            <a:ext cx="9854882" cy="1017269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20" name="TextBox 14819"/>
          <p:cNvSpPr txBox="1"/>
          <p:nvPr/>
        </p:nvSpPr>
        <p:spPr>
          <a:xfrm>
            <a:off x="21950045" y="39762684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Cross-method equivalence</a:t>
            </a:r>
          </a:p>
        </p:txBody>
      </p:sp>
      <p:sp>
        <p:nvSpPr>
          <p:cNvPr id="14821" name="TextBox 14820"/>
          <p:cNvSpPr txBox="1"/>
          <p:nvPr/>
        </p:nvSpPr>
        <p:spPr>
          <a:xfrm>
            <a:off x="21950045" y="40128444"/>
            <a:ext cx="9672002" cy="56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Pearson correlation בין score vectors של שיטות שונות</a:t>
            </a:r>
          </a:p>
        </p:txBody>
      </p:sp>
      <p:sp>
        <p:nvSpPr>
          <p:cNvPr id="14822" name="Rectangle 14821"/>
          <p:cNvSpPr/>
          <p:nvPr/>
        </p:nvSpPr>
        <p:spPr>
          <a:xfrm>
            <a:off x="21858605" y="40898826"/>
            <a:ext cx="9854882" cy="1017269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23" name="TextBox 14822"/>
          <p:cNvSpPr txBox="1"/>
          <p:nvPr/>
        </p:nvSpPr>
        <p:spPr>
          <a:xfrm>
            <a:off x="21950045" y="40944546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הרחבה למחלות נוספות</a:t>
            </a:r>
          </a:p>
        </p:txBody>
      </p:sp>
      <p:sp>
        <p:nvSpPr>
          <p:cNvPr id="14824" name="TextBox 14823"/>
          <p:cNvSpPr txBox="1"/>
          <p:nvPr/>
        </p:nvSpPr>
        <p:spPr>
          <a:xfrm>
            <a:off x="21950045" y="41310306"/>
            <a:ext cx="9672002" cy="56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הפריימוורק agnostic — ICD code + CBC data מספיקים</a:t>
            </a:r>
          </a:p>
        </p:txBody>
      </p:sp>
      <p:sp>
        <p:nvSpPr>
          <p:cNvPr id="14825" name="Rectangle 14824"/>
          <p:cNvSpPr/>
          <p:nvPr/>
        </p:nvSpPr>
        <p:spPr>
          <a:xfrm>
            <a:off x="0" y="42245280"/>
            <a:ext cx="32399288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27" name="Rectangle 14826"/>
          <p:cNvSpPr/>
          <p:nvPr/>
        </p:nvSpPr>
        <p:spPr>
          <a:xfrm>
            <a:off x="502920" y="6720840"/>
            <a:ext cx="10220642" cy="11704320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28" name="Rectangle 14827"/>
          <p:cNvSpPr/>
          <p:nvPr/>
        </p:nvSpPr>
        <p:spPr>
          <a:xfrm>
            <a:off x="502920" y="672084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מוטיבציה ורקע</a:t>
            </a:r>
          </a:p>
        </p:txBody>
      </p:sp>
      <p:sp>
        <p:nvSpPr>
          <p:cNvPr id="14829" name="Rectangle 14828"/>
          <p:cNvSpPr/>
          <p:nvPr/>
        </p:nvSpPr>
        <p:spPr>
          <a:xfrm>
            <a:off x="685800" y="7406640"/>
            <a:ext cx="9854882" cy="3383280"/>
          </a:xfrm>
          <a:prstGeom prst="rect">
            <a:avLst/>
          </a:prstGeom>
          <a:solidFill>
            <a:srgbClr val="FDEBD7"/>
          </a:solidFill>
          <a:ln w="1270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30" name="TextBox 14829"/>
          <p:cNvSpPr txBox="1"/>
          <p:nvPr/>
        </p:nvSpPr>
        <p:spPr>
          <a:xfrm>
            <a:off x="9854882" y="749807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⚠</a:t>
            </a:r>
          </a:p>
        </p:txBody>
      </p:sp>
      <p:sp>
        <p:nvSpPr>
          <p:cNvPr id="14831" name="TextBox 14830"/>
          <p:cNvSpPr txBox="1"/>
          <p:nvPr/>
        </p:nvSpPr>
        <p:spPr>
          <a:xfrm>
            <a:off x="822960" y="7516367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E8773D"/>
                </a:solidFill>
              </a:rPr>
              <a:t>האתגר</a:t>
            </a:r>
          </a:p>
        </p:txBody>
      </p:sp>
      <p:sp>
        <p:nvSpPr>
          <p:cNvPr id="14832" name="TextBox 14831"/>
          <p:cNvSpPr txBox="1"/>
          <p:nvPr/>
        </p:nvSpPr>
        <p:spPr>
          <a:xfrm>
            <a:off x="822960" y="8046719"/>
            <a:ext cx="958056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אבחון מחלות אוטואימוניות (זאבת, קרוהן, RA, סוכרת, פסוריאזיס) מסתמך על בדיקות יקרות, מורכבות ומאוחרות.</a:t>
            </a:r>
          </a:p>
        </p:txBody>
      </p:sp>
      <p:sp>
        <p:nvSpPr>
          <p:cNvPr id="14833" name="Rectangle 14832"/>
          <p:cNvSpPr/>
          <p:nvPr/>
        </p:nvSpPr>
        <p:spPr>
          <a:xfrm>
            <a:off x="685800" y="10972800"/>
            <a:ext cx="9854882" cy="3383280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34" name="TextBox 14833"/>
          <p:cNvSpPr txBox="1"/>
          <p:nvPr/>
        </p:nvSpPr>
        <p:spPr>
          <a:xfrm>
            <a:off x="9854882" y="11064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💡</a:t>
            </a:r>
          </a:p>
        </p:txBody>
      </p:sp>
      <p:sp>
        <p:nvSpPr>
          <p:cNvPr id="14835" name="TextBox 14834"/>
          <p:cNvSpPr txBox="1"/>
          <p:nvPr/>
        </p:nvSpPr>
        <p:spPr>
          <a:xfrm>
            <a:off x="822960" y="11082528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1A7A8A"/>
                </a:solidFill>
              </a:rPr>
              <a:t>ההזדמנות</a:t>
            </a:r>
          </a:p>
        </p:txBody>
      </p:sp>
      <p:sp>
        <p:nvSpPr>
          <p:cNvPr id="14836" name="TextBox 14835"/>
          <p:cNvSpPr txBox="1"/>
          <p:nvPr/>
        </p:nvSpPr>
        <p:spPr>
          <a:xfrm>
            <a:off x="822960" y="11612880"/>
            <a:ext cx="958056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ספירת דם מלאה (CBC) היא בדיקה זולה, שגרתית וזמינה בכל מפגש רפואי — אך הפוטנציאל שלה כביומרקר אבחנתי טרם מוצה.</a:t>
            </a:r>
          </a:p>
        </p:txBody>
      </p:sp>
      <p:sp>
        <p:nvSpPr>
          <p:cNvPr id="14837" name="Rectangle 14836"/>
          <p:cNvSpPr/>
          <p:nvPr/>
        </p:nvSpPr>
        <p:spPr>
          <a:xfrm>
            <a:off x="685800" y="14538959"/>
            <a:ext cx="9854882" cy="3383280"/>
          </a:xfrm>
          <a:prstGeom prst="rect">
            <a:avLst/>
          </a:prstGeom>
          <a:solidFill>
            <a:srgbClr val="F0F3F4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38" name="TextBox 14837"/>
          <p:cNvSpPr txBox="1"/>
          <p:nvPr/>
        </p:nvSpPr>
        <p:spPr>
          <a:xfrm>
            <a:off x="9854882" y="1463039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🔬</a:t>
            </a:r>
          </a:p>
        </p:txBody>
      </p:sp>
      <p:sp>
        <p:nvSpPr>
          <p:cNvPr id="14839" name="TextBox 14838"/>
          <p:cNvSpPr txBox="1"/>
          <p:nvPr/>
        </p:nvSpPr>
        <p:spPr>
          <a:xfrm>
            <a:off x="822960" y="14648688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2C3E50"/>
                </a:solidFill>
              </a:rPr>
              <a:t>החזון</a:t>
            </a:r>
          </a:p>
        </p:txBody>
      </p:sp>
      <p:sp>
        <p:nvSpPr>
          <p:cNvPr id="14840" name="TextBox 14839"/>
          <p:cNvSpPr txBox="1"/>
          <p:nvPr/>
        </p:nvSpPr>
        <p:spPr>
          <a:xfrm>
            <a:off x="822960" y="15179039"/>
            <a:ext cx="958056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מחקר זה בוחן האם ניתן לגזור נוסחאות מתמטיות פשוטות מערכי CBC לצורך חיזוי ואבחון מוקדם של 6 מחלות.</a:t>
            </a:r>
          </a:p>
        </p:txBody>
      </p:sp>
      <p:sp>
        <p:nvSpPr>
          <p:cNvPr id="14841" name="Rectangle 14840"/>
          <p:cNvSpPr/>
          <p:nvPr/>
        </p:nvSpPr>
        <p:spPr>
          <a:xfrm>
            <a:off x="502920" y="18790919"/>
            <a:ext cx="10220642" cy="9601200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42" name="Rectangle 14841"/>
          <p:cNvSpPr/>
          <p:nvPr/>
        </p:nvSpPr>
        <p:spPr>
          <a:xfrm>
            <a:off x="502920" y="18790919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הגדרת הבעיה</a:t>
            </a:r>
          </a:p>
        </p:txBody>
      </p:sp>
      <p:sp>
        <p:nvSpPr>
          <p:cNvPr id="14843" name="Rectangle 14842"/>
          <p:cNvSpPr/>
          <p:nvPr/>
        </p:nvSpPr>
        <p:spPr>
          <a:xfrm>
            <a:off x="685800" y="19522439"/>
            <a:ext cx="9854882" cy="1600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44" name="TextBox 14843"/>
          <p:cNvSpPr txBox="1"/>
          <p:nvPr/>
        </p:nvSpPr>
        <p:spPr>
          <a:xfrm>
            <a:off x="758952" y="19632168"/>
            <a:ext cx="970857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FFFFFF"/>
                </a:solidFill>
              </a:rPr>
              <a:t>שאלת המחקר: איזו שיטה לייצור נוסחאות מניבה את המודל המיטבי — וכיצד להשוות ביניהן בצורה הוגנת ומבוקרת?</a:t>
            </a:r>
          </a:p>
        </p:txBody>
      </p:sp>
      <p:sp>
        <p:nvSpPr>
          <p:cNvPr id="14845" name="Rectangle 14844"/>
          <p:cNvSpPr/>
          <p:nvPr/>
        </p:nvSpPr>
        <p:spPr>
          <a:xfrm>
            <a:off x="685800" y="21305519"/>
            <a:ext cx="9854882" cy="14173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46" name="TextBox 14845"/>
          <p:cNvSpPr txBox="1"/>
          <p:nvPr/>
        </p:nvSpPr>
        <p:spPr>
          <a:xfrm>
            <a:off x="795528" y="2139696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קלט</a:t>
            </a:r>
          </a:p>
        </p:txBody>
      </p:sp>
      <p:sp>
        <p:nvSpPr>
          <p:cNvPr id="14847" name="TextBox 14846"/>
          <p:cNvSpPr txBox="1"/>
          <p:nvPr/>
        </p:nvSpPr>
        <p:spPr>
          <a:xfrm>
            <a:off x="2377440" y="21396960"/>
            <a:ext cx="805351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14 מאפיינים מ-CBC: ספירת תאים + אחוזי ד"ל</a:t>
            </a:r>
          </a:p>
        </p:txBody>
      </p:sp>
      <p:sp>
        <p:nvSpPr>
          <p:cNvPr id="14848" name="Rectangle 14847"/>
          <p:cNvSpPr/>
          <p:nvPr/>
        </p:nvSpPr>
        <p:spPr>
          <a:xfrm>
            <a:off x="685800" y="22814279"/>
            <a:ext cx="9854882" cy="14173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49" name="TextBox 14848"/>
          <p:cNvSpPr txBox="1"/>
          <p:nvPr/>
        </p:nvSpPr>
        <p:spPr>
          <a:xfrm>
            <a:off x="795528" y="22905719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יעד</a:t>
            </a:r>
          </a:p>
        </p:txBody>
      </p:sp>
      <p:sp>
        <p:nvSpPr>
          <p:cNvPr id="14850" name="TextBox 14849"/>
          <p:cNvSpPr txBox="1"/>
          <p:nvPr/>
        </p:nvSpPr>
        <p:spPr>
          <a:xfrm>
            <a:off x="2377440" y="22905719"/>
            <a:ext cx="805351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נוסחה פשוטה מ-≤5 מאפיינים, שקולה ל-LR עם כל הנתונים</a:t>
            </a:r>
          </a:p>
        </p:txBody>
      </p:sp>
      <p:sp>
        <p:nvSpPr>
          <p:cNvPr id="14851" name="Rectangle 14850"/>
          <p:cNvSpPr/>
          <p:nvPr/>
        </p:nvSpPr>
        <p:spPr>
          <a:xfrm>
            <a:off x="685800" y="24323039"/>
            <a:ext cx="9854882" cy="1417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52" name="TextBox 14851"/>
          <p:cNvSpPr txBox="1"/>
          <p:nvPr/>
        </p:nvSpPr>
        <p:spPr>
          <a:xfrm>
            <a:off x="795528" y="2441448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מחלות</a:t>
            </a:r>
          </a:p>
        </p:txBody>
      </p:sp>
      <p:sp>
        <p:nvSpPr>
          <p:cNvPr id="14853" name="TextBox 14852"/>
          <p:cNvSpPr txBox="1"/>
          <p:nvPr/>
        </p:nvSpPr>
        <p:spPr>
          <a:xfrm>
            <a:off x="2377440" y="24414480"/>
            <a:ext cx="805351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RA · קרוהן · T1D · T2D · פסוריאזיס · זאבת (6)</a:t>
            </a:r>
          </a:p>
        </p:txBody>
      </p:sp>
      <p:sp>
        <p:nvSpPr>
          <p:cNvPr id="14854" name="Rectangle 14853"/>
          <p:cNvSpPr/>
          <p:nvPr/>
        </p:nvSpPr>
        <p:spPr>
          <a:xfrm>
            <a:off x="685800" y="25831799"/>
            <a:ext cx="9854882" cy="14173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55" name="TextBox 14854"/>
          <p:cNvSpPr txBox="1"/>
          <p:nvPr/>
        </p:nvSpPr>
        <p:spPr>
          <a:xfrm>
            <a:off x="795528" y="25923239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נתונים</a:t>
            </a:r>
          </a:p>
        </p:txBody>
      </p:sp>
      <p:sp>
        <p:nvSpPr>
          <p:cNvPr id="14856" name="TextBox 14855"/>
          <p:cNvSpPr txBox="1"/>
          <p:nvPr/>
        </p:nvSpPr>
        <p:spPr>
          <a:xfrm>
            <a:off x="2377440" y="25923239"/>
            <a:ext cx="805351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MIMIC-IV v3.1  |  BigQuery  |  split 80/20 קבוע</a:t>
            </a:r>
          </a:p>
        </p:txBody>
      </p:sp>
      <p:sp>
        <p:nvSpPr>
          <p:cNvPr id="14857" name="Rectangle 14856"/>
          <p:cNvSpPr/>
          <p:nvPr/>
        </p:nvSpPr>
        <p:spPr>
          <a:xfrm>
            <a:off x="502920" y="28757879"/>
            <a:ext cx="10220642" cy="13487400"/>
          </a:xfrm>
          <a:prstGeom prst="rect">
            <a:avLst/>
          </a:prstGeom>
          <a:solidFill>
            <a:srgbClr val="F0F3F4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58" name="Rectangle 14857"/>
          <p:cNvSpPr/>
          <p:nvPr/>
        </p:nvSpPr>
        <p:spPr>
          <a:xfrm>
            <a:off x="502920" y="28757879"/>
            <a:ext cx="10220642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נתונים ומטריקות</a:t>
            </a:r>
          </a:p>
        </p:txBody>
      </p:sp>
      <p:sp>
        <p:nvSpPr>
          <p:cNvPr id="14859" name="Rectangle 14858"/>
          <p:cNvSpPr/>
          <p:nvPr/>
        </p:nvSpPr>
        <p:spPr>
          <a:xfrm>
            <a:off x="685800" y="29425392"/>
            <a:ext cx="9854882" cy="3067812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60" name="TextBox 14859"/>
          <p:cNvSpPr txBox="1"/>
          <p:nvPr/>
        </p:nvSpPr>
        <p:spPr>
          <a:xfrm>
            <a:off x="758952" y="29498544"/>
            <a:ext cx="97085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מטריקה ראשית</a:t>
            </a:r>
          </a:p>
        </p:txBody>
      </p:sp>
      <p:sp>
        <p:nvSpPr>
          <p:cNvPr id="14861" name="TextBox 14860"/>
          <p:cNvSpPr txBox="1"/>
          <p:nvPr/>
        </p:nvSpPr>
        <p:spPr>
          <a:xfrm>
            <a:off x="758952" y="29864303"/>
            <a:ext cx="97085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FFFFFF"/>
                </a:solidFill>
              </a:rPr>
              <a:t>AUC-PR Lift</a:t>
            </a:r>
          </a:p>
        </p:txBody>
      </p:sp>
      <p:sp>
        <p:nvSpPr>
          <p:cNvPr id="14862" name="TextBox 14861"/>
          <p:cNvSpPr txBox="1"/>
          <p:nvPr/>
        </p:nvSpPr>
        <p:spPr>
          <a:xfrm>
            <a:off x="758952" y="30339792"/>
            <a:ext cx="9708578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AUC-PR / prevalence  (class imbalance ~1%)</a:t>
            </a:r>
          </a:p>
        </p:txBody>
      </p:sp>
      <p:sp>
        <p:nvSpPr>
          <p:cNvPr id="14863" name="Rectangle 14862"/>
          <p:cNvSpPr/>
          <p:nvPr/>
        </p:nvSpPr>
        <p:spPr>
          <a:xfrm>
            <a:off x="685800" y="32602932"/>
            <a:ext cx="9854882" cy="306781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64" name="TextBox 14863"/>
          <p:cNvSpPr txBox="1"/>
          <p:nvPr/>
        </p:nvSpPr>
        <p:spPr>
          <a:xfrm>
            <a:off x="758952" y="32676084"/>
            <a:ext cx="97085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מטריקה משנית</a:t>
            </a:r>
          </a:p>
        </p:txBody>
      </p:sp>
      <p:sp>
        <p:nvSpPr>
          <p:cNvPr id="14865" name="TextBox 14864"/>
          <p:cNvSpPr txBox="1"/>
          <p:nvPr/>
        </p:nvSpPr>
        <p:spPr>
          <a:xfrm>
            <a:off x="758952" y="33041844"/>
            <a:ext cx="97085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4866" name="TextBox 14865"/>
          <p:cNvSpPr txBox="1"/>
          <p:nvPr/>
        </p:nvSpPr>
        <p:spPr>
          <a:xfrm>
            <a:off x="758952" y="33517332"/>
            <a:ext cx="9708578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רגישות + ספציפיות</a:t>
            </a:r>
          </a:p>
        </p:txBody>
      </p:sp>
      <p:sp>
        <p:nvSpPr>
          <p:cNvPr id="14867" name="Rectangle 14866"/>
          <p:cNvSpPr/>
          <p:nvPr/>
        </p:nvSpPr>
        <p:spPr>
          <a:xfrm>
            <a:off x="685800" y="35780472"/>
            <a:ext cx="9854882" cy="306781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68" name="TextBox 14867"/>
          <p:cNvSpPr txBox="1"/>
          <p:nvPr/>
        </p:nvSpPr>
        <p:spPr>
          <a:xfrm>
            <a:off x="758952" y="35853624"/>
            <a:ext cx="97085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רווחי סמך</a:t>
            </a:r>
          </a:p>
        </p:txBody>
      </p:sp>
      <p:sp>
        <p:nvSpPr>
          <p:cNvPr id="14869" name="TextBox 14868"/>
          <p:cNvSpPr txBox="1"/>
          <p:nvPr/>
        </p:nvSpPr>
        <p:spPr>
          <a:xfrm>
            <a:off x="758952" y="36219384"/>
            <a:ext cx="97085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FFFFFF"/>
                </a:solidFill>
              </a:rPr>
              <a:t>Bootstrap CI</a:t>
            </a:r>
          </a:p>
        </p:txBody>
      </p:sp>
      <p:sp>
        <p:nvSpPr>
          <p:cNvPr id="14870" name="TextBox 14869"/>
          <p:cNvSpPr txBox="1"/>
          <p:nvPr/>
        </p:nvSpPr>
        <p:spPr>
          <a:xfrm>
            <a:off x="758952" y="36694872"/>
            <a:ext cx="9708578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n=1,000 iterations  |  95% CI</a:t>
            </a:r>
          </a:p>
        </p:txBody>
      </p:sp>
      <p:sp>
        <p:nvSpPr>
          <p:cNvPr id="14871" name="Rectangle 14870"/>
          <p:cNvSpPr/>
          <p:nvPr/>
        </p:nvSpPr>
        <p:spPr>
          <a:xfrm>
            <a:off x="685800" y="38958012"/>
            <a:ext cx="9854882" cy="306781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72" name="TextBox 14871"/>
          <p:cNvSpPr txBox="1"/>
          <p:nvPr/>
        </p:nvSpPr>
        <p:spPr>
          <a:xfrm>
            <a:off x="758952" y="39031164"/>
            <a:ext cx="97085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ולידציה חיצונית</a:t>
            </a:r>
          </a:p>
        </p:txBody>
      </p:sp>
      <p:sp>
        <p:nvSpPr>
          <p:cNvPr id="14873" name="TextBox 14872"/>
          <p:cNvSpPr txBox="1"/>
          <p:nvPr/>
        </p:nvSpPr>
        <p:spPr>
          <a:xfrm>
            <a:off x="758952" y="39396924"/>
            <a:ext cx="97085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FFFFFF"/>
                </a:solidFill>
              </a:rPr>
              <a:t>NHANES + EHRSHOT</a:t>
            </a:r>
          </a:p>
        </p:txBody>
      </p:sp>
      <p:sp>
        <p:nvSpPr>
          <p:cNvPr id="14874" name="TextBox 14873"/>
          <p:cNvSpPr txBox="1"/>
          <p:nvPr/>
        </p:nvSpPr>
        <p:spPr>
          <a:xfrm>
            <a:off x="758952" y="39872412"/>
            <a:ext cx="9708578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Stanford OMOP CDM  (generalisation test)</a:t>
            </a:r>
          </a:p>
        </p:txBody>
      </p:sp>
      <p:sp>
        <p:nvSpPr>
          <p:cNvPr id="14875" name="Rectangle 14874"/>
          <p:cNvSpPr/>
          <p:nvPr/>
        </p:nvSpPr>
        <p:spPr>
          <a:xfrm>
            <a:off x="11089322" y="6720840"/>
            <a:ext cx="10220642" cy="20426552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76" name="Rectangle 14875"/>
          <p:cNvSpPr/>
          <p:nvPr/>
        </p:nvSpPr>
        <p:spPr>
          <a:xfrm>
            <a:off x="11089322" y="6720840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ארכיטקטורת הפריימוורק</a:t>
            </a:r>
          </a:p>
        </p:txBody>
      </p:sp>
      <p:sp>
        <p:nvSpPr>
          <p:cNvPr id="14886" name="Rectangle 14885"/>
          <p:cNvSpPr/>
          <p:nvPr/>
        </p:nvSpPr>
        <p:spPr>
          <a:xfrm>
            <a:off x="11272202" y="19759369"/>
            <a:ext cx="4836001" cy="7159423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87" name="TextBox 14886"/>
          <p:cNvSpPr txBox="1"/>
          <p:nvPr/>
        </p:nvSpPr>
        <p:spPr>
          <a:xfrm>
            <a:off x="11363642" y="19850809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4888" name="TextBox 14887"/>
          <p:cNvSpPr txBox="1"/>
          <p:nvPr/>
        </p:nvSpPr>
        <p:spPr>
          <a:xfrm>
            <a:off x="11912282" y="19850809"/>
            <a:ext cx="410448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Genetic Prog.  🏆</a:t>
            </a:r>
          </a:p>
        </p:txBody>
      </p:sp>
      <p:sp>
        <p:nvSpPr>
          <p:cNvPr id="14889" name="TextBox 14888"/>
          <p:cNvSpPr txBox="1"/>
          <p:nvPr/>
        </p:nvSpPr>
        <p:spPr>
          <a:xfrm>
            <a:off x="11363642" y="20289721"/>
            <a:ext cx="4653121" cy="656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0"/>
                </a:solidFill>
              </a:rPr>
              <a:t>gplearn  |  pop=500
gen=100  |  parsimony=0.0001
Best performer</a:t>
            </a:r>
          </a:p>
        </p:txBody>
      </p:sp>
      <p:sp>
        <p:nvSpPr>
          <p:cNvPr id="14890" name="Rectangle 14889"/>
          <p:cNvSpPr/>
          <p:nvPr/>
        </p:nvSpPr>
        <p:spPr>
          <a:xfrm>
            <a:off x="16291084" y="19759369"/>
            <a:ext cx="4836001" cy="7159423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91" name="TextBox 14890"/>
          <p:cNvSpPr txBox="1"/>
          <p:nvPr/>
        </p:nvSpPr>
        <p:spPr>
          <a:xfrm>
            <a:off x="16382524" y="19850809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14892" name="TextBox 14891"/>
          <p:cNvSpPr txBox="1"/>
          <p:nvPr/>
        </p:nvSpPr>
        <p:spPr>
          <a:xfrm>
            <a:off x="16931164" y="19850809"/>
            <a:ext cx="410448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LLM (Med-Gemma)</a:t>
            </a:r>
          </a:p>
        </p:txBody>
      </p:sp>
      <p:sp>
        <p:nvSpPr>
          <p:cNvPr id="14893" name="TextBox 14892"/>
          <p:cNvSpPr txBox="1"/>
          <p:nvPr/>
        </p:nvSpPr>
        <p:spPr>
          <a:xfrm>
            <a:off x="16382524" y="20289721"/>
            <a:ext cx="4653121" cy="656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0"/>
                </a:solidFill>
              </a:rPr>
              <a:t>Med-Gemma 4B
Seeded prompts
GPU cluster</a:t>
            </a:r>
          </a:p>
        </p:txBody>
      </p:sp>
      <p:sp>
        <p:nvSpPr>
          <p:cNvPr id="14894" name="Rectangle 14893"/>
          <p:cNvSpPr/>
          <p:nvPr/>
        </p:nvSpPr>
        <p:spPr>
          <a:xfrm>
            <a:off x="11089322" y="27513152"/>
            <a:ext cx="10220642" cy="14732127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95" name="Rectangle 14894"/>
          <p:cNvSpPr/>
          <p:nvPr/>
        </p:nvSpPr>
        <p:spPr>
          <a:xfrm>
            <a:off x="11089322" y="27513152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Cross-Method Feature Consensus — RA</a:t>
            </a:r>
          </a:p>
        </p:txBody>
      </p:sp>
      <p:pic>
        <p:nvPicPr>
          <p:cNvPr id="14896" name="Picture 14895" descr="svg_feature_consens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2202" y="28244673"/>
            <a:ext cx="9854882" cy="5086391"/>
          </a:xfrm>
          <a:prstGeom prst="rect">
            <a:avLst/>
          </a:prstGeom>
        </p:spPr>
      </p:pic>
      <p:sp>
        <p:nvSpPr>
          <p:cNvPr id="14899" name="Rectangle 14898"/>
          <p:cNvSpPr/>
          <p:nvPr/>
        </p:nvSpPr>
        <p:spPr>
          <a:xfrm>
            <a:off x="11272202" y="34199744"/>
            <a:ext cx="1371600" cy="2544685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00" name="TextBox 14899"/>
          <p:cNvSpPr txBox="1"/>
          <p:nvPr/>
        </p:nvSpPr>
        <p:spPr>
          <a:xfrm>
            <a:off x="11272202" y="34199744"/>
            <a:ext cx="1371600" cy="254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RDW</a:t>
            </a:r>
          </a:p>
        </p:txBody>
      </p:sp>
      <p:sp>
        <p:nvSpPr>
          <p:cNvPr id="14901" name="TextBox 14900"/>
          <p:cNvSpPr txBox="1"/>
          <p:nvPr/>
        </p:nvSpPr>
        <p:spPr>
          <a:xfrm>
            <a:off x="12716954" y="34245464"/>
            <a:ext cx="8410130" cy="245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הכי עקבי: 85% ב-GP, 100% ב-Threshold, 64% ב-LLM</a:t>
            </a:r>
          </a:p>
        </p:txBody>
      </p:sp>
      <p:sp>
        <p:nvSpPr>
          <p:cNvPr id="14902" name="Rectangle 14901"/>
          <p:cNvSpPr/>
          <p:nvPr/>
        </p:nvSpPr>
        <p:spPr>
          <a:xfrm>
            <a:off x="11272202" y="36790149"/>
            <a:ext cx="1371600" cy="2544685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03" name="TextBox 14902"/>
          <p:cNvSpPr txBox="1"/>
          <p:nvPr/>
        </p:nvSpPr>
        <p:spPr>
          <a:xfrm>
            <a:off x="11272202" y="36790149"/>
            <a:ext cx="1371600" cy="254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PLT</a:t>
            </a:r>
          </a:p>
        </p:txBody>
      </p:sp>
      <p:sp>
        <p:nvSpPr>
          <p:cNvPr id="14904" name="TextBox 14903"/>
          <p:cNvSpPr txBox="1"/>
          <p:nvPr/>
        </p:nvSpPr>
        <p:spPr>
          <a:xfrm>
            <a:off x="12716954" y="36835869"/>
            <a:ext cx="8410130" cy="245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מופיע ב-3/4 שיטות; GP 90%, Random 60%</a:t>
            </a:r>
          </a:p>
        </p:txBody>
      </p:sp>
      <p:sp>
        <p:nvSpPr>
          <p:cNvPr id="14905" name="Rectangle 14904"/>
          <p:cNvSpPr/>
          <p:nvPr/>
        </p:nvSpPr>
        <p:spPr>
          <a:xfrm>
            <a:off x="11272202" y="39380554"/>
            <a:ext cx="1371600" cy="2544685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06" name="TextBox 14905"/>
          <p:cNvSpPr txBox="1"/>
          <p:nvPr/>
        </p:nvSpPr>
        <p:spPr>
          <a:xfrm>
            <a:off x="11272202" y="39380554"/>
            <a:ext cx="1371600" cy="254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MCHC</a:t>
            </a:r>
          </a:p>
        </p:txBody>
      </p:sp>
      <p:sp>
        <p:nvSpPr>
          <p:cNvPr id="14907" name="TextBox 14906"/>
          <p:cNvSpPr txBox="1"/>
          <p:nvPr/>
        </p:nvSpPr>
        <p:spPr>
          <a:xfrm>
            <a:off x="12716954" y="39426274"/>
            <a:ext cx="8410130" cy="245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אינדיקטור לאנמיה — הוסק באופן עצמאי בכל שיטה</a:t>
            </a:r>
          </a:p>
        </p:txBody>
      </p:sp>
      <p:sp>
        <p:nvSpPr>
          <p:cNvPr id="14908" name="Rectangle 14907"/>
          <p:cNvSpPr/>
          <p:nvPr/>
        </p:nvSpPr>
        <p:spPr>
          <a:xfrm>
            <a:off x="21675725" y="6720840"/>
            <a:ext cx="10220642" cy="15808375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09" name="Rectangle 14908"/>
          <p:cNvSpPr/>
          <p:nvPr/>
        </p:nvSpPr>
        <p:spPr>
          <a:xfrm>
            <a:off x="21675725" y="672084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he-IL" sz="2600" b="1" dirty="0">
                <a:solidFill>
                  <a:srgbClr val="FFFFFF"/>
                </a:solidFill>
              </a:rPr>
              <a:t>תוצאות</a:t>
            </a:r>
            <a:endParaRPr sz="2600" b="1" dirty="0">
              <a:solidFill>
                <a:srgbClr val="FFFFFF"/>
              </a:solidFill>
            </a:endParaRPr>
          </a:p>
        </p:txBody>
      </p:sp>
      <p:pic>
        <p:nvPicPr>
          <p:cNvPr id="14910" name="Picture 14909" descr="ra_aucpr_l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8605" y="7452359"/>
            <a:ext cx="9854882" cy="4584566"/>
          </a:xfrm>
          <a:prstGeom prst="rect">
            <a:avLst/>
          </a:prstGeom>
        </p:spPr>
      </p:pic>
      <p:sp>
        <p:nvSpPr>
          <p:cNvPr id="14911" name="TextBox 14910"/>
          <p:cNvSpPr txBox="1"/>
          <p:nvPr/>
        </p:nvSpPr>
        <p:spPr>
          <a:xfrm>
            <a:off x="21812885" y="12356966"/>
            <a:ext cx="99463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E8773D"/>
                </a:solidFill>
              </a:rPr>
              <a:t>ממצאים עיקריים</a:t>
            </a:r>
          </a:p>
        </p:txBody>
      </p:sp>
      <p:sp>
        <p:nvSpPr>
          <p:cNvPr id="14912" name="Rectangle 14911"/>
          <p:cNvSpPr/>
          <p:nvPr/>
        </p:nvSpPr>
        <p:spPr>
          <a:xfrm>
            <a:off x="21812885" y="12859886"/>
            <a:ext cx="91440" cy="2303032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13" name="TextBox 14912"/>
          <p:cNvSpPr txBox="1"/>
          <p:nvPr/>
        </p:nvSpPr>
        <p:spPr>
          <a:xfrm>
            <a:off x="21995765" y="12905606"/>
            <a:ext cx="9763442" cy="222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GP מנצח: 1.59× lift עם 4 features — עולה על LR (1.49×) שמשתמש ב-14</a:t>
            </a:r>
          </a:p>
        </p:txBody>
      </p:sp>
      <p:sp>
        <p:nvSpPr>
          <p:cNvPr id="14914" name="Rectangle 14913"/>
          <p:cNvSpPr/>
          <p:nvPr/>
        </p:nvSpPr>
        <p:spPr>
          <a:xfrm>
            <a:off x="21812885" y="15254358"/>
            <a:ext cx="91440" cy="230303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15" name="TextBox 14914"/>
          <p:cNvSpPr txBox="1"/>
          <p:nvPr/>
        </p:nvSpPr>
        <p:spPr>
          <a:xfrm>
            <a:off x="21995765" y="15300078"/>
            <a:ext cx="9763442" cy="222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 dirty="0">
                <a:solidFill>
                  <a:srgbClr val="2C3E50"/>
                </a:solidFill>
              </a:rPr>
              <a:t>LLM </a:t>
            </a:r>
            <a:r>
              <a:rPr sz="1900" b="0" i="0" dirty="0" err="1">
                <a:solidFill>
                  <a:srgbClr val="2C3E50"/>
                </a:solidFill>
              </a:rPr>
              <a:t>הכי</a:t>
            </a:r>
            <a:r>
              <a:rPr sz="1900" b="0" i="0" dirty="0">
                <a:solidFill>
                  <a:srgbClr val="2C3E50"/>
                </a:solidFill>
              </a:rPr>
              <a:t> </a:t>
            </a:r>
            <a:r>
              <a:rPr sz="1900" b="0" i="0" dirty="0" err="1">
                <a:solidFill>
                  <a:srgbClr val="2C3E50"/>
                </a:solidFill>
              </a:rPr>
              <a:t>יעיל</a:t>
            </a:r>
            <a:r>
              <a:rPr sz="1900" b="0" i="0" dirty="0">
                <a:solidFill>
                  <a:srgbClr val="2C3E50"/>
                </a:solidFill>
              </a:rPr>
              <a:t>: 3 features, 2 ops, lift 1.45× — </a:t>
            </a:r>
            <a:r>
              <a:rPr sz="1900" b="0" i="0" dirty="0" err="1">
                <a:solidFill>
                  <a:srgbClr val="2C3E50"/>
                </a:solidFill>
              </a:rPr>
              <a:t>כמעט</a:t>
            </a:r>
            <a:r>
              <a:rPr sz="1900" b="0" i="0" dirty="0">
                <a:solidFill>
                  <a:srgbClr val="2C3E50"/>
                </a:solidFill>
              </a:rPr>
              <a:t> </a:t>
            </a:r>
            <a:r>
              <a:rPr sz="1900" b="0" i="0" dirty="0" err="1">
                <a:solidFill>
                  <a:srgbClr val="2C3E50"/>
                </a:solidFill>
              </a:rPr>
              <a:t>שקול</a:t>
            </a:r>
            <a:r>
              <a:rPr sz="1900" b="0" i="0" dirty="0">
                <a:solidFill>
                  <a:srgbClr val="2C3E50"/>
                </a:solidFill>
              </a:rPr>
              <a:t> ל-LR</a:t>
            </a:r>
          </a:p>
        </p:txBody>
      </p:sp>
      <p:sp>
        <p:nvSpPr>
          <p:cNvPr id="14916" name="Rectangle 14915"/>
          <p:cNvSpPr/>
          <p:nvPr/>
        </p:nvSpPr>
        <p:spPr>
          <a:xfrm>
            <a:off x="21812885" y="17648831"/>
            <a:ext cx="91440" cy="23030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17" name="TextBox 14916"/>
          <p:cNvSpPr txBox="1"/>
          <p:nvPr/>
        </p:nvSpPr>
        <p:spPr>
          <a:xfrm>
            <a:off x="21995765" y="17694551"/>
            <a:ext cx="9763442" cy="222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Random לא מספיק: 7 features, 18 ops → 1.32× (מתחת baseline)</a:t>
            </a:r>
          </a:p>
        </p:txBody>
      </p:sp>
      <p:sp>
        <p:nvSpPr>
          <p:cNvPr id="14918" name="Rectangle 14917"/>
          <p:cNvSpPr/>
          <p:nvPr/>
        </p:nvSpPr>
        <p:spPr>
          <a:xfrm>
            <a:off x="21812885" y="20043303"/>
            <a:ext cx="91440" cy="23030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19" name="TextBox 14918"/>
          <p:cNvSpPr txBox="1"/>
          <p:nvPr/>
        </p:nvSpPr>
        <p:spPr>
          <a:xfrm>
            <a:off x="21995765" y="20089023"/>
            <a:ext cx="9763442" cy="222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Threshold נקודת ייחוס: feature יחיד (rbc&lt;3.99) → 1.38×</a:t>
            </a:r>
          </a:p>
        </p:txBody>
      </p:sp>
      <p:sp>
        <p:nvSpPr>
          <p:cNvPr id="14920" name="Rectangle 14919"/>
          <p:cNvSpPr/>
          <p:nvPr/>
        </p:nvSpPr>
        <p:spPr>
          <a:xfrm>
            <a:off x="21675725" y="22894975"/>
            <a:ext cx="10220642" cy="9946843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21" name="Rectangle 14920"/>
          <p:cNvSpPr/>
          <p:nvPr/>
        </p:nvSpPr>
        <p:spPr>
          <a:xfrm>
            <a:off x="21675725" y="22894975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מסקנות</a:t>
            </a:r>
          </a:p>
        </p:txBody>
      </p:sp>
      <p:sp>
        <p:nvSpPr>
          <p:cNvPr id="14922" name="Rectangle 14921"/>
          <p:cNvSpPr/>
          <p:nvPr/>
        </p:nvSpPr>
        <p:spPr>
          <a:xfrm>
            <a:off x="21858605" y="23535055"/>
            <a:ext cx="9854882" cy="2194102"/>
          </a:xfrm>
          <a:prstGeom prst="rect">
            <a:avLst/>
          </a:prstGeom>
          <a:solidFill>
            <a:srgbClr val="FDEBD7"/>
          </a:solidFill>
          <a:ln w="1270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23" name="TextBox 14922"/>
          <p:cNvSpPr txBox="1"/>
          <p:nvPr/>
        </p:nvSpPr>
        <p:spPr>
          <a:xfrm>
            <a:off x="31027688" y="23626495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🏆</a:t>
            </a:r>
          </a:p>
        </p:txBody>
      </p:sp>
      <p:sp>
        <p:nvSpPr>
          <p:cNvPr id="14924" name="TextBox 14923"/>
          <p:cNvSpPr txBox="1"/>
          <p:nvPr/>
        </p:nvSpPr>
        <p:spPr>
          <a:xfrm>
            <a:off x="21995765" y="23644783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E8773D"/>
                </a:solidFill>
              </a:rPr>
              <a:t>Genetic Programming</a:t>
            </a:r>
          </a:p>
        </p:txBody>
      </p:sp>
      <p:sp>
        <p:nvSpPr>
          <p:cNvPr id="14925" name="TextBox 14924"/>
          <p:cNvSpPr txBox="1"/>
          <p:nvPr/>
        </p:nvSpPr>
        <p:spPr>
          <a:xfrm>
            <a:off x="21995765" y="24175135"/>
            <a:ext cx="9580562" cy="1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השיטה הטובה ביותר — 1.59× ב-RA עם 4 features. מגלה אינטראקציות (mono_pct/neut_pct) שה-LLM לא מצא.</a:t>
            </a:r>
          </a:p>
        </p:txBody>
      </p:sp>
      <p:sp>
        <p:nvSpPr>
          <p:cNvPr id="14926" name="Rectangle 14925"/>
          <p:cNvSpPr/>
          <p:nvPr/>
        </p:nvSpPr>
        <p:spPr>
          <a:xfrm>
            <a:off x="21858605" y="25838886"/>
            <a:ext cx="9854882" cy="2194102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27" name="TextBox 14926"/>
          <p:cNvSpPr txBox="1"/>
          <p:nvPr/>
        </p:nvSpPr>
        <p:spPr>
          <a:xfrm>
            <a:off x="31027688" y="2593032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⚡</a:t>
            </a:r>
          </a:p>
        </p:txBody>
      </p:sp>
      <p:sp>
        <p:nvSpPr>
          <p:cNvPr id="14928" name="TextBox 14927"/>
          <p:cNvSpPr txBox="1"/>
          <p:nvPr/>
        </p:nvSpPr>
        <p:spPr>
          <a:xfrm>
            <a:off x="21995765" y="25948614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1A7A8A"/>
                </a:solidFill>
              </a:rPr>
              <a:t>LLM (Med-Gemma 4B)</a:t>
            </a:r>
          </a:p>
        </p:txBody>
      </p:sp>
      <p:sp>
        <p:nvSpPr>
          <p:cNvPr id="14929" name="TextBox 14928"/>
          <p:cNvSpPr txBox="1"/>
          <p:nvPr/>
        </p:nvSpPr>
        <p:spPr>
          <a:xfrm>
            <a:off x="21995765" y="26478966"/>
            <a:ext cx="9580562" cy="1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נוסחה: (hct−hgb)/(plt+0.01) — 3 features, 2 ops, lift 1.45×. ידע רפואי מייצר נוסחאות פשוטות ויעילות.</a:t>
            </a:r>
          </a:p>
        </p:txBody>
      </p:sp>
      <p:sp>
        <p:nvSpPr>
          <p:cNvPr id="14930" name="Rectangle 14929"/>
          <p:cNvSpPr/>
          <p:nvPr/>
        </p:nvSpPr>
        <p:spPr>
          <a:xfrm>
            <a:off x="21858605" y="28142717"/>
            <a:ext cx="9854882" cy="2194102"/>
          </a:xfrm>
          <a:prstGeom prst="rect">
            <a:avLst/>
          </a:prstGeom>
          <a:solidFill>
            <a:srgbClr val="F0F3F4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31" name="TextBox 14930"/>
          <p:cNvSpPr txBox="1"/>
          <p:nvPr/>
        </p:nvSpPr>
        <p:spPr>
          <a:xfrm>
            <a:off x="31027688" y="28234157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14932" name="TextBox 14931"/>
          <p:cNvSpPr txBox="1"/>
          <p:nvPr/>
        </p:nvSpPr>
        <p:spPr>
          <a:xfrm>
            <a:off x="21995765" y="28252445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2C3E50"/>
                </a:solidFill>
              </a:rPr>
              <a:t>הפריימוורק עובד</a:t>
            </a:r>
          </a:p>
        </p:txBody>
      </p:sp>
      <p:sp>
        <p:nvSpPr>
          <p:cNvPr id="14933" name="TextBox 14932"/>
          <p:cNvSpPr txBox="1"/>
          <p:nvPr/>
        </p:nvSpPr>
        <p:spPr>
          <a:xfrm>
            <a:off x="21995765" y="28782797"/>
            <a:ext cx="9580562" cy="1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השוואה הוגנת: אותם נתונים, split ומטריקות לכל 4 שיטות. כל שיטה חושפת היבט שונה של המרחב.</a:t>
            </a:r>
          </a:p>
        </p:txBody>
      </p:sp>
      <p:sp>
        <p:nvSpPr>
          <p:cNvPr id="14934" name="Rectangle 14933"/>
          <p:cNvSpPr/>
          <p:nvPr/>
        </p:nvSpPr>
        <p:spPr>
          <a:xfrm>
            <a:off x="21858605" y="30446548"/>
            <a:ext cx="9854882" cy="2194102"/>
          </a:xfrm>
          <a:prstGeom prst="rect">
            <a:avLst/>
          </a:prstGeom>
          <a:solidFill>
            <a:srgbClr val="F0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35" name="TextBox 14934"/>
          <p:cNvSpPr txBox="1"/>
          <p:nvPr/>
        </p:nvSpPr>
        <p:spPr>
          <a:xfrm>
            <a:off x="31027688" y="3053798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⚠</a:t>
            </a:r>
          </a:p>
        </p:txBody>
      </p:sp>
      <p:sp>
        <p:nvSpPr>
          <p:cNvPr id="14936" name="TextBox 14935"/>
          <p:cNvSpPr txBox="1"/>
          <p:nvPr/>
        </p:nvSpPr>
        <p:spPr>
          <a:xfrm>
            <a:off x="21995765" y="30556276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7F8C8D"/>
                </a:solidFill>
              </a:rPr>
              <a:t>מגבלות</a:t>
            </a:r>
          </a:p>
        </p:txBody>
      </p:sp>
      <p:sp>
        <p:nvSpPr>
          <p:cNvPr id="14937" name="TextBox 14936"/>
          <p:cNvSpPr txBox="1"/>
          <p:nvPr/>
        </p:nvSpPr>
        <p:spPr>
          <a:xfrm>
            <a:off x="21995765" y="31086628"/>
            <a:ext cx="9580562" cy="1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CI רחב בשל test set קטן (~300 cases). הפרשים בין שיטות אינם מובהקים סטטיסטית.</a:t>
            </a:r>
          </a:p>
        </p:txBody>
      </p:sp>
      <p:sp>
        <p:nvSpPr>
          <p:cNvPr id="14938" name="Rectangle 14937"/>
          <p:cNvSpPr/>
          <p:nvPr/>
        </p:nvSpPr>
        <p:spPr>
          <a:xfrm>
            <a:off x="21675725" y="33207578"/>
            <a:ext cx="10220642" cy="9037701"/>
          </a:xfrm>
          <a:prstGeom prst="rect">
            <a:avLst/>
          </a:prstGeom>
          <a:solidFill>
            <a:srgbClr val="F0F3F4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39" name="Rectangle 14938"/>
          <p:cNvSpPr/>
          <p:nvPr/>
        </p:nvSpPr>
        <p:spPr>
          <a:xfrm>
            <a:off x="21675725" y="33207578"/>
            <a:ext cx="10220642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ולידציה חיצונית  ·  המשך מחקר</a:t>
            </a:r>
          </a:p>
        </p:txBody>
      </p:sp>
      <p:sp>
        <p:nvSpPr>
          <p:cNvPr id="14940" name="Rectangle 14939"/>
          <p:cNvSpPr/>
          <p:nvPr/>
        </p:nvSpPr>
        <p:spPr>
          <a:xfrm>
            <a:off x="21858605" y="33875090"/>
            <a:ext cx="9854882" cy="4572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41" name="TextBox 14940"/>
          <p:cNvSpPr txBox="1"/>
          <p:nvPr/>
        </p:nvSpPr>
        <p:spPr>
          <a:xfrm>
            <a:off x="21931757" y="33939098"/>
            <a:ext cx="97085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FFFFFF"/>
                </a:solidFill>
              </a:rPr>
              <a:t>ולידציה חיצונית: EHRSHOT (Stanford) + NHANES</a:t>
            </a:r>
          </a:p>
        </p:txBody>
      </p:sp>
      <p:sp>
        <p:nvSpPr>
          <p:cNvPr id="14942" name="Rectangle 14941"/>
          <p:cNvSpPr/>
          <p:nvPr/>
        </p:nvSpPr>
        <p:spPr>
          <a:xfrm>
            <a:off x="21858605" y="34579178"/>
            <a:ext cx="109728" cy="59436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43" name="TextBox 14942"/>
          <p:cNvSpPr txBox="1"/>
          <p:nvPr/>
        </p:nvSpPr>
        <p:spPr>
          <a:xfrm>
            <a:off x="22059773" y="34487738"/>
            <a:ext cx="965371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GP מחזיק ביצועים ב-EHRSHOT: RA 1.59× → 2.46× (שיפור!)</a:t>
            </a:r>
          </a:p>
        </p:txBody>
      </p:sp>
      <p:sp>
        <p:nvSpPr>
          <p:cNvPr id="14944" name="Rectangle 14943"/>
          <p:cNvSpPr/>
          <p:nvPr/>
        </p:nvSpPr>
        <p:spPr>
          <a:xfrm>
            <a:off x="21858605" y="35585018"/>
            <a:ext cx="109728" cy="59436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45" name="TextBox 14944"/>
          <p:cNvSpPr txBox="1"/>
          <p:nvPr/>
        </p:nvSpPr>
        <p:spPr>
          <a:xfrm>
            <a:off x="22059773" y="35493578"/>
            <a:ext cx="965371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LLM overfits: Lupus 3.70× (MIMIC) → 1.76× (EHRSHOT)</a:t>
            </a:r>
          </a:p>
        </p:txBody>
      </p:sp>
      <p:sp>
        <p:nvSpPr>
          <p:cNvPr id="14946" name="Rectangle 14945"/>
          <p:cNvSpPr/>
          <p:nvPr/>
        </p:nvSpPr>
        <p:spPr>
          <a:xfrm>
            <a:off x="21858605" y="36590858"/>
            <a:ext cx="109728" cy="5943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47" name="TextBox 14946"/>
          <p:cNvSpPr txBox="1"/>
          <p:nvPr/>
        </p:nvSpPr>
        <p:spPr>
          <a:xfrm>
            <a:off x="22059773" y="36499418"/>
            <a:ext cx="965371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NHANES: AUC-PR גולמי ל-RA + Psoriasis (Lift חסר)</a:t>
            </a:r>
          </a:p>
        </p:txBody>
      </p:sp>
      <p:sp>
        <p:nvSpPr>
          <p:cNvPr id="14948" name="Rectangle 14947"/>
          <p:cNvSpPr/>
          <p:nvPr/>
        </p:nvSpPr>
        <p:spPr>
          <a:xfrm>
            <a:off x="21858605" y="37642418"/>
            <a:ext cx="985488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49" name="TextBox 14948"/>
          <p:cNvSpPr txBox="1"/>
          <p:nvPr/>
        </p:nvSpPr>
        <p:spPr>
          <a:xfrm>
            <a:off x="21931757" y="37697282"/>
            <a:ext cx="97085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FFFFFF"/>
                </a:solidFill>
              </a:rPr>
              <a:t>🔭  המשך מחקר</a:t>
            </a:r>
          </a:p>
        </p:txBody>
      </p:sp>
      <p:sp>
        <p:nvSpPr>
          <p:cNvPr id="14950" name="Rectangle 14949"/>
          <p:cNvSpPr/>
          <p:nvPr/>
        </p:nvSpPr>
        <p:spPr>
          <a:xfrm>
            <a:off x="21858605" y="38209346"/>
            <a:ext cx="9854882" cy="803243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51" name="TextBox 14950"/>
          <p:cNvSpPr txBox="1"/>
          <p:nvPr/>
        </p:nvSpPr>
        <p:spPr>
          <a:xfrm>
            <a:off x="21950045" y="38264210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Nested Cross-Validation</a:t>
            </a:r>
          </a:p>
        </p:txBody>
      </p:sp>
      <p:sp>
        <p:nvSpPr>
          <p:cNvPr id="14952" name="TextBox 14951"/>
          <p:cNvSpPr txBox="1"/>
          <p:nvPr/>
        </p:nvSpPr>
        <p:spPr>
          <a:xfrm>
            <a:off x="21950045" y="38629970"/>
            <a:ext cx="9672002" cy="3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5-fold stratified CV — הערכה מהימנה יותר</a:t>
            </a:r>
          </a:p>
        </p:txBody>
      </p:sp>
      <p:sp>
        <p:nvSpPr>
          <p:cNvPr id="14953" name="Rectangle 14952"/>
          <p:cNvSpPr/>
          <p:nvPr/>
        </p:nvSpPr>
        <p:spPr>
          <a:xfrm>
            <a:off x="21858605" y="39104030"/>
            <a:ext cx="9854882" cy="803243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54" name="TextBox 14953"/>
          <p:cNvSpPr txBox="1"/>
          <p:nvPr/>
        </p:nvSpPr>
        <p:spPr>
          <a:xfrm>
            <a:off x="21950045" y="39158894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Seeded GP מכל המחלות</a:t>
            </a:r>
          </a:p>
        </p:txBody>
      </p:sp>
      <p:sp>
        <p:nvSpPr>
          <p:cNvPr id="14955" name="TextBox 14954"/>
          <p:cNvSpPr txBox="1"/>
          <p:nvPr/>
        </p:nvSpPr>
        <p:spPr>
          <a:xfrm>
            <a:off x="21950045" y="39524654"/>
            <a:ext cx="9672002" cy="3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LLM seeds כאתחול לאוכלוסיית GP (hybrid)</a:t>
            </a:r>
          </a:p>
        </p:txBody>
      </p:sp>
      <p:sp>
        <p:nvSpPr>
          <p:cNvPr id="14956" name="Rectangle 14955"/>
          <p:cNvSpPr/>
          <p:nvPr/>
        </p:nvSpPr>
        <p:spPr>
          <a:xfrm>
            <a:off x="21858605" y="39998713"/>
            <a:ext cx="9854882" cy="803243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57" name="TextBox 14956"/>
          <p:cNvSpPr txBox="1"/>
          <p:nvPr/>
        </p:nvSpPr>
        <p:spPr>
          <a:xfrm>
            <a:off x="21950045" y="40053577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Cross-method equivalence</a:t>
            </a:r>
          </a:p>
        </p:txBody>
      </p:sp>
      <p:sp>
        <p:nvSpPr>
          <p:cNvPr id="14958" name="TextBox 14957"/>
          <p:cNvSpPr txBox="1"/>
          <p:nvPr/>
        </p:nvSpPr>
        <p:spPr>
          <a:xfrm>
            <a:off x="21950045" y="40419337"/>
            <a:ext cx="9672002" cy="3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Pearson r בין score vectors של שיטות שונות</a:t>
            </a:r>
          </a:p>
        </p:txBody>
      </p:sp>
      <p:sp>
        <p:nvSpPr>
          <p:cNvPr id="14959" name="Rectangle 14958"/>
          <p:cNvSpPr/>
          <p:nvPr/>
        </p:nvSpPr>
        <p:spPr>
          <a:xfrm>
            <a:off x="21858605" y="40893396"/>
            <a:ext cx="9854882" cy="803243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60" name="TextBox 14959"/>
          <p:cNvSpPr txBox="1"/>
          <p:nvPr/>
        </p:nvSpPr>
        <p:spPr>
          <a:xfrm>
            <a:off x="21950045" y="40948260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הרחבה למחלות נוספות</a:t>
            </a:r>
          </a:p>
        </p:txBody>
      </p:sp>
      <p:sp>
        <p:nvSpPr>
          <p:cNvPr id="14961" name="TextBox 14960"/>
          <p:cNvSpPr txBox="1"/>
          <p:nvPr/>
        </p:nvSpPr>
        <p:spPr>
          <a:xfrm>
            <a:off x="21950045" y="41314020"/>
            <a:ext cx="9672002" cy="3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הפריימוורק agnostic — ICD + CBC = מספיק</a:t>
            </a:r>
          </a:p>
        </p:txBody>
      </p:sp>
      <p:sp>
        <p:nvSpPr>
          <p:cNvPr id="14962" name="Rectangle 14961"/>
          <p:cNvSpPr/>
          <p:nvPr/>
        </p:nvSpPr>
        <p:spPr>
          <a:xfrm>
            <a:off x="0" y="42245280"/>
            <a:ext cx="32399288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3" name="TextBox 14962"/>
          <p:cNvSpPr txBox="1"/>
          <p:nvPr/>
        </p:nvSpPr>
        <p:spPr>
          <a:xfrm>
            <a:off x="457200" y="42355008"/>
            <a:ext cx="31484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AF0"/>
                </a:solidFill>
              </a:rPr>
              <a:t>Ofek Vilozny  |  מנחה: פרופ' נעה דגן  |  הנדסת מערכות מידע, BGU  |  2026</a:t>
            </a:r>
          </a:p>
        </p:txBody>
      </p:sp>
      <p:sp>
        <p:nvSpPr>
          <p:cNvPr id="14964" name="Rectangle 14963"/>
          <p:cNvSpPr/>
          <p:nvPr/>
        </p:nvSpPr>
        <p:spPr>
          <a:xfrm>
            <a:off x="502920" y="6720840"/>
            <a:ext cx="10220642" cy="11704320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5" name="Rectangle 14964"/>
          <p:cNvSpPr/>
          <p:nvPr/>
        </p:nvSpPr>
        <p:spPr>
          <a:xfrm>
            <a:off x="502920" y="672084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מוטיבציה ורקע</a:t>
            </a:r>
          </a:p>
        </p:txBody>
      </p:sp>
      <p:sp>
        <p:nvSpPr>
          <p:cNvPr id="14966" name="Rectangle 14965"/>
          <p:cNvSpPr/>
          <p:nvPr/>
        </p:nvSpPr>
        <p:spPr>
          <a:xfrm>
            <a:off x="685800" y="7406640"/>
            <a:ext cx="9854882" cy="3383280"/>
          </a:xfrm>
          <a:prstGeom prst="rect">
            <a:avLst/>
          </a:prstGeom>
          <a:solidFill>
            <a:srgbClr val="FDEBD7"/>
          </a:solidFill>
          <a:ln w="1270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7" name="TextBox 14966"/>
          <p:cNvSpPr txBox="1"/>
          <p:nvPr/>
        </p:nvSpPr>
        <p:spPr>
          <a:xfrm>
            <a:off x="9854882" y="749807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⚠</a:t>
            </a:r>
          </a:p>
        </p:txBody>
      </p:sp>
      <p:sp>
        <p:nvSpPr>
          <p:cNvPr id="14968" name="TextBox 14967"/>
          <p:cNvSpPr txBox="1"/>
          <p:nvPr/>
        </p:nvSpPr>
        <p:spPr>
          <a:xfrm>
            <a:off x="822960" y="7516367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E8773D"/>
                </a:solidFill>
              </a:rPr>
              <a:t>האתגר</a:t>
            </a:r>
          </a:p>
        </p:txBody>
      </p:sp>
      <p:sp>
        <p:nvSpPr>
          <p:cNvPr id="14969" name="TextBox 14968"/>
          <p:cNvSpPr txBox="1"/>
          <p:nvPr/>
        </p:nvSpPr>
        <p:spPr>
          <a:xfrm>
            <a:off x="822960" y="8046719"/>
            <a:ext cx="958056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אבחון מחלות אוטואימוניות (זאבת, קרוהן, RA, סוכרת, פסוריאזיס) מסתמך על בדיקות יקרות, מורכבות ומאוחרות.</a:t>
            </a:r>
          </a:p>
        </p:txBody>
      </p:sp>
      <p:sp>
        <p:nvSpPr>
          <p:cNvPr id="14970" name="Rectangle 14969"/>
          <p:cNvSpPr/>
          <p:nvPr/>
        </p:nvSpPr>
        <p:spPr>
          <a:xfrm>
            <a:off x="685800" y="10972800"/>
            <a:ext cx="9854882" cy="3383280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1" name="TextBox 14970"/>
          <p:cNvSpPr txBox="1"/>
          <p:nvPr/>
        </p:nvSpPr>
        <p:spPr>
          <a:xfrm>
            <a:off x="9854882" y="11064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💡</a:t>
            </a:r>
          </a:p>
        </p:txBody>
      </p:sp>
      <p:sp>
        <p:nvSpPr>
          <p:cNvPr id="14972" name="TextBox 14971"/>
          <p:cNvSpPr txBox="1"/>
          <p:nvPr/>
        </p:nvSpPr>
        <p:spPr>
          <a:xfrm>
            <a:off x="822960" y="11082528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1A7A8A"/>
                </a:solidFill>
              </a:rPr>
              <a:t>ההזדמנות</a:t>
            </a:r>
          </a:p>
        </p:txBody>
      </p:sp>
      <p:sp>
        <p:nvSpPr>
          <p:cNvPr id="14973" name="TextBox 14972"/>
          <p:cNvSpPr txBox="1"/>
          <p:nvPr/>
        </p:nvSpPr>
        <p:spPr>
          <a:xfrm>
            <a:off x="822960" y="11612880"/>
            <a:ext cx="958056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ספירת דם מלאה (CBC) היא בדיקה זולה, שגרתית וזמינה בכל מפגש רפואי — אך הפוטנציאל שלה כביומרקר אבחנתי טרם מוצה.</a:t>
            </a:r>
          </a:p>
        </p:txBody>
      </p:sp>
      <p:sp>
        <p:nvSpPr>
          <p:cNvPr id="14974" name="Rectangle 14973"/>
          <p:cNvSpPr/>
          <p:nvPr/>
        </p:nvSpPr>
        <p:spPr>
          <a:xfrm>
            <a:off x="685800" y="14538959"/>
            <a:ext cx="9854882" cy="3383280"/>
          </a:xfrm>
          <a:prstGeom prst="rect">
            <a:avLst/>
          </a:prstGeom>
          <a:solidFill>
            <a:srgbClr val="F0F3F4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5" name="TextBox 14974"/>
          <p:cNvSpPr txBox="1"/>
          <p:nvPr/>
        </p:nvSpPr>
        <p:spPr>
          <a:xfrm>
            <a:off x="9854882" y="1463039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🔬</a:t>
            </a:r>
          </a:p>
        </p:txBody>
      </p:sp>
      <p:sp>
        <p:nvSpPr>
          <p:cNvPr id="14976" name="TextBox 14975"/>
          <p:cNvSpPr txBox="1"/>
          <p:nvPr/>
        </p:nvSpPr>
        <p:spPr>
          <a:xfrm>
            <a:off x="822960" y="14648688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2C3E50"/>
                </a:solidFill>
              </a:rPr>
              <a:t>החזון</a:t>
            </a:r>
          </a:p>
        </p:txBody>
      </p:sp>
      <p:sp>
        <p:nvSpPr>
          <p:cNvPr id="14977" name="TextBox 14976"/>
          <p:cNvSpPr txBox="1"/>
          <p:nvPr/>
        </p:nvSpPr>
        <p:spPr>
          <a:xfrm>
            <a:off x="822960" y="15179039"/>
            <a:ext cx="9580562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2C3E50"/>
                </a:solidFill>
              </a:rPr>
              <a:t>מחקר זה בוחן האם ניתן לגזור נוסחאות מתמטיות פשוטות מערכי CBC לצורך חיזוי ואבחון מוקדם של 6 מחלות.</a:t>
            </a:r>
          </a:p>
        </p:txBody>
      </p:sp>
      <p:sp>
        <p:nvSpPr>
          <p:cNvPr id="14978" name="Rectangle 14977"/>
          <p:cNvSpPr/>
          <p:nvPr/>
        </p:nvSpPr>
        <p:spPr>
          <a:xfrm>
            <a:off x="502920" y="18790919"/>
            <a:ext cx="10220642" cy="9601200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9" name="Rectangle 14978"/>
          <p:cNvSpPr/>
          <p:nvPr/>
        </p:nvSpPr>
        <p:spPr>
          <a:xfrm>
            <a:off x="502920" y="18790919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הגדרת הבעיה</a:t>
            </a:r>
          </a:p>
        </p:txBody>
      </p:sp>
      <p:sp>
        <p:nvSpPr>
          <p:cNvPr id="14980" name="Rectangle 14979"/>
          <p:cNvSpPr/>
          <p:nvPr/>
        </p:nvSpPr>
        <p:spPr>
          <a:xfrm>
            <a:off x="685800" y="19522439"/>
            <a:ext cx="9854882" cy="1600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1" name="TextBox 14980"/>
          <p:cNvSpPr txBox="1"/>
          <p:nvPr/>
        </p:nvSpPr>
        <p:spPr>
          <a:xfrm>
            <a:off x="758952" y="19632168"/>
            <a:ext cx="970857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FFFFFF"/>
                </a:solidFill>
              </a:rPr>
              <a:t>שאלת המחקר: איזו שיטה לייצור נוסחאות מניבה את המודל המיטבי — וכיצד להשוות ביניהן בצורה הוגנת ומבוקרת?</a:t>
            </a:r>
          </a:p>
        </p:txBody>
      </p:sp>
      <p:sp>
        <p:nvSpPr>
          <p:cNvPr id="14982" name="Rectangle 14981"/>
          <p:cNvSpPr/>
          <p:nvPr/>
        </p:nvSpPr>
        <p:spPr>
          <a:xfrm>
            <a:off x="685800" y="21305519"/>
            <a:ext cx="9854882" cy="14173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3" name="TextBox 14982"/>
          <p:cNvSpPr txBox="1"/>
          <p:nvPr/>
        </p:nvSpPr>
        <p:spPr>
          <a:xfrm>
            <a:off x="795528" y="2139696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קלט</a:t>
            </a:r>
          </a:p>
        </p:txBody>
      </p:sp>
      <p:sp>
        <p:nvSpPr>
          <p:cNvPr id="14984" name="TextBox 14983"/>
          <p:cNvSpPr txBox="1"/>
          <p:nvPr/>
        </p:nvSpPr>
        <p:spPr>
          <a:xfrm>
            <a:off x="2377440" y="21396960"/>
            <a:ext cx="805351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14 מאפיינים מ-CBC: ספירת תאים + אחוזי ד"ל</a:t>
            </a:r>
          </a:p>
        </p:txBody>
      </p:sp>
      <p:sp>
        <p:nvSpPr>
          <p:cNvPr id="14985" name="Rectangle 14984"/>
          <p:cNvSpPr/>
          <p:nvPr/>
        </p:nvSpPr>
        <p:spPr>
          <a:xfrm>
            <a:off x="685800" y="22814279"/>
            <a:ext cx="9854882" cy="14173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6" name="TextBox 14985"/>
          <p:cNvSpPr txBox="1"/>
          <p:nvPr/>
        </p:nvSpPr>
        <p:spPr>
          <a:xfrm>
            <a:off x="795528" y="22905719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יעד</a:t>
            </a:r>
          </a:p>
        </p:txBody>
      </p:sp>
      <p:sp>
        <p:nvSpPr>
          <p:cNvPr id="14987" name="TextBox 14986"/>
          <p:cNvSpPr txBox="1"/>
          <p:nvPr/>
        </p:nvSpPr>
        <p:spPr>
          <a:xfrm>
            <a:off x="2377440" y="22905719"/>
            <a:ext cx="805351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נוסחה פשוטה מ-≤5 מאפיינים, שקולה ל-LR עם כל הנתונים</a:t>
            </a:r>
          </a:p>
        </p:txBody>
      </p:sp>
      <p:sp>
        <p:nvSpPr>
          <p:cNvPr id="14988" name="Rectangle 14987"/>
          <p:cNvSpPr/>
          <p:nvPr/>
        </p:nvSpPr>
        <p:spPr>
          <a:xfrm>
            <a:off x="685800" y="24323039"/>
            <a:ext cx="9854882" cy="1417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9" name="TextBox 14988"/>
          <p:cNvSpPr txBox="1"/>
          <p:nvPr/>
        </p:nvSpPr>
        <p:spPr>
          <a:xfrm>
            <a:off x="795528" y="2441448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מחלות</a:t>
            </a:r>
          </a:p>
        </p:txBody>
      </p:sp>
      <p:sp>
        <p:nvSpPr>
          <p:cNvPr id="14990" name="TextBox 14989"/>
          <p:cNvSpPr txBox="1"/>
          <p:nvPr/>
        </p:nvSpPr>
        <p:spPr>
          <a:xfrm>
            <a:off x="2377440" y="24414480"/>
            <a:ext cx="805351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RA · קרוהן · T1D · T2D · פסוריאזיס · זאבת (6)</a:t>
            </a:r>
          </a:p>
        </p:txBody>
      </p:sp>
      <p:sp>
        <p:nvSpPr>
          <p:cNvPr id="14991" name="Rectangle 14990"/>
          <p:cNvSpPr/>
          <p:nvPr/>
        </p:nvSpPr>
        <p:spPr>
          <a:xfrm>
            <a:off x="685800" y="25831799"/>
            <a:ext cx="9854882" cy="14173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2" name="TextBox 14991"/>
          <p:cNvSpPr txBox="1"/>
          <p:nvPr/>
        </p:nvSpPr>
        <p:spPr>
          <a:xfrm>
            <a:off x="795528" y="25923239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נתונים</a:t>
            </a:r>
          </a:p>
        </p:txBody>
      </p:sp>
      <p:sp>
        <p:nvSpPr>
          <p:cNvPr id="14993" name="TextBox 14992"/>
          <p:cNvSpPr txBox="1"/>
          <p:nvPr/>
        </p:nvSpPr>
        <p:spPr>
          <a:xfrm>
            <a:off x="2377440" y="25923239"/>
            <a:ext cx="805351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>
                <a:solidFill>
                  <a:srgbClr val="FFFFFF"/>
                </a:solidFill>
              </a:rPr>
              <a:t>MIMIC-IV v3.1  |  BigQuery  |  split 80/20 קבוע</a:t>
            </a:r>
          </a:p>
        </p:txBody>
      </p:sp>
      <p:sp>
        <p:nvSpPr>
          <p:cNvPr id="14994" name="Rectangle 14993"/>
          <p:cNvSpPr/>
          <p:nvPr/>
        </p:nvSpPr>
        <p:spPr>
          <a:xfrm>
            <a:off x="502920" y="28757879"/>
            <a:ext cx="10220642" cy="13487400"/>
          </a:xfrm>
          <a:prstGeom prst="rect">
            <a:avLst/>
          </a:prstGeom>
          <a:solidFill>
            <a:srgbClr val="F0F3F4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5" name="Rectangle 14994"/>
          <p:cNvSpPr/>
          <p:nvPr/>
        </p:nvSpPr>
        <p:spPr>
          <a:xfrm>
            <a:off x="502920" y="28757879"/>
            <a:ext cx="10220642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נתונים ומטריקות</a:t>
            </a:r>
          </a:p>
        </p:txBody>
      </p:sp>
      <p:sp>
        <p:nvSpPr>
          <p:cNvPr id="14996" name="Rectangle 14995"/>
          <p:cNvSpPr/>
          <p:nvPr/>
        </p:nvSpPr>
        <p:spPr>
          <a:xfrm>
            <a:off x="685800" y="29425392"/>
            <a:ext cx="9854882" cy="3067812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7" name="TextBox 14996"/>
          <p:cNvSpPr txBox="1"/>
          <p:nvPr/>
        </p:nvSpPr>
        <p:spPr>
          <a:xfrm>
            <a:off x="758952" y="29498544"/>
            <a:ext cx="97085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מטריקה ראשית</a:t>
            </a:r>
          </a:p>
        </p:txBody>
      </p:sp>
      <p:sp>
        <p:nvSpPr>
          <p:cNvPr id="14998" name="TextBox 14997"/>
          <p:cNvSpPr txBox="1"/>
          <p:nvPr/>
        </p:nvSpPr>
        <p:spPr>
          <a:xfrm>
            <a:off x="758952" y="29864303"/>
            <a:ext cx="97085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FFFFFF"/>
                </a:solidFill>
              </a:rPr>
              <a:t>AUC-PR Lift</a:t>
            </a:r>
          </a:p>
        </p:txBody>
      </p:sp>
      <p:sp>
        <p:nvSpPr>
          <p:cNvPr id="14999" name="TextBox 14998"/>
          <p:cNvSpPr txBox="1"/>
          <p:nvPr/>
        </p:nvSpPr>
        <p:spPr>
          <a:xfrm>
            <a:off x="758952" y="30339792"/>
            <a:ext cx="9708578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AUC-PR / prevalence  (class imbalance ~1%)</a:t>
            </a:r>
          </a:p>
        </p:txBody>
      </p:sp>
      <p:sp>
        <p:nvSpPr>
          <p:cNvPr id="15000" name="Rectangle 14999"/>
          <p:cNvSpPr/>
          <p:nvPr/>
        </p:nvSpPr>
        <p:spPr>
          <a:xfrm>
            <a:off x="685800" y="32602932"/>
            <a:ext cx="9854882" cy="306781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1" name="TextBox 15000"/>
          <p:cNvSpPr txBox="1"/>
          <p:nvPr/>
        </p:nvSpPr>
        <p:spPr>
          <a:xfrm>
            <a:off x="758952" y="32676084"/>
            <a:ext cx="97085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מטריקה משנית</a:t>
            </a:r>
          </a:p>
        </p:txBody>
      </p:sp>
      <p:sp>
        <p:nvSpPr>
          <p:cNvPr id="15002" name="TextBox 15001"/>
          <p:cNvSpPr txBox="1"/>
          <p:nvPr/>
        </p:nvSpPr>
        <p:spPr>
          <a:xfrm>
            <a:off x="758952" y="33041844"/>
            <a:ext cx="97085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5003" name="TextBox 15002"/>
          <p:cNvSpPr txBox="1"/>
          <p:nvPr/>
        </p:nvSpPr>
        <p:spPr>
          <a:xfrm>
            <a:off x="758952" y="33517332"/>
            <a:ext cx="9708578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רגישות + ספציפיות</a:t>
            </a:r>
          </a:p>
        </p:txBody>
      </p:sp>
      <p:sp>
        <p:nvSpPr>
          <p:cNvPr id="15004" name="Rectangle 15003"/>
          <p:cNvSpPr/>
          <p:nvPr/>
        </p:nvSpPr>
        <p:spPr>
          <a:xfrm>
            <a:off x="685800" y="35780472"/>
            <a:ext cx="9854882" cy="306781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5" name="TextBox 15004"/>
          <p:cNvSpPr txBox="1"/>
          <p:nvPr/>
        </p:nvSpPr>
        <p:spPr>
          <a:xfrm>
            <a:off x="758952" y="35853624"/>
            <a:ext cx="97085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רווחי סמך</a:t>
            </a:r>
          </a:p>
        </p:txBody>
      </p:sp>
      <p:sp>
        <p:nvSpPr>
          <p:cNvPr id="15006" name="TextBox 15005"/>
          <p:cNvSpPr txBox="1"/>
          <p:nvPr/>
        </p:nvSpPr>
        <p:spPr>
          <a:xfrm>
            <a:off x="758952" y="36219384"/>
            <a:ext cx="97085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FFFFFF"/>
                </a:solidFill>
              </a:rPr>
              <a:t>Bootstrap CI</a:t>
            </a:r>
          </a:p>
        </p:txBody>
      </p:sp>
      <p:sp>
        <p:nvSpPr>
          <p:cNvPr id="15007" name="TextBox 15006"/>
          <p:cNvSpPr txBox="1"/>
          <p:nvPr/>
        </p:nvSpPr>
        <p:spPr>
          <a:xfrm>
            <a:off x="758952" y="36694872"/>
            <a:ext cx="9708578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n=1,000 iterations  |  95% CI</a:t>
            </a:r>
          </a:p>
        </p:txBody>
      </p:sp>
      <p:sp>
        <p:nvSpPr>
          <p:cNvPr id="15008" name="Rectangle 15007"/>
          <p:cNvSpPr/>
          <p:nvPr/>
        </p:nvSpPr>
        <p:spPr>
          <a:xfrm>
            <a:off x="685800" y="38958012"/>
            <a:ext cx="9854882" cy="306781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9" name="TextBox 15008"/>
          <p:cNvSpPr txBox="1"/>
          <p:nvPr/>
        </p:nvSpPr>
        <p:spPr>
          <a:xfrm>
            <a:off x="758952" y="39031164"/>
            <a:ext cx="970857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</a:rPr>
              <a:t>ולידציה חיצונית</a:t>
            </a:r>
          </a:p>
        </p:txBody>
      </p:sp>
      <p:sp>
        <p:nvSpPr>
          <p:cNvPr id="15010" name="TextBox 15009"/>
          <p:cNvSpPr txBox="1"/>
          <p:nvPr/>
        </p:nvSpPr>
        <p:spPr>
          <a:xfrm>
            <a:off x="758952" y="39396924"/>
            <a:ext cx="97085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FFFFFF"/>
                </a:solidFill>
              </a:rPr>
              <a:t>NHANES + EHRSHOT</a:t>
            </a:r>
          </a:p>
        </p:txBody>
      </p:sp>
      <p:sp>
        <p:nvSpPr>
          <p:cNvPr id="15011" name="TextBox 15010"/>
          <p:cNvSpPr txBox="1"/>
          <p:nvPr/>
        </p:nvSpPr>
        <p:spPr>
          <a:xfrm>
            <a:off x="758952" y="39872412"/>
            <a:ext cx="9708578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D6EAF0"/>
                </a:solidFill>
              </a:rPr>
              <a:t>Stanford OMOP CDM  (generalisation test)</a:t>
            </a:r>
          </a:p>
        </p:txBody>
      </p:sp>
      <p:sp>
        <p:nvSpPr>
          <p:cNvPr id="15012" name="Rectangle 15011"/>
          <p:cNvSpPr/>
          <p:nvPr/>
        </p:nvSpPr>
        <p:spPr>
          <a:xfrm>
            <a:off x="11089322" y="6720840"/>
            <a:ext cx="10220642" cy="20426552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3" name="Rectangle 15012"/>
          <p:cNvSpPr/>
          <p:nvPr/>
        </p:nvSpPr>
        <p:spPr>
          <a:xfrm>
            <a:off x="11089322" y="6720840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ארכיטקטורת הפריימוורק</a:t>
            </a:r>
          </a:p>
        </p:txBody>
      </p:sp>
      <p:pic>
        <p:nvPicPr>
          <p:cNvPr id="15014" name="Picture 15013" descr="svg_framework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202" y="7452359"/>
            <a:ext cx="9854882" cy="4598945"/>
          </a:xfrm>
          <a:prstGeom prst="rect">
            <a:avLst/>
          </a:prstGeom>
        </p:spPr>
      </p:pic>
      <p:sp>
        <p:nvSpPr>
          <p:cNvPr id="15015" name="Rectangle 15014"/>
          <p:cNvSpPr/>
          <p:nvPr/>
        </p:nvSpPr>
        <p:spPr>
          <a:xfrm>
            <a:off x="11272202" y="12462785"/>
            <a:ext cx="4836001" cy="7159423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6" name="TextBox 15015"/>
          <p:cNvSpPr txBox="1"/>
          <p:nvPr/>
        </p:nvSpPr>
        <p:spPr>
          <a:xfrm>
            <a:off x="11363642" y="12554225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5017" name="TextBox 15016"/>
          <p:cNvSpPr txBox="1"/>
          <p:nvPr/>
        </p:nvSpPr>
        <p:spPr>
          <a:xfrm>
            <a:off x="11912282" y="12554225"/>
            <a:ext cx="410448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Threshold Opt.</a:t>
            </a:r>
          </a:p>
        </p:txBody>
      </p:sp>
      <p:sp>
        <p:nvSpPr>
          <p:cNvPr id="15018" name="TextBox 15017"/>
          <p:cNvSpPr txBox="1"/>
          <p:nvPr/>
        </p:nvSpPr>
        <p:spPr>
          <a:xfrm>
            <a:off x="11363642" y="12993137"/>
            <a:ext cx="4653121" cy="656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0"/>
                </a:solidFill>
              </a:rPr>
              <a:t>Youden's Index
Literature cutoffs
1 feature</a:t>
            </a:r>
          </a:p>
        </p:txBody>
      </p:sp>
      <p:sp>
        <p:nvSpPr>
          <p:cNvPr id="15019" name="Rectangle 15018"/>
          <p:cNvSpPr/>
          <p:nvPr/>
        </p:nvSpPr>
        <p:spPr>
          <a:xfrm>
            <a:off x="16291084" y="12462785"/>
            <a:ext cx="4836001" cy="7159423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0" name="TextBox 15019"/>
          <p:cNvSpPr txBox="1"/>
          <p:nvPr/>
        </p:nvSpPr>
        <p:spPr>
          <a:xfrm>
            <a:off x="16382524" y="12554225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5021" name="TextBox 15020"/>
          <p:cNvSpPr txBox="1"/>
          <p:nvPr/>
        </p:nvSpPr>
        <p:spPr>
          <a:xfrm>
            <a:off x="16931164" y="12554225"/>
            <a:ext cx="410448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Random Search</a:t>
            </a:r>
          </a:p>
        </p:txBody>
      </p:sp>
      <p:sp>
        <p:nvSpPr>
          <p:cNvPr id="15022" name="TextBox 15021"/>
          <p:cNvSpPr txBox="1"/>
          <p:nvPr/>
        </p:nvSpPr>
        <p:spPr>
          <a:xfrm>
            <a:off x="16382524" y="12993137"/>
            <a:ext cx="4653121" cy="656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0"/>
                </a:solidFill>
              </a:rPr>
              <a:t>10,000 formulas
±×÷ √ log operators
Exhaustive</a:t>
            </a:r>
          </a:p>
        </p:txBody>
      </p:sp>
      <p:sp>
        <p:nvSpPr>
          <p:cNvPr id="15023" name="Rectangle 15022"/>
          <p:cNvSpPr/>
          <p:nvPr/>
        </p:nvSpPr>
        <p:spPr>
          <a:xfrm>
            <a:off x="11272202" y="19759369"/>
            <a:ext cx="4836001" cy="7159423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4" name="TextBox 15023"/>
          <p:cNvSpPr txBox="1"/>
          <p:nvPr/>
        </p:nvSpPr>
        <p:spPr>
          <a:xfrm>
            <a:off x="11363642" y="19850809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5025" name="TextBox 15024"/>
          <p:cNvSpPr txBox="1"/>
          <p:nvPr/>
        </p:nvSpPr>
        <p:spPr>
          <a:xfrm>
            <a:off x="11912282" y="19850809"/>
            <a:ext cx="410448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Genetic Prog.  🏆</a:t>
            </a:r>
          </a:p>
        </p:txBody>
      </p:sp>
      <p:sp>
        <p:nvSpPr>
          <p:cNvPr id="15026" name="TextBox 15025"/>
          <p:cNvSpPr txBox="1"/>
          <p:nvPr/>
        </p:nvSpPr>
        <p:spPr>
          <a:xfrm>
            <a:off x="11363642" y="20289721"/>
            <a:ext cx="4653121" cy="656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0"/>
                </a:solidFill>
              </a:rPr>
              <a:t>gplearn  |  pop=500
gen=100  |  parsimony=0.0001
Best performer</a:t>
            </a:r>
          </a:p>
        </p:txBody>
      </p:sp>
      <p:sp>
        <p:nvSpPr>
          <p:cNvPr id="15027" name="Rectangle 15026"/>
          <p:cNvSpPr/>
          <p:nvPr/>
        </p:nvSpPr>
        <p:spPr>
          <a:xfrm>
            <a:off x="16291084" y="19759369"/>
            <a:ext cx="4836001" cy="7159423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8" name="TextBox 15027"/>
          <p:cNvSpPr txBox="1"/>
          <p:nvPr/>
        </p:nvSpPr>
        <p:spPr>
          <a:xfrm>
            <a:off x="16382524" y="19850809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15029" name="TextBox 15028"/>
          <p:cNvSpPr txBox="1"/>
          <p:nvPr/>
        </p:nvSpPr>
        <p:spPr>
          <a:xfrm>
            <a:off x="16931164" y="19850809"/>
            <a:ext cx="410448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LLM (Med-Gemma)</a:t>
            </a:r>
          </a:p>
        </p:txBody>
      </p:sp>
      <p:sp>
        <p:nvSpPr>
          <p:cNvPr id="15030" name="TextBox 15029"/>
          <p:cNvSpPr txBox="1"/>
          <p:nvPr/>
        </p:nvSpPr>
        <p:spPr>
          <a:xfrm>
            <a:off x="16382524" y="20289721"/>
            <a:ext cx="4653121" cy="656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AF0"/>
                </a:solidFill>
              </a:rPr>
              <a:t>Med-Gemma 4B
Seeded prompts
GPU cluster</a:t>
            </a:r>
          </a:p>
        </p:txBody>
      </p:sp>
      <p:sp>
        <p:nvSpPr>
          <p:cNvPr id="15031" name="Rectangle 15030"/>
          <p:cNvSpPr/>
          <p:nvPr/>
        </p:nvSpPr>
        <p:spPr>
          <a:xfrm>
            <a:off x="11089322" y="27513152"/>
            <a:ext cx="10220642" cy="14732127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2" name="Rectangle 15031"/>
          <p:cNvSpPr/>
          <p:nvPr/>
        </p:nvSpPr>
        <p:spPr>
          <a:xfrm>
            <a:off x="11089322" y="27513152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Cross-Method Feature Consensus — RA</a:t>
            </a:r>
          </a:p>
        </p:txBody>
      </p:sp>
      <p:pic>
        <p:nvPicPr>
          <p:cNvPr id="15033" name="Picture 150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2202" y="28244673"/>
            <a:ext cx="9854882" cy="5086391"/>
          </a:xfrm>
          <a:prstGeom prst="rect">
            <a:avLst/>
          </a:prstGeom>
        </p:spPr>
      </p:pic>
      <p:sp>
        <p:nvSpPr>
          <p:cNvPr id="15034" name="Rectangle 15033"/>
          <p:cNvSpPr/>
          <p:nvPr/>
        </p:nvSpPr>
        <p:spPr>
          <a:xfrm>
            <a:off x="11272202" y="33605384"/>
            <a:ext cx="985488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5" name="TextBox 15034"/>
          <p:cNvSpPr txBox="1"/>
          <p:nvPr/>
        </p:nvSpPr>
        <p:spPr>
          <a:xfrm>
            <a:off x="11345354" y="33678536"/>
            <a:ext cx="970857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RDW · PLT · MCHC — consensus biomarkers across all 4 methods</a:t>
            </a:r>
          </a:p>
        </p:txBody>
      </p:sp>
      <p:sp>
        <p:nvSpPr>
          <p:cNvPr id="15036" name="Rectangle 15035"/>
          <p:cNvSpPr/>
          <p:nvPr/>
        </p:nvSpPr>
        <p:spPr>
          <a:xfrm>
            <a:off x="11272202" y="34199744"/>
            <a:ext cx="1371600" cy="2544685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7" name="TextBox 15036"/>
          <p:cNvSpPr txBox="1"/>
          <p:nvPr/>
        </p:nvSpPr>
        <p:spPr>
          <a:xfrm>
            <a:off x="11272202" y="34199744"/>
            <a:ext cx="1371600" cy="254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RDW</a:t>
            </a:r>
          </a:p>
        </p:txBody>
      </p:sp>
      <p:sp>
        <p:nvSpPr>
          <p:cNvPr id="15038" name="TextBox 15037"/>
          <p:cNvSpPr txBox="1"/>
          <p:nvPr/>
        </p:nvSpPr>
        <p:spPr>
          <a:xfrm>
            <a:off x="12716954" y="34245464"/>
            <a:ext cx="8410130" cy="245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הכי עקבי: 85% ב-GP, 100% ב-Threshold, 64% ב-LLM</a:t>
            </a:r>
          </a:p>
        </p:txBody>
      </p:sp>
      <p:sp>
        <p:nvSpPr>
          <p:cNvPr id="15039" name="Rectangle 15038"/>
          <p:cNvSpPr/>
          <p:nvPr/>
        </p:nvSpPr>
        <p:spPr>
          <a:xfrm>
            <a:off x="11272202" y="36790149"/>
            <a:ext cx="1371600" cy="2544685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0" name="TextBox 15039"/>
          <p:cNvSpPr txBox="1"/>
          <p:nvPr/>
        </p:nvSpPr>
        <p:spPr>
          <a:xfrm>
            <a:off x="11272202" y="36790149"/>
            <a:ext cx="1371600" cy="254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PLT</a:t>
            </a:r>
          </a:p>
        </p:txBody>
      </p:sp>
      <p:sp>
        <p:nvSpPr>
          <p:cNvPr id="15041" name="TextBox 15040"/>
          <p:cNvSpPr txBox="1"/>
          <p:nvPr/>
        </p:nvSpPr>
        <p:spPr>
          <a:xfrm>
            <a:off x="12716954" y="36835869"/>
            <a:ext cx="8410130" cy="245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מופיע ב-3/4 שיטות; GP 90%, Random 60%</a:t>
            </a:r>
          </a:p>
        </p:txBody>
      </p:sp>
      <p:sp>
        <p:nvSpPr>
          <p:cNvPr id="15042" name="Rectangle 15041"/>
          <p:cNvSpPr/>
          <p:nvPr/>
        </p:nvSpPr>
        <p:spPr>
          <a:xfrm>
            <a:off x="11272202" y="39380554"/>
            <a:ext cx="1371600" cy="2544685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3" name="TextBox 15042"/>
          <p:cNvSpPr txBox="1"/>
          <p:nvPr/>
        </p:nvSpPr>
        <p:spPr>
          <a:xfrm>
            <a:off x="11272202" y="39380554"/>
            <a:ext cx="1371600" cy="2544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MCHC</a:t>
            </a:r>
          </a:p>
        </p:txBody>
      </p:sp>
      <p:sp>
        <p:nvSpPr>
          <p:cNvPr id="15044" name="TextBox 15043"/>
          <p:cNvSpPr txBox="1"/>
          <p:nvPr/>
        </p:nvSpPr>
        <p:spPr>
          <a:xfrm>
            <a:off x="12716954" y="39426274"/>
            <a:ext cx="8410130" cy="245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אינדיקטור לאנמיה — הוסק באופן עצמאי בכל שיטה</a:t>
            </a:r>
          </a:p>
        </p:txBody>
      </p:sp>
      <p:sp>
        <p:nvSpPr>
          <p:cNvPr id="15045" name="Rectangle 15044"/>
          <p:cNvSpPr/>
          <p:nvPr/>
        </p:nvSpPr>
        <p:spPr>
          <a:xfrm>
            <a:off x="21675725" y="6720840"/>
            <a:ext cx="10220642" cy="15808375"/>
          </a:xfrm>
          <a:prstGeom prst="rect">
            <a:avLst/>
          </a:prstGeom>
          <a:solidFill>
            <a:srgbClr val="F0F3F4"/>
          </a:solidFill>
          <a:ln w="1905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6" name="Rectangle 15045"/>
          <p:cNvSpPr/>
          <p:nvPr/>
        </p:nvSpPr>
        <p:spPr>
          <a:xfrm>
            <a:off x="21675725" y="6720840"/>
            <a:ext cx="10220642" cy="50292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תוצאות — Rheumatoid Arthritis</a:t>
            </a:r>
          </a:p>
        </p:txBody>
      </p:sp>
      <p:pic>
        <p:nvPicPr>
          <p:cNvPr id="15047" name="Picture 15046" descr="svg_ra_aucpr_l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58605" y="7452359"/>
            <a:ext cx="9854882" cy="6353805"/>
          </a:xfrm>
          <a:prstGeom prst="rect">
            <a:avLst/>
          </a:prstGeom>
        </p:spPr>
      </p:pic>
      <p:sp>
        <p:nvSpPr>
          <p:cNvPr id="15048" name="TextBox 15047"/>
          <p:cNvSpPr txBox="1"/>
          <p:nvPr/>
        </p:nvSpPr>
        <p:spPr>
          <a:xfrm>
            <a:off x="21812885" y="14126205"/>
            <a:ext cx="994632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300" b="1" i="0">
                <a:solidFill>
                  <a:srgbClr val="E8773D"/>
                </a:solidFill>
              </a:rPr>
              <a:t>ממצאים עיקריים</a:t>
            </a:r>
          </a:p>
        </p:txBody>
      </p:sp>
      <p:sp>
        <p:nvSpPr>
          <p:cNvPr id="15049" name="Rectangle 15048"/>
          <p:cNvSpPr/>
          <p:nvPr/>
        </p:nvSpPr>
        <p:spPr>
          <a:xfrm>
            <a:off x="21812885" y="14629125"/>
            <a:ext cx="91440" cy="1860722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0" name="TextBox 15049"/>
          <p:cNvSpPr txBox="1"/>
          <p:nvPr/>
        </p:nvSpPr>
        <p:spPr>
          <a:xfrm>
            <a:off x="21995765" y="14674845"/>
            <a:ext cx="9763442" cy="178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GP מנצח: 1.59× lift עם 4 features — עולה על LR (1.49×) שמשתמש ב-14</a:t>
            </a:r>
          </a:p>
        </p:txBody>
      </p:sp>
      <p:sp>
        <p:nvSpPr>
          <p:cNvPr id="15051" name="Rectangle 15050"/>
          <p:cNvSpPr/>
          <p:nvPr/>
        </p:nvSpPr>
        <p:spPr>
          <a:xfrm>
            <a:off x="21812885" y="16581288"/>
            <a:ext cx="91440" cy="186072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2" name="TextBox 15051"/>
          <p:cNvSpPr txBox="1"/>
          <p:nvPr/>
        </p:nvSpPr>
        <p:spPr>
          <a:xfrm>
            <a:off x="21995765" y="16627008"/>
            <a:ext cx="9763442" cy="178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LLM הכי יעיל: 3 features, 2 ops, lift 1.45× — כמעט שקול ל-LR</a:t>
            </a:r>
          </a:p>
        </p:txBody>
      </p:sp>
      <p:sp>
        <p:nvSpPr>
          <p:cNvPr id="15053" name="Rectangle 15052"/>
          <p:cNvSpPr/>
          <p:nvPr/>
        </p:nvSpPr>
        <p:spPr>
          <a:xfrm>
            <a:off x="21812885" y="18533450"/>
            <a:ext cx="91440" cy="186072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4" name="TextBox 15053"/>
          <p:cNvSpPr txBox="1"/>
          <p:nvPr/>
        </p:nvSpPr>
        <p:spPr>
          <a:xfrm>
            <a:off x="21995765" y="18579170"/>
            <a:ext cx="9763442" cy="178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Random לא מספיק: 7 features, 18 ops → 1.32× (מתחת baseline)</a:t>
            </a:r>
          </a:p>
        </p:txBody>
      </p:sp>
      <p:sp>
        <p:nvSpPr>
          <p:cNvPr id="15055" name="Rectangle 15054"/>
          <p:cNvSpPr/>
          <p:nvPr/>
        </p:nvSpPr>
        <p:spPr>
          <a:xfrm>
            <a:off x="21812885" y="20485613"/>
            <a:ext cx="91440" cy="186072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6" name="TextBox 15055"/>
          <p:cNvSpPr txBox="1"/>
          <p:nvPr/>
        </p:nvSpPr>
        <p:spPr>
          <a:xfrm>
            <a:off x="21995765" y="20531333"/>
            <a:ext cx="9763442" cy="178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0" i="0">
                <a:solidFill>
                  <a:srgbClr val="2C3E50"/>
                </a:solidFill>
              </a:rPr>
              <a:t>Threshold נקודת ייחוס: feature יחיד (rbc&lt;3.99) → 1.38×</a:t>
            </a:r>
          </a:p>
        </p:txBody>
      </p:sp>
      <p:sp>
        <p:nvSpPr>
          <p:cNvPr id="15057" name="Rectangle 15056"/>
          <p:cNvSpPr/>
          <p:nvPr/>
        </p:nvSpPr>
        <p:spPr>
          <a:xfrm>
            <a:off x="21675725" y="22894975"/>
            <a:ext cx="10220642" cy="9946843"/>
          </a:xfrm>
          <a:prstGeom prst="rect">
            <a:avLst/>
          </a:prstGeom>
          <a:solidFill>
            <a:srgbClr val="F0F3F4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8" name="Rectangle 15057"/>
          <p:cNvSpPr/>
          <p:nvPr/>
        </p:nvSpPr>
        <p:spPr>
          <a:xfrm>
            <a:off x="21675725" y="22894975"/>
            <a:ext cx="10220642" cy="50292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מסקנות</a:t>
            </a:r>
          </a:p>
        </p:txBody>
      </p:sp>
      <p:sp>
        <p:nvSpPr>
          <p:cNvPr id="15059" name="Rectangle 15058"/>
          <p:cNvSpPr/>
          <p:nvPr/>
        </p:nvSpPr>
        <p:spPr>
          <a:xfrm>
            <a:off x="21858605" y="23535055"/>
            <a:ext cx="9854882" cy="2194102"/>
          </a:xfrm>
          <a:prstGeom prst="rect">
            <a:avLst/>
          </a:prstGeom>
          <a:solidFill>
            <a:srgbClr val="FDEBD7"/>
          </a:solidFill>
          <a:ln w="12700">
            <a:solidFill>
              <a:srgbClr val="E87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0" name="TextBox 15059"/>
          <p:cNvSpPr txBox="1"/>
          <p:nvPr/>
        </p:nvSpPr>
        <p:spPr>
          <a:xfrm>
            <a:off x="31027688" y="23626495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🏆</a:t>
            </a:r>
          </a:p>
        </p:txBody>
      </p:sp>
      <p:sp>
        <p:nvSpPr>
          <p:cNvPr id="15061" name="TextBox 15060"/>
          <p:cNvSpPr txBox="1"/>
          <p:nvPr/>
        </p:nvSpPr>
        <p:spPr>
          <a:xfrm>
            <a:off x="21995765" y="23644783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E8773D"/>
                </a:solidFill>
              </a:rPr>
              <a:t>Genetic Programming</a:t>
            </a:r>
          </a:p>
        </p:txBody>
      </p:sp>
      <p:sp>
        <p:nvSpPr>
          <p:cNvPr id="15062" name="TextBox 15061"/>
          <p:cNvSpPr txBox="1"/>
          <p:nvPr/>
        </p:nvSpPr>
        <p:spPr>
          <a:xfrm>
            <a:off x="21995765" y="24175135"/>
            <a:ext cx="9580562" cy="1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השיטה הטובה ביותר — 1.59× ב-RA עם 4 features. מגלה אינטראקציות (mono_pct/neut_pct) שה-LLM לא מצא.</a:t>
            </a:r>
          </a:p>
        </p:txBody>
      </p:sp>
      <p:sp>
        <p:nvSpPr>
          <p:cNvPr id="15063" name="Rectangle 15062"/>
          <p:cNvSpPr/>
          <p:nvPr/>
        </p:nvSpPr>
        <p:spPr>
          <a:xfrm>
            <a:off x="21858605" y="25838886"/>
            <a:ext cx="9854882" cy="2194102"/>
          </a:xfrm>
          <a:prstGeom prst="rect">
            <a:avLst/>
          </a:prstGeom>
          <a:solidFill>
            <a:srgbClr val="D6EAF0"/>
          </a:solidFill>
          <a:ln w="1270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4" name="TextBox 15063"/>
          <p:cNvSpPr txBox="1"/>
          <p:nvPr/>
        </p:nvSpPr>
        <p:spPr>
          <a:xfrm>
            <a:off x="31027688" y="2593032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⚡</a:t>
            </a:r>
          </a:p>
        </p:txBody>
      </p:sp>
      <p:sp>
        <p:nvSpPr>
          <p:cNvPr id="15065" name="TextBox 15064"/>
          <p:cNvSpPr txBox="1"/>
          <p:nvPr/>
        </p:nvSpPr>
        <p:spPr>
          <a:xfrm>
            <a:off x="21995765" y="25948614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1A7A8A"/>
                </a:solidFill>
              </a:rPr>
              <a:t>LLM (Med-Gemma 4B)</a:t>
            </a:r>
          </a:p>
        </p:txBody>
      </p:sp>
      <p:sp>
        <p:nvSpPr>
          <p:cNvPr id="15066" name="TextBox 15065"/>
          <p:cNvSpPr txBox="1"/>
          <p:nvPr/>
        </p:nvSpPr>
        <p:spPr>
          <a:xfrm>
            <a:off x="21995765" y="26478966"/>
            <a:ext cx="9580562" cy="1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נוסחה: (hct−hgb)/(plt+0.01) — 3 features, 2 ops, lift 1.45×. ידע רפואי מייצר נוסחאות פשוטות ויעילות.</a:t>
            </a:r>
          </a:p>
        </p:txBody>
      </p:sp>
      <p:sp>
        <p:nvSpPr>
          <p:cNvPr id="15067" name="Rectangle 15066"/>
          <p:cNvSpPr/>
          <p:nvPr/>
        </p:nvSpPr>
        <p:spPr>
          <a:xfrm>
            <a:off x="21858605" y="28142717"/>
            <a:ext cx="9854882" cy="2194102"/>
          </a:xfrm>
          <a:prstGeom prst="rect">
            <a:avLst/>
          </a:prstGeom>
          <a:solidFill>
            <a:srgbClr val="F0F3F4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8" name="TextBox 15067"/>
          <p:cNvSpPr txBox="1"/>
          <p:nvPr/>
        </p:nvSpPr>
        <p:spPr>
          <a:xfrm>
            <a:off x="31027688" y="28234157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15069" name="TextBox 15068"/>
          <p:cNvSpPr txBox="1"/>
          <p:nvPr/>
        </p:nvSpPr>
        <p:spPr>
          <a:xfrm>
            <a:off x="21995765" y="28252445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2C3E50"/>
                </a:solidFill>
              </a:rPr>
              <a:t>הפריימוורק עובד</a:t>
            </a:r>
          </a:p>
        </p:txBody>
      </p:sp>
      <p:sp>
        <p:nvSpPr>
          <p:cNvPr id="15070" name="TextBox 15069"/>
          <p:cNvSpPr txBox="1"/>
          <p:nvPr/>
        </p:nvSpPr>
        <p:spPr>
          <a:xfrm>
            <a:off x="21995765" y="28782797"/>
            <a:ext cx="9580562" cy="1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השוואה הוגנת: אותם נתונים, split ומטריקות לכל 4 שיטות. כל שיטה חושפת היבט שונה של המרחב.</a:t>
            </a:r>
          </a:p>
        </p:txBody>
      </p:sp>
      <p:sp>
        <p:nvSpPr>
          <p:cNvPr id="15071" name="Rectangle 15070"/>
          <p:cNvSpPr/>
          <p:nvPr/>
        </p:nvSpPr>
        <p:spPr>
          <a:xfrm>
            <a:off x="21858605" y="30446548"/>
            <a:ext cx="9854882" cy="2194102"/>
          </a:xfrm>
          <a:prstGeom prst="rect">
            <a:avLst/>
          </a:prstGeom>
          <a:solidFill>
            <a:srgbClr val="F0F3F4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2" name="TextBox 15071"/>
          <p:cNvSpPr txBox="1"/>
          <p:nvPr/>
        </p:nvSpPr>
        <p:spPr>
          <a:xfrm>
            <a:off x="31027688" y="3053798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C3E50"/>
                </a:solidFill>
              </a:rPr>
              <a:t>⚠</a:t>
            </a:r>
          </a:p>
        </p:txBody>
      </p:sp>
      <p:sp>
        <p:nvSpPr>
          <p:cNvPr id="15073" name="TextBox 15072"/>
          <p:cNvSpPr txBox="1"/>
          <p:nvPr/>
        </p:nvSpPr>
        <p:spPr>
          <a:xfrm>
            <a:off x="21995765" y="30556276"/>
            <a:ext cx="898620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 i="0">
                <a:solidFill>
                  <a:srgbClr val="7F8C8D"/>
                </a:solidFill>
              </a:rPr>
              <a:t>מגבלות</a:t>
            </a:r>
          </a:p>
        </p:txBody>
      </p:sp>
      <p:sp>
        <p:nvSpPr>
          <p:cNvPr id="15074" name="TextBox 15073"/>
          <p:cNvSpPr txBox="1"/>
          <p:nvPr/>
        </p:nvSpPr>
        <p:spPr>
          <a:xfrm>
            <a:off x="21995765" y="31086628"/>
            <a:ext cx="9580562" cy="1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CI רחב בשל test set קטן (~300 cases). הפרשים בין שיטות אינם מובהקים סטטיסטית.</a:t>
            </a:r>
          </a:p>
        </p:txBody>
      </p:sp>
      <p:sp>
        <p:nvSpPr>
          <p:cNvPr id="15075" name="Rectangle 15074"/>
          <p:cNvSpPr/>
          <p:nvPr/>
        </p:nvSpPr>
        <p:spPr>
          <a:xfrm>
            <a:off x="21675725" y="33207578"/>
            <a:ext cx="10220642" cy="9037701"/>
          </a:xfrm>
          <a:prstGeom prst="rect">
            <a:avLst/>
          </a:prstGeom>
          <a:solidFill>
            <a:srgbClr val="F0F3F4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6" name="Rectangle 15075"/>
          <p:cNvSpPr/>
          <p:nvPr/>
        </p:nvSpPr>
        <p:spPr>
          <a:xfrm>
            <a:off x="21675725" y="33207578"/>
            <a:ext cx="10220642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ולידציה חיצונית  ·  המשך מחקר</a:t>
            </a:r>
          </a:p>
        </p:txBody>
      </p:sp>
      <p:sp>
        <p:nvSpPr>
          <p:cNvPr id="15077" name="Rectangle 15076"/>
          <p:cNvSpPr/>
          <p:nvPr/>
        </p:nvSpPr>
        <p:spPr>
          <a:xfrm>
            <a:off x="21858605" y="33875090"/>
            <a:ext cx="9854882" cy="4572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8" name="TextBox 15077"/>
          <p:cNvSpPr txBox="1"/>
          <p:nvPr/>
        </p:nvSpPr>
        <p:spPr>
          <a:xfrm>
            <a:off x="21931757" y="33939098"/>
            <a:ext cx="97085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FFFFFF"/>
                </a:solidFill>
              </a:rPr>
              <a:t>ולידציה חיצונית: EHRSHOT (Stanford) + NHANES</a:t>
            </a:r>
          </a:p>
        </p:txBody>
      </p:sp>
      <p:sp>
        <p:nvSpPr>
          <p:cNvPr id="15079" name="Rectangle 15078"/>
          <p:cNvSpPr/>
          <p:nvPr/>
        </p:nvSpPr>
        <p:spPr>
          <a:xfrm>
            <a:off x="21858605" y="34579178"/>
            <a:ext cx="109728" cy="594360"/>
          </a:xfrm>
          <a:prstGeom prst="rect">
            <a:avLst/>
          </a:prstGeom>
          <a:solidFill>
            <a:srgbClr val="E87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0" name="TextBox 15079"/>
          <p:cNvSpPr txBox="1"/>
          <p:nvPr/>
        </p:nvSpPr>
        <p:spPr>
          <a:xfrm>
            <a:off x="22059773" y="34487738"/>
            <a:ext cx="965371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GP מחזיק ביצועים ב-EHRSHOT: RA 1.59× → 2.46× (שיפור!)</a:t>
            </a:r>
          </a:p>
        </p:txBody>
      </p:sp>
      <p:sp>
        <p:nvSpPr>
          <p:cNvPr id="15081" name="Rectangle 15080"/>
          <p:cNvSpPr/>
          <p:nvPr/>
        </p:nvSpPr>
        <p:spPr>
          <a:xfrm>
            <a:off x="21858605" y="35585018"/>
            <a:ext cx="109728" cy="59436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2" name="TextBox 15081"/>
          <p:cNvSpPr txBox="1"/>
          <p:nvPr/>
        </p:nvSpPr>
        <p:spPr>
          <a:xfrm>
            <a:off x="22059773" y="35493578"/>
            <a:ext cx="965371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LLM overfits: Lupus 3.70× (MIMIC) → 1.76× (EHRSHOT)</a:t>
            </a:r>
          </a:p>
        </p:txBody>
      </p:sp>
      <p:sp>
        <p:nvSpPr>
          <p:cNvPr id="15083" name="Rectangle 15082"/>
          <p:cNvSpPr/>
          <p:nvPr/>
        </p:nvSpPr>
        <p:spPr>
          <a:xfrm>
            <a:off x="21858605" y="36590858"/>
            <a:ext cx="109728" cy="5943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4" name="TextBox 15083"/>
          <p:cNvSpPr txBox="1"/>
          <p:nvPr/>
        </p:nvSpPr>
        <p:spPr>
          <a:xfrm>
            <a:off x="22059773" y="36499418"/>
            <a:ext cx="965371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2C3E50"/>
                </a:solidFill>
              </a:rPr>
              <a:t>NHANES: AUC-PR גולמי ל-RA + Psoriasis (Lift חסר)</a:t>
            </a:r>
          </a:p>
        </p:txBody>
      </p:sp>
      <p:sp>
        <p:nvSpPr>
          <p:cNvPr id="15085" name="Rectangle 15084"/>
          <p:cNvSpPr/>
          <p:nvPr/>
        </p:nvSpPr>
        <p:spPr>
          <a:xfrm>
            <a:off x="21858605" y="37642418"/>
            <a:ext cx="9854882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6" name="TextBox 15085"/>
          <p:cNvSpPr txBox="1"/>
          <p:nvPr/>
        </p:nvSpPr>
        <p:spPr>
          <a:xfrm>
            <a:off x="21931757" y="37697282"/>
            <a:ext cx="97085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FFFFFF"/>
                </a:solidFill>
              </a:rPr>
              <a:t>🔭  המשך מחקר</a:t>
            </a:r>
          </a:p>
        </p:txBody>
      </p:sp>
      <p:sp>
        <p:nvSpPr>
          <p:cNvPr id="15087" name="Rectangle 15086"/>
          <p:cNvSpPr/>
          <p:nvPr/>
        </p:nvSpPr>
        <p:spPr>
          <a:xfrm>
            <a:off x="21858605" y="38209346"/>
            <a:ext cx="9854882" cy="803243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8" name="TextBox 15087"/>
          <p:cNvSpPr txBox="1"/>
          <p:nvPr/>
        </p:nvSpPr>
        <p:spPr>
          <a:xfrm>
            <a:off x="21950045" y="38264210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Nested Cross-Validation</a:t>
            </a:r>
          </a:p>
        </p:txBody>
      </p:sp>
      <p:sp>
        <p:nvSpPr>
          <p:cNvPr id="15089" name="TextBox 15088"/>
          <p:cNvSpPr txBox="1"/>
          <p:nvPr/>
        </p:nvSpPr>
        <p:spPr>
          <a:xfrm>
            <a:off x="21950045" y="38629970"/>
            <a:ext cx="9672002" cy="3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5-fold stratified CV — הערכה מהימנה יותר</a:t>
            </a:r>
          </a:p>
        </p:txBody>
      </p:sp>
      <p:sp>
        <p:nvSpPr>
          <p:cNvPr id="15090" name="Rectangle 15089"/>
          <p:cNvSpPr/>
          <p:nvPr/>
        </p:nvSpPr>
        <p:spPr>
          <a:xfrm>
            <a:off x="21858605" y="39104030"/>
            <a:ext cx="9854882" cy="803243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1" name="TextBox 15090"/>
          <p:cNvSpPr txBox="1"/>
          <p:nvPr/>
        </p:nvSpPr>
        <p:spPr>
          <a:xfrm>
            <a:off x="21950045" y="39158894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Seeded GP מכל המחלות</a:t>
            </a:r>
          </a:p>
        </p:txBody>
      </p:sp>
      <p:sp>
        <p:nvSpPr>
          <p:cNvPr id="15092" name="TextBox 15091"/>
          <p:cNvSpPr txBox="1"/>
          <p:nvPr/>
        </p:nvSpPr>
        <p:spPr>
          <a:xfrm>
            <a:off x="21950045" y="39524654"/>
            <a:ext cx="9672002" cy="3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LLM seeds כאתחול לאוכלוסיית GP (hybrid)</a:t>
            </a:r>
          </a:p>
        </p:txBody>
      </p:sp>
      <p:sp>
        <p:nvSpPr>
          <p:cNvPr id="15093" name="Rectangle 15092"/>
          <p:cNvSpPr/>
          <p:nvPr/>
        </p:nvSpPr>
        <p:spPr>
          <a:xfrm>
            <a:off x="21858605" y="39998713"/>
            <a:ext cx="9854882" cy="803243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4" name="TextBox 15093"/>
          <p:cNvSpPr txBox="1"/>
          <p:nvPr/>
        </p:nvSpPr>
        <p:spPr>
          <a:xfrm>
            <a:off x="21950045" y="40053577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Cross-method equivalence</a:t>
            </a:r>
          </a:p>
        </p:txBody>
      </p:sp>
      <p:sp>
        <p:nvSpPr>
          <p:cNvPr id="15095" name="TextBox 15094"/>
          <p:cNvSpPr txBox="1"/>
          <p:nvPr/>
        </p:nvSpPr>
        <p:spPr>
          <a:xfrm>
            <a:off x="21950045" y="40419337"/>
            <a:ext cx="9672002" cy="3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Pearson r בין score vectors של שיטות שונות</a:t>
            </a:r>
          </a:p>
        </p:txBody>
      </p:sp>
      <p:sp>
        <p:nvSpPr>
          <p:cNvPr id="15096" name="Rectangle 15095"/>
          <p:cNvSpPr/>
          <p:nvPr/>
        </p:nvSpPr>
        <p:spPr>
          <a:xfrm>
            <a:off x="21858605" y="40893396"/>
            <a:ext cx="9854882" cy="803243"/>
          </a:xfrm>
          <a:prstGeom prst="rect">
            <a:avLst/>
          </a:prstGeom>
          <a:solidFill>
            <a:srgbClr val="F0F3F4"/>
          </a:solidFill>
          <a:ln w="1016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7" name="TextBox 15096"/>
          <p:cNvSpPr txBox="1"/>
          <p:nvPr/>
        </p:nvSpPr>
        <p:spPr>
          <a:xfrm>
            <a:off x="21950045" y="40948260"/>
            <a:ext cx="967200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 b="1" i="0">
                <a:solidFill>
                  <a:srgbClr val="2C3E50"/>
                </a:solidFill>
              </a:rPr>
              <a:t>הרחבה למחלות נוספות</a:t>
            </a:r>
          </a:p>
        </p:txBody>
      </p:sp>
      <p:sp>
        <p:nvSpPr>
          <p:cNvPr id="15098" name="TextBox 15097"/>
          <p:cNvSpPr txBox="1"/>
          <p:nvPr/>
        </p:nvSpPr>
        <p:spPr>
          <a:xfrm>
            <a:off x="21950045" y="41314020"/>
            <a:ext cx="9672002" cy="34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7F8C8D"/>
                </a:solidFill>
              </a:rPr>
              <a:t>הפריימוורק agnostic — ICD + CBC = מספיק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7E0B64-F867-EF80-DE33-82643142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610E37-1E55-1209-F8FC-9009E2A131AE}"/>
              </a:ext>
            </a:extLst>
          </p:cNvPr>
          <p:cNvSpPr/>
          <p:nvPr/>
        </p:nvSpPr>
        <p:spPr>
          <a:xfrm>
            <a:off x="-2382" y="1"/>
            <a:ext cx="32404051" cy="637888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F21BE7-7F1B-6561-C94C-B10E7CC7D878}"/>
              </a:ext>
            </a:extLst>
          </p:cNvPr>
          <p:cNvGrpSpPr/>
          <p:nvPr/>
        </p:nvGrpSpPr>
        <p:grpSpPr>
          <a:xfrm>
            <a:off x="983457" y="2781837"/>
            <a:ext cx="30432375" cy="3521911"/>
            <a:chOff x="674758" y="2781837"/>
            <a:chExt cx="30432375" cy="3521911"/>
          </a:xfrm>
        </p:grpSpPr>
        <p:sp>
          <p:nvSpPr>
            <p:cNvPr id="14338" name="TextBox 6">
              <a:extLst>
                <a:ext uri="{FF2B5EF4-FFF2-40B4-BE49-F238E27FC236}">
                  <a16:creationId xmlns:a16="http://schemas.microsoft.com/office/drawing/2014/main" id="{CEA09501-7B0E-C8E7-2976-88274B211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758" y="2781837"/>
              <a:ext cx="30432375" cy="2708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ts val="10000"/>
                </a:lnSpc>
              </a:pPr>
              <a:r>
                <a:rPr lang="he-IL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שימוש בכלים חישוביים לגילוי סמנים ביולוגיים </a:t>
              </a:r>
              <a:br>
                <a:rPr lang="en-US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he-IL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מנתוני ספירת דם כללית</a:t>
              </a:r>
            </a:p>
          </p:txBody>
        </p:sp>
        <p:sp>
          <p:nvSpPr>
            <p:cNvPr id="14340" name="TextBox 10">
              <a:extLst>
                <a:ext uri="{FF2B5EF4-FFF2-40B4-BE49-F238E27FC236}">
                  <a16:creationId xmlns:a16="http://schemas.microsoft.com/office/drawing/2014/main" id="{9DCA0798-FD27-C326-DD8A-430228706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9633" y="5103419"/>
              <a:ext cx="21002625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he-IL" altLang="he-IL" sz="7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אופק וילקרסטון | מנחה: פרופ' נעה דגן</a:t>
              </a:r>
              <a:endParaRPr lang="en-US" altLang="he-IL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342" name="TextBox 1">
            <a:extLst>
              <a:ext uri="{FF2B5EF4-FFF2-40B4-BE49-F238E27FC236}">
                <a16:creationId xmlns:a16="http://schemas.microsoft.com/office/drawing/2014/main" id="{BD7AD89D-0925-7571-62FA-FC1B6B470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54" y="362187"/>
            <a:ext cx="52022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he-IL" altLang="he-IL" sz="7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en-US" altLang="he-I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תמונה 4">
            <a:extLst>
              <a:ext uri="{FF2B5EF4-FFF2-40B4-BE49-F238E27FC236}">
                <a16:creationId xmlns:a16="http://schemas.microsoft.com/office/drawing/2014/main" id="{D2BEE38C-F7CB-4D36-D425-A889497CE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7502" y="169093"/>
            <a:ext cx="13198805" cy="2135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823F7A04-2A1E-27B4-42EA-0F2096379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4420" y="1551345"/>
            <a:ext cx="8523916" cy="12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lnSpc>
                <a:spcPts val="10000"/>
              </a:lnSpc>
            </a:pPr>
            <a:r>
              <a:rPr lang="he-IL" altLang="he-IL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התוכנית להנדסת מערכות מידע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EC3779-5BBA-DFE6-D36F-D60F241CE7CA}"/>
              </a:ext>
            </a:extLst>
          </p:cNvPr>
          <p:cNvSpPr/>
          <p:nvPr/>
        </p:nvSpPr>
        <p:spPr>
          <a:xfrm>
            <a:off x="0" y="42245280"/>
            <a:ext cx="32399288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F448CA-2A7A-A27A-E107-282192670CC8}"/>
              </a:ext>
            </a:extLst>
          </p:cNvPr>
          <p:cNvSpPr txBox="1"/>
          <p:nvPr/>
        </p:nvSpPr>
        <p:spPr>
          <a:xfrm>
            <a:off x="10510746" y="11407652"/>
            <a:ext cx="14352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5400" b="1" spc="0" baseline="0">
                <a:ln/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Framework Architecture — Interchangeable Logic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2E067C-EE10-D548-227F-0A72F115114C}"/>
              </a:ext>
            </a:extLst>
          </p:cNvPr>
          <p:cNvSpPr/>
          <p:nvPr/>
        </p:nvSpPr>
        <p:spPr>
          <a:xfrm>
            <a:off x="1441149" y="13697078"/>
            <a:ext cx="4815234" cy="8942578"/>
          </a:xfrm>
          <a:prstGeom prst="roundRect">
            <a:avLst>
              <a:gd name="adj" fmla="val 5714"/>
            </a:avLst>
          </a:prstGeom>
          <a:solidFill>
            <a:srgbClr val="1A7A8A"/>
          </a:solidFill>
          <a:ln w="34385" cap="flat">
            <a:noFill/>
            <a:prstDash val="solid"/>
            <a:miter/>
          </a:ln>
        </p:spPr>
        <p:txBody>
          <a:bodyPr/>
          <a:lstStyle/>
          <a:p>
            <a:endParaRPr lang="LID4096" sz="16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B17BA-DFA2-AB40-B0D7-A7B6473DDADA}"/>
              </a:ext>
            </a:extLst>
          </p:cNvPr>
          <p:cNvSpPr txBox="1"/>
          <p:nvPr/>
        </p:nvSpPr>
        <p:spPr>
          <a:xfrm>
            <a:off x="2847786" y="14085488"/>
            <a:ext cx="2480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4400" b="1" spc="0" baseline="0">
                <a:ln/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CBC Input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FF3D61-829D-79AF-85CB-4EA57C9910AD}"/>
              </a:ext>
            </a:extLst>
          </p:cNvPr>
          <p:cNvSpPr txBox="1"/>
          <p:nvPr/>
        </p:nvSpPr>
        <p:spPr>
          <a:xfrm>
            <a:off x="2861355" y="14735693"/>
            <a:ext cx="26118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4000" spc="0" baseline="0">
                <a:ln/>
                <a:solidFill>
                  <a:srgbClr val="D6EAF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14 Features</a:t>
            </a:r>
          </a:p>
        </p:txBody>
      </p:sp>
      <p:grpSp>
        <p:nvGrpSpPr>
          <p:cNvPr id="15" name="Graphic 7">
            <a:extLst>
              <a:ext uri="{FF2B5EF4-FFF2-40B4-BE49-F238E27FC236}">
                <a16:creationId xmlns:a16="http://schemas.microsoft.com/office/drawing/2014/main" id="{01610953-2D74-2EA2-CD38-FE1FB856BA40}"/>
              </a:ext>
            </a:extLst>
          </p:cNvPr>
          <p:cNvGrpSpPr/>
          <p:nvPr/>
        </p:nvGrpSpPr>
        <p:grpSpPr>
          <a:xfrm>
            <a:off x="1957067" y="15485594"/>
            <a:ext cx="4462636" cy="4565206"/>
            <a:chOff x="1957067" y="15485594"/>
            <a:chExt cx="4462636" cy="456520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7594DAE-CDF5-5BAC-2D84-D04A58DBCC07}"/>
                </a:ext>
              </a:extLst>
            </p:cNvPr>
            <p:cNvSpPr/>
            <p:nvPr/>
          </p:nvSpPr>
          <p:spPr>
            <a:xfrm>
              <a:off x="1957067" y="15485594"/>
              <a:ext cx="3783398" cy="619101"/>
            </a:xfrm>
            <a:prstGeom prst="roundRect">
              <a:avLst>
                <a:gd name="adj" fmla="val 22222"/>
              </a:avLst>
            </a:prstGeom>
            <a:solidFill>
              <a:srgbClr val="12607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83D67F2-88F7-CA30-7FDF-EC088D9198D9}"/>
                </a:ext>
              </a:extLst>
            </p:cNvPr>
            <p:cNvSpPr txBox="1"/>
            <p:nvPr/>
          </p:nvSpPr>
          <p:spPr>
            <a:xfrm>
              <a:off x="2576442" y="15559516"/>
              <a:ext cx="370575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HCT · HGB · MCH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93DF52D-896F-B1B2-21CA-3D33A9930A9B}"/>
                </a:ext>
              </a:extLst>
            </p:cNvPr>
            <p:cNvSpPr/>
            <p:nvPr/>
          </p:nvSpPr>
          <p:spPr>
            <a:xfrm>
              <a:off x="1957067" y="16242274"/>
              <a:ext cx="3783398" cy="619101"/>
            </a:xfrm>
            <a:prstGeom prst="roundRect">
              <a:avLst>
                <a:gd name="adj" fmla="val 22222"/>
              </a:avLst>
            </a:prstGeom>
            <a:solidFill>
              <a:srgbClr val="12607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2921FF-0823-7AD8-9EF9-D4D8554404BD}"/>
                </a:ext>
              </a:extLst>
            </p:cNvPr>
            <p:cNvSpPr txBox="1"/>
            <p:nvPr/>
          </p:nvSpPr>
          <p:spPr>
            <a:xfrm>
              <a:off x="2508761" y="16316196"/>
              <a:ext cx="391094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MCHC · MCV · PLT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2EE1431-D874-B090-0C6A-AE1DBFC5C7BB}"/>
                </a:ext>
              </a:extLst>
            </p:cNvPr>
            <p:cNvSpPr/>
            <p:nvPr/>
          </p:nvSpPr>
          <p:spPr>
            <a:xfrm>
              <a:off x="1957067" y="16998953"/>
              <a:ext cx="3783398" cy="619101"/>
            </a:xfrm>
            <a:prstGeom prst="roundRect">
              <a:avLst>
                <a:gd name="adj" fmla="val 22222"/>
              </a:avLst>
            </a:prstGeom>
            <a:solidFill>
              <a:srgbClr val="12607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D9809A-E91F-941D-FF97-8A68C1FE19EE}"/>
                </a:ext>
              </a:extLst>
            </p:cNvPr>
            <p:cNvSpPr txBox="1"/>
            <p:nvPr/>
          </p:nvSpPr>
          <p:spPr>
            <a:xfrm>
              <a:off x="2547136" y="17072875"/>
              <a:ext cx="379591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RBC · RDW · WBC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126584D-0E28-AD13-7760-F8A384F98AA7}"/>
                </a:ext>
              </a:extLst>
            </p:cNvPr>
            <p:cNvSpPr/>
            <p:nvPr/>
          </p:nvSpPr>
          <p:spPr>
            <a:xfrm>
              <a:off x="1957067" y="17755633"/>
              <a:ext cx="3783398" cy="619101"/>
            </a:xfrm>
            <a:prstGeom prst="roundRect">
              <a:avLst>
                <a:gd name="adj" fmla="val 22222"/>
              </a:avLst>
            </a:prstGeom>
            <a:solidFill>
              <a:srgbClr val="0D4F5C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9DC94E-C595-1E95-0CD4-B98EA38198B3}"/>
                </a:ext>
              </a:extLst>
            </p:cNvPr>
            <p:cNvSpPr txBox="1"/>
            <p:nvPr/>
          </p:nvSpPr>
          <p:spPr>
            <a:xfrm>
              <a:off x="2764873" y="17829555"/>
              <a:ext cx="314643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A8D5D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Neut% · Lym%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CCCFF53-BB13-046D-0561-AAABAD4967E9}"/>
                </a:ext>
              </a:extLst>
            </p:cNvPr>
            <p:cNvSpPr/>
            <p:nvPr/>
          </p:nvSpPr>
          <p:spPr>
            <a:xfrm>
              <a:off x="1957067" y="18512313"/>
              <a:ext cx="3783398" cy="619101"/>
            </a:xfrm>
            <a:prstGeom prst="roundRect">
              <a:avLst>
                <a:gd name="adj" fmla="val 22222"/>
              </a:avLst>
            </a:prstGeom>
            <a:solidFill>
              <a:srgbClr val="0D4F5C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F5B3D73-5077-2B7A-E531-811FB2C29500}"/>
                </a:ext>
              </a:extLst>
            </p:cNvPr>
            <p:cNvSpPr txBox="1"/>
            <p:nvPr/>
          </p:nvSpPr>
          <p:spPr>
            <a:xfrm>
              <a:off x="2732712" y="18586235"/>
              <a:ext cx="324191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A8D5D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Mono% · Eos%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2C66C17-FF1A-705B-7733-A2E659FEBCEA}"/>
                </a:ext>
              </a:extLst>
            </p:cNvPr>
            <p:cNvSpPr/>
            <p:nvPr/>
          </p:nvSpPr>
          <p:spPr>
            <a:xfrm>
              <a:off x="1957067" y="19268993"/>
              <a:ext cx="3783398" cy="619101"/>
            </a:xfrm>
            <a:prstGeom prst="roundRect">
              <a:avLst>
                <a:gd name="adj" fmla="val 22222"/>
              </a:avLst>
            </a:prstGeom>
            <a:solidFill>
              <a:srgbClr val="0D4F5C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F5D664-6B5F-5E62-BC8B-059EC5E9AEBB}"/>
                </a:ext>
              </a:extLst>
            </p:cNvPr>
            <p:cNvSpPr txBox="1"/>
            <p:nvPr/>
          </p:nvSpPr>
          <p:spPr>
            <a:xfrm>
              <a:off x="3300524" y="19342914"/>
              <a:ext cx="154721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A8D5D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Baso%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E9F1B76-7CE1-0F07-A3C3-158676011685}"/>
              </a:ext>
            </a:extLst>
          </p:cNvPr>
          <p:cNvSpPr txBox="1"/>
          <p:nvPr/>
        </p:nvSpPr>
        <p:spPr>
          <a:xfrm>
            <a:off x="2757063" y="20718696"/>
            <a:ext cx="31726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4000" spc="0" baseline="0">
                <a:ln/>
                <a:solidFill>
                  <a:srgbClr val="A8D5D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MIMIC-IV v3.1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C549A6-32D0-F66A-CA76-6202E2B8883C}"/>
              </a:ext>
            </a:extLst>
          </p:cNvPr>
          <p:cNvSpPr txBox="1"/>
          <p:nvPr/>
        </p:nvSpPr>
        <p:spPr>
          <a:xfrm>
            <a:off x="2831126" y="21165825"/>
            <a:ext cx="29434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4000" spc="0" baseline="0">
                <a:ln/>
                <a:solidFill>
                  <a:srgbClr val="A8D5D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90d lookback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27E0D4-6ADB-7634-DC7E-873EED9A858A}"/>
              </a:ext>
            </a:extLst>
          </p:cNvPr>
          <p:cNvSpPr txBox="1"/>
          <p:nvPr/>
        </p:nvSpPr>
        <p:spPr>
          <a:xfrm>
            <a:off x="3009228" y="21612954"/>
            <a:ext cx="2412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4000" spc="0" baseline="0">
                <a:ln/>
                <a:solidFill>
                  <a:srgbClr val="A8D5D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80/20 split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460E2CE-E73C-F72B-126C-E756CFCFECB8}"/>
              </a:ext>
            </a:extLst>
          </p:cNvPr>
          <p:cNvSpPr/>
          <p:nvPr/>
        </p:nvSpPr>
        <p:spPr>
          <a:xfrm>
            <a:off x="6325172" y="18168368"/>
            <a:ext cx="791074" cy="34394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1A7A8A"/>
            </a:solidFill>
            <a:prstDash val="solid"/>
            <a:miter/>
          </a:ln>
        </p:spPr>
        <p:txBody>
          <a:bodyPr/>
          <a:lstStyle/>
          <a:p>
            <a:endParaRPr lang="LID4096" sz="1660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E6E8D6-9E96-1864-DC7A-ED4278F1C9E1}"/>
              </a:ext>
            </a:extLst>
          </p:cNvPr>
          <p:cNvSpPr/>
          <p:nvPr/>
        </p:nvSpPr>
        <p:spPr>
          <a:xfrm>
            <a:off x="7219430" y="13697078"/>
            <a:ext cx="4471288" cy="8942578"/>
          </a:xfrm>
          <a:prstGeom prst="roundRect">
            <a:avLst>
              <a:gd name="adj" fmla="val 6153"/>
            </a:avLst>
          </a:prstGeom>
          <a:solidFill>
            <a:srgbClr val="2C3E50"/>
          </a:solidFill>
          <a:ln w="34385" cap="flat">
            <a:noFill/>
            <a:prstDash val="solid"/>
            <a:miter/>
          </a:ln>
        </p:spPr>
        <p:txBody>
          <a:bodyPr/>
          <a:lstStyle/>
          <a:p>
            <a:endParaRPr lang="LID4096" sz="16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F3B2A8-8639-EC2C-EEDF-3CA90B3295AC}"/>
              </a:ext>
            </a:extLst>
          </p:cNvPr>
          <p:cNvSpPr txBox="1"/>
          <p:nvPr/>
        </p:nvSpPr>
        <p:spPr>
          <a:xfrm>
            <a:off x="8004454" y="14085488"/>
            <a:ext cx="36115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4400" b="1" spc="0" baseline="0">
                <a:ln/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Pre-processing</a:t>
            </a:r>
          </a:p>
        </p:txBody>
      </p:sp>
      <p:grpSp>
        <p:nvGrpSpPr>
          <p:cNvPr id="34" name="Graphic 7">
            <a:extLst>
              <a:ext uri="{FF2B5EF4-FFF2-40B4-BE49-F238E27FC236}">
                <a16:creationId xmlns:a16="http://schemas.microsoft.com/office/drawing/2014/main" id="{3D3ECE86-1A93-6072-05B9-B6BE7B59DD8F}"/>
              </a:ext>
            </a:extLst>
          </p:cNvPr>
          <p:cNvGrpSpPr/>
          <p:nvPr/>
        </p:nvGrpSpPr>
        <p:grpSpPr>
          <a:xfrm>
            <a:off x="8227759" y="15043598"/>
            <a:ext cx="3568734" cy="4422495"/>
            <a:chOff x="8227759" y="15043598"/>
            <a:chExt cx="3568734" cy="442249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8F6EFA-8012-1801-8D18-BDF116976706}"/>
                </a:ext>
              </a:extLst>
            </p:cNvPr>
            <p:cNvSpPr txBox="1"/>
            <p:nvPr/>
          </p:nvSpPr>
          <p:spPr>
            <a:xfrm>
              <a:off x="8227759" y="15043598"/>
              <a:ext cx="356873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90-day lookback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BE5302F-A5DD-552C-A99D-AA54460E1219}"/>
                </a:ext>
              </a:extLst>
            </p:cNvPr>
            <p:cNvSpPr txBox="1"/>
            <p:nvPr/>
          </p:nvSpPr>
          <p:spPr>
            <a:xfrm>
              <a:off x="8345150" y="15662699"/>
              <a:ext cx="321927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First 24h index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49CDE7-A5F1-1FD5-81B8-BE8039600D5C}"/>
                </a:ext>
              </a:extLst>
            </p:cNvPr>
            <p:cNvSpPr txBox="1"/>
            <p:nvPr/>
          </p:nvSpPr>
          <p:spPr>
            <a:xfrm>
              <a:off x="8346074" y="16281801"/>
              <a:ext cx="32186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Last value agg.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65545D2-88D5-4283-261D-1E867AED442A}"/>
                </a:ext>
              </a:extLst>
            </p:cNvPr>
            <p:cNvSpPr txBox="1"/>
            <p:nvPr/>
          </p:nvSpPr>
          <p:spPr>
            <a:xfrm>
              <a:off x="8589086" y="16900903"/>
              <a:ext cx="249799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Imputation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6FB02A-9CFF-1183-0B9D-824173710644}"/>
                </a:ext>
              </a:extLst>
            </p:cNvPr>
            <p:cNvSpPr txBox="1"/>
            <p:nvPr/>
          </p:nvSpPr>
          <p:spPr>
            <a:xfrm>
              <a:off x="8380586" y="17520004"/>
              <a:ext cx="311931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Normalization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447FD86-2F8B-72C9-D5CF-BCB62EFEFE8A}"/>
                </a:ext>
              </a:extLst>
            </p:cNvPr>
            <p:cNvSpPr txBox="1"/>
            <p:nvPr/>
          </p:nvSpPr>
          <p:spPr>
            <a:xfrm>
              <a:off x="8267645" y="18139106"/>
              <a:ext cx="344927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Train / Test split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80109C4-1FAC-F77C-CF3F-0A23959D4694}"/>
                </a:ext>
              </a:extLst>
            </p:cNvPr>
            <p:cNvSpPr txBox="1"/>
            <p:nvPr/>
          </p:nvSpPr>
          <p:spPr>
            <a:xfrm>
              <a:off x="8766517" y="18758207"/>
              <a:ext cx="19639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>
                  <a:ln/>
                  <a:solidFill>
                    <a:srgbClr val="A0B0C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(80 / 20)</a:t>
              </a:r>
            </a:p>
          </p:txBody>
        </p: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5BA2136-6EF0-4D13-28E4-4221E97C42DC}"/>
              </a:ext>
            </a:extLst>
          </p:cNvPr>
          <p:cNvSpPr/>
          <p:nvPr/>
        </p:nvSpPr>
        <p:spPr>
          <a:xfrm>
            <a:off x="11759508" y="18168368"/>
            <a:ext cx="791074" cy="34394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E8773D"/>
            </a:solidFill>
            <a:prstDash val="solid"/>
            <a:miter/>
          </a:ln>
        </p:spPr>
        <p:txBody>
          <a:bodyPr/>
          <a:lstStyle/>
          <a:p>
            <a:endParaRPr lang="LID4096" sz="16600"/>
          </a:p>
        </p:txBody>
      </p:sp>
      <p:grpSp>
        <p:nvGrpSpPr>
          <p:cNvPr id="14979" name="Group 14978">
            <a:extLst>
              <a:ext uri="{FF2B5EF4-FFF2-40B4-BE49-F238E27FC236}">
                <a16:creationId xmlns:a16="http://schemas.microsoft.com/office/drawing/2014/main" id="{622F32E6-CCC3-CCB2-6BE6-70C2BF047654}"/>
              </a:ext>
            </a:extLst>
          </p:cNvPr>
          <p:cNvGrpSpPr/>
          <p:nvPr/>
        </p:nvGrpSpPr>
        <p:grpSpPr>
          <a:xfrm>
            <a:off x="12685792" y="13009188"/>
            <a:ext cx="12725976" cy="9630468"/>
            <a:chOff x="12653766" y="13009188"/>
            <a:chExt cx="12725976" cy="963046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BEC824DE-1845-B067-70BA-B5789AC0A906}"/>
                </a:ext>
              </a:extLst>
            </p:cNvPr>
            <p:cNvSpPr/>
            <p:nvPr/>
          </p:nvSpPr>
          <p:spPr>
            <a:xfrm>
              <a:off x="12653766" y="13009188"/>
              <a:ext cx="12725976" cy="9630468"/>
            </a:xfrm>
            <a:prstGeom prst="roundRect">
              <a:avLst>
                <a:gd name="adj" fmla="val 2666"/>
              </a:avLst>
            </a:prstGeom>
            <a:solidFill>
              <a:srgbClr val="FFF3EC"/>
            </a:solidFill>
            <a:ln w="68771" cap="flat">
              <a:solidFill>
                <a:srgbClr val="E8773D"/>
              </a:solidFill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73768F-5203-8E3E-4FEE-E61FB9E0B9F6}"/>
                </a:ext>
              </a:extLst>
            </p:cNvPr>
            <p:cNvSpPr txBox="1"/>
            <p:nvPr/>
          </p:nvSpPr>
          <p:spPr>
            <a:xfrm>
              <a:off x="14386897" y="13327163"/>
              <a:ext cx="925971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4400" b="1" spc="0" baseline="0" dirty="0">
                  <a:ln/>
                  <a:solidFill>
                    <a:srgbClr val="E8773D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Interchangeable Logic — Plug-and-Play</a:t>
              </a:r>
            </a:p>
          </p:txBody>
        </p:sp>
        <p:grpSp>
          <p:nvGrpSpPr>
            <p:cNvPr id="14978" name="Group 14977">
              <a:extLst>
                <a:ext uri="{FF2B5EF4-FFF2-40B4-BE49-F238E27FC236}">
                  <a16:creationId xmlns:a16="http://schemas.microsoft.com/office/drawing/2014/main" id="{CB6D2A50-80FB-3649-2035-4373AEAB2D96}"/>
                </a:ext>
              </a:extLst>
            </p:cNvPr>
            <p:cNvGrpSpPr/>
            <p:nvPr/>
          </p:nvGrpSpPr>
          <p:grpSpPr>
            <a:xfrm>
              <a:off x="13066501" y="21120719"/>
              <a:ext cx="11900507" cy="1238203"/>
              <a:chOff x="13066500" y="19888094"/>
              <a:chExt cx="11900507" cy="1238203"/>
            </a:xfrm>
          </p:grpSpPr>
          <p:sp>
            <p:nvSpPr>
              <p:cNvPr id="14336" name="Rectangle: Rounded Corners 14335">
                <a:extLst>
                  <a:ext uri="{FF2B5EF4-FFF2-40B4-BE49-F238E27FC236}">
                    <a16:creationId xmlns:a16="http://schemas.microsoft.com/office/drawing/2014/main" id="{AD8ACCE3-B968-2469-F7B0-95D67C79B0B1}"/>
                  </a:ext>
                </a:extLst>
              </p:cNvPr>
              <p:cNvSpPr/>
              <p:nvPr/>
            </p:nvSpPr>
            <p:spPr>
              <a:xfrm>
                <a:off x="13066500" y="19888094"/>
                <a:ext cx="11900507" cy="1238203"/>
              </a:xfrm>
              <a:prstGeom prst="roundRect">
                <a:avLst>
                  <a:gd name="adj" fmla="val 16666"/>
                </a:avLst>
              </a:prstGeom>
              <a:solidFill>
                <a:srgbClr val="7F8C8D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14337" name="TextBox 14336">
                <a:extLst>
                  <a:ext uri="{FF2B5EF4-FFF2-40B4-BE49-F238E27FC236}">
                    <a16:creationId xmlns:a16="http://schemas.microsoft.com/office/drawing/2014/main" id="{7C8307A1-DEB1-25D4-67AA-393C45A686E2}"/>
                  </a:ext>
                </a:extLst>
              </p:cNvPr>
              <p:cNvSpPr txBox="1"/>
              <p:nvPr/>
            </p:nvSpPr>
            <p:spPr>
              <a:xfrm>
                <a:off x="14176390" y="20153252"/>
                <a:ext cx="96807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40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Baseline: Logistic Regression (all 14 features)</a:t>
                </a:r>
              </a:p>
            </p:txBody>
          </p:sp>
        </p:grpSp>
      </p:grpSp>
      <p:grpSp>
        <p:nvGrpSpPr>
          <p:cNvPr id="14975" name="Group 14974">
            <a:extLst>
              <a:ext uri="{FF2B5EF4-FFF2-40B4-BE49-F238E27FC236}">
                <a16:creationId xmlns:a16="http://schemas.microsoft.com/office/drawing/2014/main" id="{B4C8CC9F-249D-1CB0-E167-085322BC1955}"/>
              </a:ext>
            </a:extLst>
          </p:cNvPr>
          <p:cNvGrpSpPr/>
          <p:nvPr/>
        </p:nvGrpSpPr>
        <p:grpSpPr>
          <a:xfrm>
            <a:off x="13078860" y="14635256"/>
            <a:ext cx="5709491" cy="2545195"/>
            <a:chOff x="13130281" y="14109813"/>
            <a:chExt cx="5709491" cy="2545195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EA23B74-A9B3-5D53-CDBC-332177B8FA4C}"/>
                </a:ext>
              </a:extLst>
            </p:cNvPr>
            <p:cNvSpPr/>
            <p:nvPr/>
          </p:nvSpPr>
          <p:spPr>
            <a:xfrm>
              <a:off x="13130281" y="1410981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2C3E5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91EAA76-6F0E-73D6-4E19-BF5AC48DD2B0}"/>
                </a:ext>
              </a:extLst>
            </p:cNvPr>
            <p:cNvSpPr txBox="1"/>
            <p:nvPr/>
          </p:nvSpPr>
          <p:spPr>
            <a:xfrm>
              <a:off x="13604278" y="14391748"/>
              <a:ext cx="476149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M1 — Threshold Opt.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594DD3-2A21-9FAE-1CD1-6FA472E5FE9B}"/>
                </a:ext>
              </a:extLst>
            </p:cNvPr>
            <p:cNvSpPr txBox="1"/>
            <p:nvPr/>
          </p:nvSpPr>
          <p:spPr>
            <a:xfrm>
              <a:off x="14492374" y="14991183"/>
              <a:ext cx="29853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>
                  <a:ln/>
                  <a:solidFill>
                    <a:srgbClr val="A0B8C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Youden's Index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C35BA6A-191A-C610-BBF1-B5F51196EA23}"/>
                </a:ext>
              </a:extLst>
            </p:cNvPr>
            <p:cNvSpPr txBox="1"/>
            <p:nvPr/>
          </p:nvSpPr>
          <p:spPr>
            <a:xfrm>
              <a:off x="14286388" y="15541496"/>
              <a:ext cx="33972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rgbClr val="A0B8C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Literature cutoffs</a:t>
              </a:r>
            </a:p>
          </p:txBody>
        </p:sp>
      </p:grpSp>
      <p:grpSp>
        <p:nvGrpSpPr>
          <p:cNvPr id="14585" name="Group 14584">
            <a:extLst>
              <a:ext uri="{FF2B5EF4-FFF2-40B4-BE49-F238E27FC236}">
                <a16:creationId xmlns:a16="http://schemas.microsoft.com/office/drawing/2014/main" id="{3CB32794-355F-4BCE-DA1C-3552816A0601}"/>
              </a:ext>
            </a:extLst>
          </p:cNvPr>
          <p:cNvGrpSpPr/>
          <p:nvPr/>
        </p:nvGrpSpPr>
        <p:grpSpPr>
          <a:xfrm>
            <a:off x="19309209" y="14673098"/>
            <a:ext cx="5709491" cy="2545195"/>
            <a:chOff x="19367904" y="14109813"/>
            <a:chExt cx="5709491" cy="2545195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F4700ACA-C073-7E12-30FB-9774F7FA32B3}"/>
                </a:ext>
              </a:extLst>
            </p:cNvPr>
            <p:cNvSpPr/>
            <p:nvPr/>
          </p:nvSpPr>
          <p:spPr>
            <a:xfrm>
              <a:off x="19367904" y="1410981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2C3E5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B6A7BE0-6388-F19D-39C0-E9C28B54EFCE}"/>
                </a:ext>
              </a:extLst>
            </p:cNvPr>
            <p:cNvSpPr txBox="1"/>
            <p:nvPr/>
          </p:nvSpPr>
          <p:spPr>
            <a:xfrm>
              <a:off x="19767906" y="14391748"/>
              <a:ext cx="490948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M2 — Random Search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CC8BB52-997C-2DE3-9478-41F9418C4C27}"/>
                </a:ext>
              </a:extLst>
            </p:cNvPr>
            <p:cNvSpPr txBox="1"/>
            <p:nvPr/>
          </p:nvSpPr>
          <p:spPr>
            <a:xfrm>
              <a:off x="20608297" y="14991183"/>
              <a:ext cx="322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rgbClr val="A0B8C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10,000 formulas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A3F69FC-BA9F-E60D-88C4-EDDD4DFE76E7}"/>
                </a:ext>
              </a:extLst>
            </p:cNvPr>
            <p:cNvSpPr txBox="1"/>
            <p:nvPr/>
          </p:nvSpPr>
          <p:spPr>
            <a:xfrm>
              <a:off x="21179736" y="15541496"/>
              <a:ext cx="20858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>
                  <a:ln/>
                  <a:solidFill>
                    <a:srgbClr val="A0B8C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± × ÷ √ log</a:t>
              </a:r>
            </a:p>
          </p:txBody>
        </p:sp>
      </p:grpSp>
      <p:grpSp>
        <p:nvGrpSpPr>
          <p:cNvPr id="14977" name="Group 14976">
            <a:extLst>
              <a:ext uri="{FF2B5EF4-FFF2-40B4-BE49-F238E27FC236}">
                <a16:creationId xmlns:a16="http://schemas.microsoft.com/office/drawing/2014/main" id="{E9ABD2D4-2ECE-EE5B-EE45-2F7EC7BFB9C5}"/>
              </a:ext>
            </a:extLst>
          </p:cNvPr>
          <p:cNvGrpSpPr/>
          <p:nvPr/>
        </p:nvGrpSpPr>
        <p:grpSpPr>
          <a:xfrm>
            <a:off x="13078860" y="17894294"/>
            <a:ext cx="5709491" cy="2605403"/>
            <a:chOff x="13465942" y="16998953"/>
            <a:chExt cx="5709491" cy="2605403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CC9C9435-E399-AD64-0BDF-5DABCE2902F8}"/>
                </a:ext>
              </a:extLst>
            </p:cNvPr>
            <p:cNvSpPr/>
            <p:nvPr/>
          </p:nvSpPr>
          <p:spPr>
            <a:xfrm>
              <a:off x="13465942" y="1699895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E8773D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558809-78DF-BB20-8935-F5628B63FE6E}"/>
                </a:ext>
              </a:extLst>
            </p:cNvPr>
            <p:cNvSpPr txBox="1"/>
            <p:nvPr/>
          </p:nvSpPr>
          <p:spPr>
            <a:xfrm>
              <a:off x="14098861" y="17280888"/>
              <a:ext cx="44436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M3 — Genetic Prog.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E33F699-FD88-25BA-8B80-0AD0B422F436}"/>
                </a:ext>
              </a:extLst>
            </p:cNvPr>
            <p:cNvSpPr txBox="1"/>
            <p:nvPr/>
          </p:nvSpPr>
          <p:spPr>
            <a:xfrm>
              <a:off x="14478676" y="17880324"/>
              <a:ext cx="368402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gplearn | pop=500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FEB519E-E4CD-666D-8C06-237EE7E10E2A}"/>
                </a:ext>
              </a:extLst>
            </p:cNvPr>
            <p:cNvSpPr txBox="1"/>
            <p:nvPr/>
          </p:nvSpPr>
          <p:spPr>
            <a:xfrm>
              <a:off x="13472536" y="18430636"/>
              <a:ext cx="56963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gen=100 | parsimony=0.0001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ECB486F-D0A1-5CCB-D671-366473F8FB90}"/>
                </a:ext>
              </a:extLst>
            </p:cNvPr>
            <p:cNvSpPr txBox="1"/>
            <p:nvPr/>
          </p:nvSpPr>
          <p:spPr>
            <a:xfrm>
              <a:off x="14439627" y="18958025"/>
              <a:ext cx="37621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rgbClr val="FDEBD7"/>
                  </a:solidFill>
                  <a:latin typeface="Segoe UI Emoji"/>
                  <a:ea typeface="Segoe UI Emoji"/>
                  <a:sym typeface="Segoe UI Emoji"/>
                  <a:rtl val="0"/>
                </a:rPr>
                <a:t>🏆</a:t>
              </a:r>
              <a:r>
                <a:rPr lang="LID4096" sz="3600" spc="0" baseline="0" dirty="0">
                  <a:ln/>
                  <a:solidFill>
                    <a:srgbClr val="FDEBD7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Best performer</a:t>
              </a:r>
            </a:p>
          </p:txBody>
        </p:sp>
      </p:grpSp>
      <p:grpSp>
        <p:nvGrpSpPr>
          <p:cNvPr id="14976" name="Group 14975">
            <a:extLst>
              <a:ext uri="{FF2B5EF4-FFF2-40B4-BE49-F238E27FC236}">
                <a16:creationId xmlns:a16="http://schemas.microsoft.com/office/drawing/2014/main" id="{1841BCD3-6555-43A2-7985-13E7112740A2}"/>
              </a:ext>
            </a:extLst>
          </p:cNvPr>
          <p:cNvGrpSpPr/>
          <p:nvPr/>
        </p:nvGrpSpPr>
        <p:grpSpPr>
          <a:xfrm>
            <a:off x="19309209" y="17924398"/>
            <a:ext cx="5709491" cy="2545195"/>
            <a:chOff x="19257516" y="16998953"/>
            <a:chExt cx="5709491" cy="2545195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0D886FAD-F6B7-D120-11A0-343EF4BB823A}"/>
                </a:ext>
              </a:extLst>
            </p:cNvPr>
            <p:cNvSpPr/>
            <p:nvPr/>
          </p:nvSpPr>
          <p:spPr>
            <a:xfrm>
              <a:off x="19257516" y="1699895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1A7A8A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3B69873-79A6-78A1-497E-3D470E607E5E}"/>
                </a:ext>
              </a:extLst>
            </p:cNvPr>
            <p:cNvSpPr txBox="1"/>
            <p:nvPr/>
          </p:nvSpPr>
          <p:spPr>
            <a:xfrm>
              <a:off x="20876987" y="17280888"/>
              <a:ext cx="247054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b="1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M4 — LLM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626BBC-B419-DF9E-A28C-B9558A709909}"/>
                </a:ext>
              </a:extLst>
            </p:cNvPr>
            <p:cNvSpPr txBox="1"/>
            <p:nvPr/>
          </p:nvSpPr>
          <p:spPr>
            <a:xfrm>
              <a:off x="20481847" y="17880324"/>
              <a:ext cx="32608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>
                  <a:ln/>
                  <a:solidFill>
                    <a:srgbClr val="D6EAF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Med-Gemma 4B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CFAF59D-AD06-C025-9B0A-4768415D2686}"/>
                </a:ext>
              </a:extLst>
            </p:cNvPr>
            <p:cNvSpPr txBox="1"/>
            <p:nvPr/>
          </p:nvSpPr>
          <p:spPr>
            <a:xfrm>
              <a:off x="20484989" y="18430636"/>
              <a:ext cx="32545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rgbClr val="D6EAF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Seeded prompts</a:t>
              </a:r>
            </a:p>
          </p:txBody>
        </p:sp>
      </p:grpSp>
      <p:sp>
        <p:nvSpPr>
          <p:cNvPr id="14339" name="Freeform: Shape 14338">
            <a:extLst>
              <a:ext uri="{FF2B5EF4-FFF2-40B4-BE49-F238E27FC236}">
                <a16:creationId xmlns:a16="http://schemas.microsoft.com/office/drawing/2014/main" id="{C11C9D6D-B311-4AEE-6546-A49278D35033}"/>
              </a:ext>
            </a:extLst>
          </p:cNvPr>
          <p:cNvSpPr/>
          <p:nvPr/>
        </p:nvSpPr>
        <p:spPr>
          <a:xfrm>
            <a:off x="25448531" y="18168368"/>
            <a:ext cx="791074" cy="34394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1A7A8A"/>
            </a:solidFill>
            <a:prstDash val="solid"/>
            <a:miter/>
          </a:ln>
        </p:spPr>
        <p:txBody>
          <a:bodyPr/>
          <a:lstStyle/>
          <a:p>
            <a:endParaRPr lang="LID4096" sz="16600"/>
          </a:p>
        </p:txBody>
      </p:sp>
      <p:sp>
        <p:nvSpPr>
          <p:cNvPr id="14341" name="Rectangle: Rounded Corners 14340">
            <a:extLst>
              <a:ext uri="{FF2B5EF4-FFF2-40B4-BE49-F238E27FC236}">
                <a16:creationId xmlns:a16="http://schemas.microsoft.com/office/drawing/2014/main" id="{972DF191-0D0E-2B4D-FD33-81C9292F0E31}"/>
              </a:ext>
            </a:extLst>
          </p:cNvPr>
          <p:cNvSpPr/>
          <p:nvPr/>
        </p:nvSpPr>
        <p:spPr>
          <a:xfrm>
            <a:off x="26591840" y="13697078"/>
            <a:ext cx="4677656" cy="8942578"/>
          </a:xfrm>
          <a:prstGeom prst="roundRect">
            <a:avLst>
              <a:gd name="adj" fmla="val 5882"/>
            </a:avLst>
          </a:prstGeom>
          <a:solidFill>
            <a:srgbClr val="1A7A8A"/>
          </a:solidFill>
          <a:ln w="34385" cap="flat">
            <a:noFill/>
            <a:prstDash val="solid"/>
            <a:miter/>
          </a:ln>
        </p:spPr>
        <p:txBody>
          <a:bodyPr/>
          <a:lstStyle/>
          <a:p>
            <a:endParaRPr lang="LID4096" sz="16600"/>
          </a:p>
        </p:txBody>
      </p:sp>
      <p:sp>
        <p:nvSpPr>
          <p:cNvPr id="14877" name="TextBox 14876">
            <a:extLst>
              <a:ext uri="{FF2B5EF4-FFF2-40B4-BE49-F238E27FC236}">
                <a16:creationId xmlns:a16="http://schemas.microsoft.com/office/drawing/2014/main" id="{0B790388-51BB-2166-41CC-367EEFF84C67}"/>
              </a:ext>
            </a:extLst>
          </p:cNvPr>
          <p:cNvSpPr txBox="1"/>
          <p:nvPr/>
        </p:nvSpPr>
        <p:spPr>
          <a:xfrm>
            <a:off x="27611685" y="13883064"/>
            <a:ext cx="26379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4400" b="1" spc="0" baseline="0" dirty="0">
                <a:ln/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Evaluation</a:t>
            </a:r>
          </a:p>
        </p:txBody>
      </p:sp>
      <p:grpSp>
        <p:nvGrpSpPr>
          <p:cNvPr id="14974" name="Group 14973">
            <a:extLst>
              <a:ext uri="{FF2B5EF4-FFF2-40B4-BE49-F238E27FC236}">
                <a16:creationId xmlns:a16="http://schemas.microsoft.com/office/drawing/2014/main" id="{2F1F0CC6-0160-656B-CC9A-1B00AE311CAB}"/>
              </a:ext>
            </a:extLst>
          </p:cNvPr>
          <p:cNvGrpSpPr/>
          <p:nvPr/>
        </p:nvGrpSpPr>
        <p:grpSpPr>
          <a:xfrm>
            <a:off x="27004575" y="14980580"/>
            <a:ext cx="3852187" cy="1208446"/>
            <a:chOff x="27004575" y="14689881"/>
            <a:chExt cx="3852187" cy="1208446"/>
          </a:xfrm>
        </p:grpSpPr>
        <p:sp>
          <p:nvSpPr>
            <p:cNvPr id="14879" name="Rectangle: Rounded Corners 14878">
              <a:extLst>
                <a:ext uri="{FF2B5EF4-FFF2-40B4-BE49-F238E27FC236}">
                  <a16:creationId xmlns:a16="http://schemas.microsoft.com/office/drawing/2014/main" id="{8D2BEE12-CCF2-A6DE-FE82-5EB2AEA3A0B1}"/>
                </a:ext>
              </a:extLst>
            </p:cNvPr>
            <p:cNvSpPr/>
            <p:nvPr/>
          </p:nvSpPr>
          <p:spPr>
            <a:xfrm>
              <a:off x="27004575" y="14689881"/>
              <a:ext cx="3852187" cy="1208446"/>
            </a:xfrm>
            <a:prstGeom prst="roundRect">
              <a:avLst>
                <a:gd name="adj" fmla="val 14285"/>
              </a:avLst>
            </a:prstGeom>
            <a:solidFill>
              <a:srgbClr val="E8773D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4880" name="TextBox 14879">
              <a:extLst>
                <a:ext uri="{FF2B5EF4-FFF2-40B4-BE49-F238E27FC236}">
                  <a16:creationId xmlns:a16="http://schemas.microsoft.com/office/drawing/2014/main" id="{CB8D7D5D-9AD2-5EAC-C664-F9ED30723E57}"/>
                </a:ext>
              </a:extLst>
            </p:cNvPr>
            <p:cNvSpPr txBox="1"/>
            <p:nvPr/>
          </p:nvSpPr>
          <p:spPr>
            <a:xfrm>
              <a:off x="27626048" y="14689932"/>
              <a:ext cx="260924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AUC-PR Lift</a:t>
              </a:r>
            </a:p>
          </p:txBody>
        </p:sp>
        <p:sp>
          <p:nvSpPr>
            <p:cNvPr id="14881" name="TextBox 14880">
              <a:extLst>
                <a:ext uri="{FF2B5EF4-FFF2-40B4-BE49-F238E27FC236}">
                  <a16:creationId xmlns:a16="http://schemas.microsoft.com/office/drawing/2014/main" id="{3C8CDBAD-63C1-0E94-8F0C-4020C75A2754}"/>
                </a:ext>
              </a:extLst>
            </p:cNvPr>
            <p:cNvSpPr txBox="1"/>
            <p:nvPr/>
          </p:nvSpPr>
          <p:spPr>
            <a:xfrm>
              <a:off x="27447858" y="15173708"/>
              <a:ext cx="29656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Primary metric</a:t>
              </a:r>
            </a:p>
          </p:txBody>
        </p:sp>
      </p:grpSp>
      <p:grpSp>
        <p:nvGrpSpPr>
          <p:cNvPr id="14973" name="Group 14972">
            <a:extLst>
              <a:ext uri="{FF2B5EF4-FFF2-40B4-BE49-F238E27FC236}">
                <a16:creationId xmlns:a16="http://schemas.microsoft.com/office/drawing/2014/main" id="{6ABBBE1F-A7FE-83E2-8AB9-A6DE7D0096CB}"/>
              </a:ext>
            </a:extLst>
          </p:cNvPr>
          <p:cNvGrpSpPr/>
          <p:nvPr/>
        </p:nvGrpSpPr>
        <p:grpSpPr>
          <a:xfrm>
            <a:off x="27004575" y="16517101"/>
            <a:ext cx="3852187" cy="756679"/>
            <a:chOff x="27004575" y="16173485"/>
            <a:chExt cx="3852187" cy="756679"/>
          </a:xfrm>
        </p:grpSpPr>
        <p:sp>
          <p:nvSpPr>
            <p:cNvPr id="14882" name="Rectangle: Rounded Corners 14881">
              <a:extLst>
                <a:ext uri="{FF2B5EF4-FFF2-40B4-BE49-F238E27FC236}">
                  <a16:creationId xmlns:a16="http://schemas.microsoft.com/office/drawing/2014/main" id="{472E9EFA-7C5E-811A-575B-2BAD528C8AB7}"/>
                </a:ext>
              </a:extLst>
            </p:cNvPr>
            <p:cNvSpPr/>
            <p:nvPr/>
          </p:nvSpPr>
          <p:spPr>
            <a:xfrm>
              <a:off x="27004575" y="16173485"/>
              <a:ext cx="3852187" cy="756679"/>
            </a:xfrm>
            <a:prstGeom prst="roundRect">
              <a:avLst>
                <a:gd name="adj" fmla="val 18181"/>
              </a:avLst>
            </a:prstGeom>
            <a:solidFill>
              <a:srgbClr val="12607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4883" name="TextBox 14882">
              <a:extLst>
                <a:ext uri="{FF2B5EF4-FFF2-40B4-BE49-F238E27FC236}">
                  <a16:creationId xmlns:a16="http://schemas.microsoft.com/office/drawing/2014/main" id="{1C17F9A3-77B5-33C6-69F6-4BD40EC2BF9B}"/>
                </a:ext>
              </a:extLst>
            </p:cNvPr>
            <p:cNvSpPr txBox="1"/>
            <p:nvPr/>
          </p:nvSpPr>
          <p:spPr>
            <a:xfrm>
              <a:off x="27870217" y="16214294"/>
              <a:ext cx="212090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AUC-ROC</a:t>
              </a:r>
            </a:p>
          </p:txBody>
        </p:sp>
      </p:grpSp>
      <p:grpSp>
        <p:nvGrpSpPr>
          <p:cNvPr id="14972" name="Group 14971">
            <a:extLst>
              <a:ext uri="{FF2B5EF4-FFF2-40B4-BE49-F238E27FC236}">
                <a16:creationId xmlns:a16="http://schemas.microsoft.com/office/drawing/2014/main" id="{0F6EE94E-D0DF-6070-F0ED-D04D946071A5}"/>
              </a:ext>
            </a:extLst>
          </p:cNvPr>
          <p:cNvGrpSpPr/>
          <p:nvPr/>
        </p:nvGrpSpPr>
        <p:grpSpPr>
          <a:xfrm>
            <a:off x="27004575" y="17601855"/>
            <a:ext cx="3852187" cy="767378"/>
            <a:chOff x="27004575" y="17194622"/>
            <a:chExt cx="3852187" cy="767378"/>
          </a:xfrm>
        </p:grpSpPr>
        <p:sp>
          <p:nvSpPr>
            <p:cNvPr id="14884" name="Rectangle: Rounded Corners 14883">
              <a:extLst>
                <a:ext uri="{FF2B5EF4-FFF2-40B4-BE49-F238E27FC236}">
                  <a16:creationId xmlns:a16="http://schemas.microsoft.com/office/drawing/2014/main" id="{30493F6E-0915-3342-9339-4A12D6602FE9}"/>
                </a:ext>
              </a:extLst>
            </p:cNvPr>
            <p:cNvSpPr/>
            <p:nvPr/>
          </p:nvSpPr>
          <p:spPr>
            <a:xfrm>
              <a:off x="27004575" y="17205321"/>
              <a:ext cx="3852187" cy="756679"/>
            </a:xfrm>
            <a:prstGeom prst="roundRect">
              <a:avLst>
                <a:gd name="adj" fmla="val 18181"/>
              </a:avLst>
            </a:prstGeom>
            <a:solidFill>
              <a:srgbClr val="12607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4885" name="TextBox 14884">
              <a:extLst>
                <a:ext uri="{FF2B5EF4-FFF2-40B4-BE49-F238E27FC236}">
                  <a16:creationId xmlns:a16="http://schemas.microsoft.com/office/drawing/2014/main" id="{EF62B749-4A65-9400-B9CF-2B40894FA7DD}"/>
                </a:ext>
              </a:extLst>
            </p:cNvPr>
            <p:cNvSpPr txBox="1"/>
            <p:nvPr/>
          </p:nvSpPr>
          <p:spPr>
            <a:xfrm>
              <a:off x="27557664" y="17194622"/>
              <a:ext cx="274600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Bootstrap CI</a:t>
              </a:r>
            </a:p>
          </p:txBody>
        </p:sp>
      </p:grpSp>
      <p:grpSp>
        <p:nvGrpSpPr>
          <p:cNvPr id="14971" name="Group 14970">
            <a:extLst>
              <a:ext uri="{FF2B5EF4-FFF2-40B4-BE49-F238E27FC236}">
                <a16:creationId xmlns:a16="http://schemas.microsoft.com/office/drawing/2014/main" id="{2DA0D8EB-5B98-15CF-9A2C-72946D92F382}"/>
              </a:ext>
            </a:extLst>
          </p:cNvPr>
          <p:cNvGrpSpPr/>
          <p:nvPr/>
        </p:nvGrpSpPr>
        <p:grpSpPr>
          <a:xfrm>
            <a:off x="27004575" y="18697308"/>
            <a:ext cx="3852187" cy="794055"/>
            <a:chOff x="27010121" y="18758207"/>
            <a:chExt cx="3852187" cy="794055"/>
          </a:xfrm>
        </p:grpSpPr>
        <p:sp>
          <p:nvSpPr>
            <p:cNvPr id="14898" name="Rectangle: Rounded Corners 14897">
              <a:extLst>
                <a:ext uri="{FF2B5EF4-FFF2-40B4-BE49-F238E27FC236}">
                  <a16:creationId xmlns:a16="http://schemas.microsoft.com/office/drawing/2014/main" id="{342CC5A9-A600-2E33-8A5E-B82CBB6F89C6}"/>
                </a:ext>
              </a:extLst>
            </p:cNvPr>
            <p:cNvSpPr/>
            <p:nvPr/>
          </p:nvSpPr>
          <p:spPr>
            <a:xfrm>
              <a:off x="27010121" y="18795583"/>
              <a:ext cx="3852187" cy="756679"/>
            </a:xfrm>
            <a:prstGeom prst="roundRect">
              <a:avLst>
                <a:gd name="adj" fmla="val 18181"/>
              </a:avLst>
            </a:prstGeom>
            <a:solidFill>
              <a:srgbClr val="12607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4962" name="TextBox 14961">
              <a:extLst>
                <a:ext uri="{FF2B5EF4-FFF2-40B4-BE49-F238E27FC236}">
                  <a16:creationId xmlns:a16="http://schemas.microsoft.com/office/drawing/2014/main" id="{2C3B1110-73D6-B934-6E83-9FFB22C54BA5}"/>
                </a:ext>
              </a:extLst>
            </p:cNvPr>
            <p:cNvSpPr txBox="1"/>
            <p:nvPr/>
          </p:nvSpPr>
          <p:spPr>
            <a:xfrm>
              <a:off x="27637141" y="18758207"/>
              <a:ext cx="259814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000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vs. Baseline</a:t>
              </a:r>
            </a:p>
          </p:txBody>
        </p:sp>
      </p:grpSp>
      <p:grpSp>
        <p:nvGrpSpPr>
          <p:cNvPr id="14970" name="Group 14969">
            <a:extLst>
              <a:ext uri="{FF2B5EF4-FFF2-40B4-BE49-F238E27FC236}">
                <a16:creationId xmlns:a16="http://schemas.microsoft.com/office/drawing/2014/main" id="{A9949170-EB83-F8E4-D25E-70A95E0D5932}"/>
              </a:ext>
            </a:extLst>
          </p:cNvPr>
          <p:cNvGrpSpPr/>
          <p:nvPr/>
        </p:nvGrpSpPr>
        <p:grpSpPr>
          <a:xfrm>
            <a:off x="27004575" y="19819436"/>
            <a:ext cx="3852187" cy="1724860"/>
            <a:chOff x="27004575" y="19819436"/>
            <a:chExt cx="3852187" cy="1724860"/>
          </a:xfrm>
        </p:grpSpPr>
        <p:sp>
          <p:nvSpPr>
            <p:cNvPr id="14969" name="Rectangle: Rounded Corners 14968">
              <a:extLst>
                <a:ext uri="{FF2B5EF4-FFF2-40B4-BE49-F238E27FC236}">
                  <a16:creationId xmlns:a16="http://schemas.microsoft.com/office/drawing/2014/main" id="{CEEAF025-8488-B206-A7C3-783F5DF7F6AC}"/>
                </a:ext>
              </a:extLst>
            </p:cNvPr>
            <p:cNvSpPr/>
            <p:nvPr/>
          </p:nvSpPr>
          <p:spPr>
            <a:xfrm>
              <a:off x="27004575" y="19819436"/>
              <a:ext cx="3852187" cy="1724860"/>
            </a:xfrm>
            <a:prstGeom prst="roundRect">
              <a:avLst>
                <a:gd name="adj" fmla="val 18181"/>
              </a:avLst>
            </a:prstGeom>
            <a:solidFill>
              <a:srgbClr val="12607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4963" name="TextBox 14962">
              <a:extLst>
                <a:ext uri="{FF2B5EF4-FFF2-40B4-BE49-F238E27FC236}">
                  <a16:creationId xmlns:a16="http://schemas.microsoft.com/office/drawing/2014/main" id="{FD896418-B86A-AA95-55D4-9DE4FA7FB7AC}"/>
                </a:ext>
              </a:extLst>
            </p:cNvPr>
            <p:cNvSpPr txBox="1"/>
            <p:nvPr/>
          </p:nvSpPr>
          <p:spPr>
            <a:xfrm>
              <a:off x="27082214" y="19874508"/>
              <a:ext cx="36969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External</a:t>
              </a:r>
              <a:r>
                <a:rPr lang="en-US" sz="3600" spc="0" baseline="0" dirty="0">
                  <a:ln/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Validation</a:t>
              </a:r>
              <a:endParaRPr lang="LID4096" sz="3600" spc="0" baseline="0" dirty="0">
                <a:ln/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14964" name="TextBox 14963">
              <a:extLst>
                <a:ext uri="{FF2B5EF4-FFF2-40B4-BE49-F238E27FC236}">
                  <a16:creationId xmlns:a16="http://schemas.microsoft.com/office/drawing/2014/main" id="{1A527755-4EA7-8119-3619-384B913537E4}"/>
                </a:ext>
              </a:extLst>
            </p:cNvPr>
            <p:cNvSpPr txBox="1"/>
            <p:nvPr/>
          </p:nvSpPr>
          <p:spPr>
            <a:xfrm>
              <a:off x="28046291" y="20321636"/>
              <a:ext cx="17687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NHANES</a:t>
              </a:r>
            </a:p>
          </p:txBody>
        </p:sp>
        <p:sp>
          <p:nvSpPr>
            <p:cNvPr id="14965" name="TextBox 14964">
              <a:extLst>
                <a:ext uri="{FF2B5EF4-FFF2-40B4-BE49-F238E27FC236}">
                  <a16:creationId xmlns:a16="http://schemas.microsoft.com/office/drawing/2014/main" id="{2777063A-4480-D86F-2857-5D4473277443}"/>
                </a:ext>
              </a:extLst>
            </p:cNvPr>
            <p:cNvSpPr txBox="1"/>
            <p:nvPr/>
          </p:nvSpPr>
          <p:spPr>
            <a:xfrm>
              <a:off x="27951490" y="20768765"/>
              <a:ext cx="19583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spc="0" baseline="0" dirty="0">
                  <a:ln/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EHRSHOT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532140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CD596F-CF6E-4B69-9F1F-1A92EB97CA77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feb901d3-8283-42e1-ab8a-417894302f60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854DB4E5F29CFF41AF325DC0C8D6D748" ma:contentTypeVersion="2" ma:contentTypeDescription="צור מסמך חדש." ma:contentTypeScope="" ma:versionID="fe7df9faa1e5ccfa42cd66fe3c29f735">
  <xsd:schema xmlns:xsd="http://www.w3.org/2001/XMLSchema" xmlns:xs="http://www.w3.org/2001/XMLSchema" xmlns:p="http://schemas.microsoft.com/office/2006/metadata/properties" xmlns:ns1="http://schemas.microsoft.com/sharepoint/v3" xmlns:ns2="3fd1f8e8-d4eb-4fa9-9edf-90e13be718c2" targetNamespace="http://schemas.microsoft.com/office/2006/metadata/properties" ma:root="true" ma:fieldsID="844f14077d14339ed85a25a7239d3e3f" ns1:_="" ns2:_="">
    <xsd:import namespace="http://schemas.microsoft.com/sharepoint/v3"/>
    <xsd:import namespace="3fd1f8e8-d4eb-4fa9-9edf-90e13be718c2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מתזמן תאריך התחלה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מתזמן תאריך סיום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1f8e8-d4eb-4fa9-9edf-90e13be718c2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ערך של מזהה מסמך" ma:description="הערך של מזהה המסמך שהוקצה לפריט זה." ma:internalName="_dlc_DocId" ma:readOnly="true">
      <xsd:simpleType>
        <xsd:restriction base="dms:Text"/>
      </xsd:simpleType>
    </xsd:element>
    <xsd:element name="_dlc_DocIdUrl" ma:index="11" nillable="true" ma:displayName="מזהה מסמך" ma:description="קישור קבוע למסמך זה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משותף עם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FE669A1-3A7E-4B3E-89FA-26868125A6F1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598B6435-3618-49A5-B564-2562FC8867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773BFB-7E4E-48F0-86BD-A2308A0DBD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fd1f8e8-d4eb-4fa9-9edf-90e13be718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12842A7-0819-483D-87E9-E0E5F58800E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2031</TotalTime>
  <Words>2198</Words>
  <Application>Microsoft Office PowerPoint</Application>
  <PresentationFormat>Custom</PresentationFormat>
  <Paragraphs>441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Segoe UI Emoji</vt:lpstr>
      <vt:lpstr>ערכת נושא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Ofek Vilkerstone</cp:lastModifiedBy>
  <cp:revision>39</cp:revision>
  <dcterms:created xsi:type="dcterms:W3CDTF">2010-03-24T06:07:16Z</dcterms:created>
  <dcterms:modified xsi:type="dcterms:W3CDTF">2026-06-10T13:09:04Z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5RW434VQ3H3S-892-196</vt:lpwstr>
  </property>
  <property fmtid="{D5CDD505-2E9C-101B-9397-08002B2CF9AE}" pid="3" name="_dlc_DocIdItemGuid">
    <vt:lpwstr>1e876f2f-06f9-413d-bccc-0470f3929c52</vt:lpwstr>
  </property>
  <property fmtid="{D5CDD505-2E9C-101B-9397-08002B2CF9AE}" pid="4" name="_dlc_DocIdUrl">
    <vt:lpwstr>https://in.bgu.ac.il/engn/ise/_layouts/15/DocIdRedir.aspx?ID=5RW434VQ3H3S-892-196, 5RW434VQ3H3S-892-196</vt:lpwstr>
  </property>
  <property fmtid="{D5CDD505-2E9C-101B-9397-08002B2CF9AE}" pid="5" name="PublishingExpirationDate">
    <vt:lpwstr/>
  </property>
  <property fmtid="{D5CDD505-2E9C-101B-9397-08002B2CF9AE}" pid="6" name="PublishingStartDate">
    <vt:lpwstr/>
  </property>
</Properties>
</file>