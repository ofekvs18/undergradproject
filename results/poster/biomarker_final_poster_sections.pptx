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חלק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914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מוטיבציה ורקע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98448" y="1261872"/>
            <a:ext cx="694944" cy="6949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12618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האתגר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" y="2514600"/>
            <a:ext cx="23225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אבחון מחלות אוטואימוניות (זאבת, קרוהן, RA, סוכרת, פסוריאזיס) מסתמך על בדיקות יקרות, מורכבות ומאוחרות.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24528" y="1261872"/>
            <a:ext cx="694944" cy="6949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12618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8328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ההזדמנות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10712" y="2514600"/>
            <a:ext cx="23225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ספירת דם מלאה (CBC) היא בדיקה זולה, שגרתית וזמינה בכל מפגש רפואי — אך הפוטנציאל שלה כמקור לביומרקרים אבחנתיים טרם מיצה את עצמו.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09728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50608" y="1261872"/>
            <a:ext cx="694944" cy="6949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12618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החזון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36792" y="2514600"/>
            <a:ext cx="23225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מחקר זה בוחן האם ניתן לגזור נוסחאות מתמטיות פשוטות מערכי CBC שגרתיים לצורך חיזוי ואבחון מוקדם של מחלות אלו.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Ofek Vilozny  |  Prof. Noa Dagan  |  BGU Information Systems Engineering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חלק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914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הגדרת הבעיה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069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קלט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0607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ערכי CBC של המטופל — 14 מאפיינים (ספירת דם מלאה כולל ד"ל)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F3E8FF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8928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יעד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883664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נוסחה פשוטה המבוססת על מספר מצומצם של מאפיינים, שתשיג ביצועים שקולים ל-Logistic Regression עם כל הנתונים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43200"/>
            <a:ext cx="4023360" cy="877824"/>
          </a:xfrm>
          <a:prstGeom prst="roundRect">
            <a:avLst>
              <a:gd name="adj" fmla="val 1041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2807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שאלת המחקר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2798064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איזו שיטה לייצור נוסחאות מניבה את המודל המיטבי — וכיצד להשוות ביניהן בצורה הוגנת ומבוקרת?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069080" cy="3566160"/>
          </a:xfrm>
          <a:prstGeom prst="roundRect">
            <a:avLst>
              <a:gd name="adj" fmla="val 3077"/>
            </a:avLst>
          </a:prstGeom>
          <a:solidFill>
            <a:srgbClr val="F0F4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07899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ארכיטקטורה: תשתית סוכנים מודולרית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5361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כל שיטה פועלת כרכיב עצמאי (Plug-and-Play) תחת תנאים אחידים: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1947672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9476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✓  חלוקת נתונים זהה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359152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F3E8FF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359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E22CE"/>
                </a:solidFill>
              </a:rPr>
              <a:t>✓  מטריקות הערכה אחידות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7889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האלגוריתמים שנבחנו: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3145536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56048" y="3182112"/>
            <a:ext cx="256032" cy="25603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3145536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B45309"/>
                </a:solidFill>
              </a:rPr>
              <a:t>אופטימיזציית סף  (Threshold Optimization)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3511296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56048" y="3547872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0" y="3511296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5803D"/>
                </a:solidFill>
              </a:rPr>
              <a:t>חיפוש אקראי  (Random Search)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3877056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3913632"/>
            <a:ext cx="256032" cy="25603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37760" y="3877056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0F766E"/>
                </a:solidFill>
              </a:rPr>
              <a:t>תכנות גנטי  (Genetic Programming)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4242816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F3E8FF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56048" y="4279392"/>
            <a:ext cx="256032" cy="256032"/>
          </a:xfrm>
          <a:prstGeom prst="ellipse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4279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37760" y="4242816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7E22CE"/>
                </a:solidFill>
              </a:rPr>
              <a:t>מודלי שפה גדולים  (LLMs)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Ofek Vilozny  |  Prof. Noa Dagan  |  BGU Information Systems Engineering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חלק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457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ארכיטקטורת הפריימוורק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4592" y="960120"/>
            <a:ext cx="1188720" cy="347472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3736" y="969264"/>
            <a:ext cx="1170432" cy="384048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96926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CBC 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" y="143560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14 מאפיינים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746504"/>
            <a:ext cx="475488" cy="210312"/>
          </a:xfrm>
          <a:prstGeom prst="roundRect">
            <a:avLst>
              <a:gd name="adj" fmla="val 2608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74650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HCT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77240" y="1746504"/>
            <a:ext cx="475488" cy="210312"/>
          </a:xfrm>
          <a:prstGeom prst="roundRect">
            <a:avLst>
              <a:gd name="adj" fmla="val 2608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74650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HGB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600" y="2020824"/>
            <a:ext cx="475488" cy="210312"/>
          </a:xfrm>
          <a:prstGeom prst="roundRect">
            <a:avLst>
              <a:gd name="adj" fmla="val 2608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02082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MCH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77240" y="2020824"/>
            <a:ext cx="475488" cy="210312"/>
          </a:xfrm>
          <a:prstGeom prst="roundRect">
            <a:avLst>
              <a:gd name="adj" fmla="val 2608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02082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MCHC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8600" y="2295144"/>
            <a:ext cx="475488" cy="210312"/>
          </a:xfrm>
          <a:prstGeom prst="roundRect">
            <a:avLst>
              <a:gd name="adj" fmla="val 2608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29514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MCV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2295144"/>
            <a:ext cx="475488" cy="210312"/>
          </a:xfrm>
          <a:prstGeom prst="roundRect">
            <a:avLst>
              <a:gd name="adj" fmla="val 2608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29514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PLT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" y="2569464"/>
            <a:ext cx="475488" cy="210312"/>
          </a:xfrm>
          <a:prstGeom prst="roundRect">
            <a:avLst>
              <a:gd name="adj" fmla="val 2608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56946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RBC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77240" y="2569464"/>
            <a:ext cx="475488" cy="210312"/>
          </a:xfrm>
          <a:prstGeom prst="roundRect">
            <a:avLst>
              <a:gd name="adj" fmla="val 2608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56946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RDW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2843784"/>
            <a:ext cx="475488" cy="210312"/>
          </a:xfrm>
          <a:prstGeom prst="roundRect">
            <a:avLst>
              <a:gd name="adj" fmla="val 2608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84378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WBC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8600" y="3008376"/>
            <a:ext cx="1060704" cy="210312"/>
          </a:xfrm>
          <a:prstGeom prst="roundRect">
            <a:avLst>
              <a:gd name="adj" fmla="val 2608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008376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3AED"/>
                </a:solidFill>
              </a:rPr>
              <a:t>Neut%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3264408"/>
            <a:ext cx="1060704" cy="210312"/>
          </a:xfrm>
          <a:prstGeom prst="roundRect">
            <a:avLst>
              <a:gd name="adj" fmla="val 2608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3264408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3AED"/>
                </a:solidFill>
              </a:rPr>
              <a:t>Lym%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28600" y="3520440"/>
            <a:ext cx="1060704" cy="210312"/>
          </a:xfrm>
          <a:prstGeom prst="roundRect">
            <a:avLst>
              <a:gd name="adj" fmla="val 2608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520440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3AED"/>
                </a:solidFill>
              </a:rPr>
              <a:t>Mono%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28600" y="3776472"/>
            <a:ext cx="1060704" cy="210312"/>
          </a:xfrm>
          <a:prstGeom prst="roundRect">
            <a:avLst>
              <a:gd name="adj" fmla="val 2608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3776472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3AED"/>
                </a:solidFill>
              </a:rPr>
              <a:t>Eos%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4032504"/>
            <a:ext cx="1060704" cy="210312"/>
          </a:xfrm>
          <a:prstGeom prst="roundRect">
            <a:avLst>
              <a:gd name="adj" fmla="val 2608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4032504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3AED"/>
                </a:solidFill>
              </a:rPr>
              <a:t>Baso%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353312" y="2651760"/>
            <a:ext cx="219456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08176" y="252374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572768" y="960120"/>
            <a:ext cx="1325880" cy="3474720"/>
          </a:xfrm>
          <a:prstGeom prst="roundRect">
            <a:avLst>
              <a:gd name="adj" fmla="val 6897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581912" y="969264"/>
            <a:ext cx="1307592" cy="384048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09344" y="969264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עיבוד מקדים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664208" y="14356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›  90-day lookback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664208" y="18562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›  First 24h index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664208" y="22768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›  Last value agg.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664208" y="26974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›  Imputation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664208" y="311810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›  Normalization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664208" y="35387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›  Train / Test split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664208" y="395935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›  (80 / 20)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898648" y="265176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62656" y="252374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127248" y="960120"/>
            <a:ext cx="2542032" cy="3474720"/>
          </a:xfrm>
          <a:prstGeom prst="roundRect">
            <a:avLst>
              <a:gd name="adj" fmla="val 359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136392" y="969264"/>
            <a:ext cx="2523744" cy="384048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63824" y="9692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Interchangeable Logic  —  שיטות ייצור הנוסחאות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18688" y="1417320"/>
            <a:ext cx="2359152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18688" y="14173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Plug-and-Play  |  אותו split  |  אותן מטריקות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36976" y="1746504"/>
            <a:ext cx="548640" cy="2468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328416" y="1819656"/>
            <a:ext cx="365760" cy="3657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M1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273552" y="224028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Threshold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Optimization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73552" y="2980944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Youden's Index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Literature cutoffs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835908" y="1746504"/>
            <a:ext cx="548640" cy="246888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927348" y="1819656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27348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M2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872484" y="224028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Random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Search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872484" y="2980944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10,000 formulas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+−×÷ √ log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434840" y="1746504"/>
            <a:ext cx="548640" cy="246888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526280" y="181965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2628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M3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471416" y="224028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Genetic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Programming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471416" y="2980944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gplearn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pop=500 gen=100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033772" y="1746504"/>
            <a:ext cx="548640" cy="2468880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2700">
            <a:solidFill>
              <a:srgbClr val="7E22C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5125212" y="1819656"/>
            <a:ext cx="365760" cy="365760"/>
          </a:xfrm>
          <a:prstGeom prst="ellipse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25212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M4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070348" y="224028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22CE"/>
                </a:solidFill>
              </a:rPr>
              <a:t>LLM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E22CE"/>
                </a:solidFill>
              </a:rPr>
              <a:t>(Med-Gemma)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070348" y="2980944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Med-Gemma 4B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Seeded prompts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218688" y="3995928"/>
            <a:ext cx="2359152" cy="27432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18688" y="399592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Baseline: Logistic Regression (כל 14 מאפיינים)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669280" y="2651760"/>
            <a:ext cx="201168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705856" y="252374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</a:rPr>
              <a:t>▶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870448" y="96012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5879592" y="969264"/>
            <a:ext cx="1490472" cy="384048"/>
          </a:xfrm>
          <a:prstGeom prst="roundRect">
            <a:avLst>
              <a:gd name="adj" fmla="val 2142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07024" y="969264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הערכת נוסחאות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961888" y="143560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0F9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89320" y="144475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AUC-PR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5989320" y="164592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מטריקה ראשית</a:t>
            </a:r>
            <a:endParaRPr lang="en-US" sz="750" dirty="0"/>
          </a:p>
          <a:p>
            <a:pPr rtl="1" algn="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(class imbalance)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961888" y="198424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0F9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89320" y="199339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AUC-ROC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989320" y="219456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מטריקה משנית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961888" y="253288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0F9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989320" y="254203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PR Lift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5989320" y="274320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AUC-PR / prevalence</a:t>
            </a:r>
            <a:endParaRPr lang="en-US" sz="750" dirty="0"/>
          </a:p>
          <a:p>
            <a:pPr rtl="1" algn="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השוואה הוגנת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5961888" y="308152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0F9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989320" y="309067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Bootstrap CI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5989320" y="329184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n=1,000</a:t>
            </a:r>
            <a:endParaRPr lang="en-US" sz="750" dirty="0"/>
          </a:p>
          <a:p>
            <a:pPr rtl="1" algn="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רווחי סמך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961888" y="363016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0F9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89320" y="36393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vs. Baseline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5989320" y="384048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השוואה ל-LR</a:t>
            </a:r>
            <a:endParaRPr lang="en-US" sz="750" dirty="0"/>
          </a:p>
          <a:p>
            <a:pPr rtl="1" algn="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all-features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7379208" y="2651760"/>
            <a:ext cx="192024" cy="0"/>
          </a:xfrm>
          <a:prstGeom prst="line">
            <a:avLst/>
          </a:prstGeom>
          <a:noFill/>
          <a:ln w="25400">
            <a:solidFill>
              <a:srgbClr val="BE123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406640" y="252374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123C"/>
                </a:solidFill>
              </a:rPr>
              <a:t>▶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7571232" y="960120"/>
            <a:ext cx="1408176" cy="3474720"/>
          </a:xfrm>
          <a:prstGeom prst="roundRect">
            <a:avLst>
              <a:gd name="adj" fmla="val 6494"/>
            </a:avLst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580376" y="969264"/>
            <a:ext cx="1389888" cy="384048"/>
          </a:xfrm>
          <a:prstGeom prst="roundRect">
            <a:avLst>
              <a:gd name="adj" fmla="val 21429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07808" y="96926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ולידציה חיצונית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662672" y="1490472"/>
            <a:ext cx="1225296" cy="1325880"/>
          </a:xfrm>
          <a:prstGeom prst="roundRect">
            <a:avLst>
              <a:gd name="adj" fmla="val 6716"/>
            </a:avLst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7662672" y="1490472"/>
            <a:ext cx="1225296" cy="329184"/>
          </a:xfrm>
          <a:prstGeom prst="roundRect">
            <a:avLst>
              <a:gd name="adj" fmla="val 22222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662672" y="149047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NHANES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7690104" y="187452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RA + Psoriasis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ציבורי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662672" y="3044952"/>
            <a:ext cx="1225296" cy="1325880"/>
          </a:xfrm>
          <a:prstGeom prst="roundRect">
            <a:avLst>
              <a:gd name="adj" fmla="val 6716"/>
            </a:avLst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7662672" y="3044952"/>
            <a:ext cx="1225296" cy="329184"/>
          </a:xfrm>
          <a:prstGeom prst="roundRect">
            <a:avLst>
              <a:gd name="adj" fmla="val 22222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662672" y="304495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EHRSHOT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7690104" y="342900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Stanford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OMOP CDM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7644384" y="405079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BE123C"/>
                </a:solidFill>
              </a:rPr>
              <a:t>← בוחן הכללה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164592" y="44897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MIMIC-IV v3.1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BigQuery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1572768" y="44897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Temporal guard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90d lookback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3127248" y="448970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interchangeable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modules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5870448" y="44897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test set only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frozen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7571232" y="448970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external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datasets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Ofek Vilozny  |  Prof. Noa Dagan  |  BGU Information Systems Engineering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חלק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457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תוצאות — Rheumatoid Arthritis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96112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896112"/>
            <a:ext cx="3063240" cy="3474720"/>
          </a:xfrm>
          <a:prstGeom prst="roundRect">
            <a:avLst>
              <a:gd name="adj" fmla="val 3582"/>
            </a:avLst>
          </a:prstGeom>
          <a:solidFill>
            <a:srgbClr val="F0F4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9601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ממצאים עיקריים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07608" y="1389888"/>
            <a:ext cx="2843784" cy="621792"/>
          </a:xfrm>
          <a:prstGeom prst="roundRect">
            <a:avLst>
              <a:gd name="adj" fmla="val 13235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142646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GP מנצח בביצועים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0760" y="166420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1.59x lift עם 4 features בלבד — עולה על LR (1.49x) שמשתמש ב-14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07608" y="2103120"/>
            <a:ext cx="2843784" cy="621792"/>
          </a:xfrm>
          <a:prstGeom prst="roundRect">
            <a:avLst>
              <a:gd name="adj" fmla="val 13235"/>
            </a:avLst>
          </a:prstGeom>
          <a:solidFill>
            <a:srgbClr val="F3E8FF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13969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7E22CE"/>
                </a:solidFill>
              </a:rPr>
              <a:t>LLM — היעיל ביותר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23774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 features, 2 ops בלבד, מגיע ל-1.45x — כמעט שקול ל-LR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07608" y="2816352"/>
            <a:ext cx="2843784" cy="621792"/>
          </a:xfrm>
          <a:prstGeom prst="roundRect">
            <a:avLst>
              <a:gd name="adj" fmla="val 1323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28529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Random לא מספיק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309067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18 ops, 7 features — ביצועים נמוכים מה-baseline (1.32x)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07608" y="3529584"/>
            <a:ext cx="2843784" cy="621792"/>
          </a:xfrm>
          <a:prstGeom prst="roundRect">
            <a:avLst>
              <a:gd name="adj" fmla="val 1323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3566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Threshold — בסיסי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80760" y="380390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feature יחיד (rbc &lt; 3.99) מספק 1.38x — נקודת ייחוס חשובה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Ofek Vilozny  |  Prof. Noa Dagan  |  BGU Information Systems Engineering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חלק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457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מסקנות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נוסחאות מתמטיות פשוטות מ-CBC מגיעות לביצועים שקולים ל-Logistic Regression עם כל המאפיינים — תוך שימוש בפחות features ופחות פרמטרים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86200" y="178308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" y="1764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Genetic Programming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" y="2057400"/>
            <a:ext cx="3858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השיטה הטובה ביותר בביצועים — 1.59x lift ב-RA עם 4 features ו-34 operations. מגלה אינטראקציות כפליות (mono_pct/neut_pct) שה-LLM לא מצא.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3E8FF"/>
          </a:solidFill>
          <a:ln w="12700">
            <a:solidFill>
              <a:srgbClr val="7E22C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1783080"/>
            <a:ext cx="384048" cy="384048"/>
          </a:xfrm>
          <a:prstGeom prst="ellipse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82896" y="1764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E22CE"/>
                </a:solidFill>
              </a:rPr>
              <a:t>LLM (Med-Gemma 4B)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82896" y="2057400"/>
            <a:ext cx="3858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הנוסחה הפשוטה ביותר: (hct-hgb)/(plt+0.01) — 3 features, 2 ops, lift של 1.45x. מוכיח שידע רפואי מייצר נוסחאות יעילות.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86200" y="306324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" y="3044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הפריימוורק עובד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" y="3337560"/>
            <a:ext cx="3858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השוואה הוגנת בין 4 שיטות על אותם נתונים, split ומטריקות. כל שיטה מגלה היבט שונה של המרחב.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66760" y="3063240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82896" y="3044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מגבלות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82896" y="3337560"/>
            <a:ext cx="3858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CI רחב בשל test set קטן (~300 cases). הפרשים בין שיטות אינם מובהקים סטטיסטית — ביצועי GP עדיפים אך לא בצורה חד-משמעית.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Ofek Vilozny  |  Prof. Noa Dagan  |  BGU Information Systems Engineering  |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חלק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457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ולידציה חיצונית, מגבלות והמשך מחקר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566928"/>
          </a:xfrm>
          <a:prstGeom prst="roundRect">
            <a:avLst>
              <a:gd name="adj" fmla="val 1451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ולידציה חיצונית: EHRSHOT (Stanford) + NHANES — GP מחזיק ביצועים ואפילו משתפר על EHRSHOT עבור RA (1.59x → 2.46x)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72768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⚠  מגבלות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02996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CI רחב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" y="223113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test set קטן (~300 cases ב-RA) גורם ל-bootstrap CI רחב — הפרשים בין שיטות אינם מובהקים סטטיסטית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68833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EHRSHOT prevalence מנופח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" y="288950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controls ב-EHRSHOT נבחרים רק אם יש להם CBC — מנפח את שיעור החולים ומשפיע על Lift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310128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34670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M4-LLM overfits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2336" y="3547872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Lupus: 3.70x ב-MIMIC → 1.76x ב-EHRSHOT (delta −1.94) — נוסחת LLM לא מכלילה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968496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400507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NHANES חלקי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" y="420624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חושב רק AUC-PR גולמי (RA + Psoriasis) — Lift לא זמין בשל prevalence חסר בקבצים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572768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572768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🔭  המשך מחקר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993392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202996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Nested Cross-Validation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82896" y="223113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החלפת train/test קבוע ב-5-fold stratified CV — הערכה מהימנה יותר על dataset קטן ומניעת data leakage בבחירת שיטה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651760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268833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Seeded GP מכל המחלות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82896" y="288950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שימוש בנוסחאות LLM כאתחול לאוכלוסיית GP — בוחן האם hybrid LLM+GP מכליל טוב יותר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310128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334670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Cross-method equivalence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82896" y="3547872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ניתוח Pearson correlation בין score vectors של שיטות שונות — האם נוסחאות שונות מגלות את אותו סיגנל?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968496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400507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הרחבה למחלות נוספות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82896" y="420624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הפריימוורק agnostic לחלוטין — ניתן להוסיף כל מחלה עם ICD code ו-CBC data ללא שינוי קוד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Ofek Vilozny  |  Prof. Noa Dagan  |  BGU Information Systems Engineering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Framework for Biomarker Discovery</dc:title>
  <dc:subject>PptxGenJS Presentation</dc:subject>
  <dc:creator>PptxGenJS</dc:creator>
  <cp:lastModifiedBy>PptxGenJS</cp:lastModifiedBy>
  <cp:revision>1</cp:revision>
  <dcterms:created xsi:type="dcterms:W3CDTF">2026-06-10T11:07:27Z</dcterms:created>
  <dcterms:modified xsi:type="dcterms:W3CDTF">2026-06-10T11:07:27Z</dcterms:modified>
</cp:coreProperties>
</file>