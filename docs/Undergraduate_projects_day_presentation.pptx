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present my undergraduate project on using routine blood tests to predict chronic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CBC is the most commonly ordered blood test — 14 features from a single draw. We ask whether these can predict 6 chronic diseases. Our dataset is MIMIC-IV with about 223,000 patients and roughly 1% positive rate per disease.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built a plug-and-play pipeline where every method uses the same data processing and evaluation harness, making results directly comparable. Four formula discovery methods plus a logistic regression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shows all five methods across six diseases. Color indicates the number of CBC features each formula uses — lighter means simpler. M2 random search produces complex formulas with modest gains. M3 and M5 use similar feature counts, but M5's features are LLM-guided and biologically meaningful. That difference is the core of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zoom in on rheumatoid arthritis. RA causes chronic inflammation, which leads to anemia-of-inflammation markers in the CBC. The M4 LLM identified MCV, RDW, and hemoglobin — three markers any clinician would recognize. It combined them into a formula that reads like a clinical index. By contrast, vanilla GP found a formula with arbitrary features like monocyte percentage over neutrophil percentage.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M5 seeded GP takes the LLM's biological feature selection and feeds it to genetic programming for optimization. The result: M5 matches or beats vanilla GP on every disease. The scatter plot on the right compares each formula's AUC-PR to a logistic regression trained on the same features. Points near the diagonal mean the formula captures the same predictive signal — but in a compact, interpretable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Lift measures how much better our formulas are than random chance. Lift of 1 means no better than guessing. Across all 6 diseases, formulas show 2 to 6 times lift. Lupus is the standout with over 5x. This is the within-distribution result — the interesting question is whether it holds externally.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critical question: does this hold outside MIMIC? On EHRSHOT, a Stanford hospital cohort with prevalences from 3% to 57%, lift stays above 1. On NHANES, a US population survey for RA and psoriasis, lift is still above 1. The CBC signal is not a MIMIC artifact — it generalizes across populations and settings.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key findings. First, LLMs serve as a biological compass — they generate interpretable formulas with clinically meaningful features. Second, seeded GP combines the best of both worlds, matching or beating vanilla GP while keeping formulas interpretable. Third, the signal generalizes across very different datasets and populations.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I'm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C"/>
        </a:solidFill>
      </p:bgPr>
    </p:bg>
    <p:spTree>
      <p:nvGrpSpPr>
        <p:cNvPr id="1" name=""/>
        <p:cNvGrpSpPr/>
        <p:nvPr/>
      </p:nvGrpSpPr>
      <p:grpSpPr>
        <a:xfrm>
          <a:off x="0" y="0"/>
          <a:ext cx="0" cy="0"/>
          <a:chOff x="0" y="0"/>
          <a:chExt cx="0" cy="0"/>
        </a:xfrm>
      </p:grpSpPr>
      <p:sp>
        <p:nvSpPr>
          <p:cNvPr id="2" name="Text 0"/>
          <p:cNvSpPr/>
          <p:nvPr/>
        </p:nvSpPr>
        <p:spPr>
          <a:xfrm>
            <a:off x="2276475" y="3011835"/>
            <a:ext cx="13735050" cy="1615380"/>
          </a:xfrm>
          <a:prstGeom prst="rect">
            <a:avLst/>
          </a:prstGeom>
          <a:noFill/>
          <a:ln/>
        </p:spPr>
        <p:txBody>
          <a:bodyPr wrap="square" lIns="25400" tIns="25400" rIns="25400" bIns="25400" rtlCol="0" anchor="t">
            <a:normAutofit/>
          </a:bodyPr>
          <a:lstStyle/>
          <a:p>
            <a:pPr algn="ctr" indent="0" marL="0">
              <a:lnSpc>
                <a:spcPct val="115000"/>
              </a:lnSpc>
              <a:buNone/>
            </a:pPr>
            <a:r>
              <a:rPr lang="en-US" sz="5400" b="1" dirty="0">
                <a:solidFill>
                  <a:srgbClr val="FFFFFF"/>
                </a:solidFill>
                <a:latin typeface="Georgia" pitchFamily="34" charset="0"/>
                <a:ea typeface="Georgia" pitchFamily="34" charset="-122"/>
                <a:cs typeface="Georgia" pitchFamily="34" charset="-120"/>
              </a:rPr>
              <a:t>Can a Routine CBC Predict Chronic Disease?</a:t>
            </a:r>
            <a:endParaRPr lang="en-US" sz="5400" dirty="0"/>
          </a:p>
        </p:txBody>
      </p:sp>
      <p:sp>
        <p:nvSpPr>
          <p:cNvPr id="3" name="Shape 1"/>
          <p:cNvSpPr/>
          <p:nvPr/>
        </p:nvSpPr>
        <p:spPr>
          <a:xfrm>
            <a:off x="8763000" y="4855815"/>
            <a:ext cx="762000" cy="28575"/>
          </a:xfrm>
          <a:prstGeom prst="rect">
            <a:avLst/>
          </a:prstGeom>
          <a:solidFill>
            <a:srgbClr val="D4A017"/>
          </a:solidFill>
          <a:ln/>
        </p:spPr>
      </p:sp>
      <p:sp>
        <p:nvSpPr>
          <p:cNvPr id="4" name="Text 2"/>
          <p:cNvSpPr/>
          <p:nvPr/>
        </p:nvSpPr>
        <p:spPr>
          <a:xfrm>
            <a:off x="3529705" y="5151090"/>
            <a:ext cx="11228442" cy="466725"/>
          </a:xfrm>
          <a:prstGeom prst="rect">
            <a:avLst/>
          </a:prstGeom>
          <a:noFill/>
          <a:ln/>
        </p:spPr>
        <p:txBody>
          <a:bodyPr wrap="square" lIns="25400" tIns="25400" rIns="25400" bIns="25400" rtlCol="0" anchor="t">
            <a:normAutofit/>
          </a:bodyPr>
          <a:lstStyle/>
          <a:p>
            <a:pPr algn="ctr" indent="0" marL="0">
              <a:buNone/>
            </a:pPr>
            <a:r>
              <a:rPr lang="en-US" sz="3000" dirty="0">
                <a:solidFill>
                  <a:srgbClr val="FFFFFF">
                    <a:alpha val="70000"/>
                  </a:srgbClr>
                </a:solidFill>
                <a:latin typeface="Arial" pitchFamily="34" charset="0"/>
                <a:ea typeface="Arial" pitchFamily="34" charset="-122"/>
                <a:cs typeface="Arial" pitchFamily="34" charset="-120"/>
              </a:rPr>
              <a:t>Interpretable formulas via LLM-seeded genetic programming</a:t>
            </a:r>
            <a:endParaRPr lang="en-US" sz="3000" dirty="0"/>
          </a:p>
        </p:txBody>
      </p:sp>
      <p:sp>
        <p:nvSpPr>
          <p:cNvPr id="5" name="Text 3"/>
          <p:cNvSpPr/>
          <p:nvPr/>
        </p:nvSpPr>
        <p:spPr>
          <a:xfrm>
            <a:off x="7874429" y="6265515"/>
            <a:ext cx="2538993" cy="438150"/>
          </a:xfrm>
          <a:prstGeom prst="rect">
            <a:avLst/>
          </a:prstGeom>
          <a:noFill/>
          <a:ln/>
        </p:spPr>
        <p:txBody>
          <a:bodyPr wrap="square" lIns="25400" tIns="25400" rIns="25400" bIns="25400" rtlCol="0" anchor="t">
            <a:normAutofit/>
          </a:bodyPr>
          <a:lstStyle/>
          <a:p>
            <a:pPr algn="ctr" indent="0" marL="0">
              <a:buNone/>
            </a:pPr>
            <a:r>
              <a:rPr lang="en-US" sz="2400" dirty="0">
                <a:solidFill>
                  <a:srgbClr val="FFFFFF"/>
                </a:solidFill>
                <a:latin typeface="Arial" pitchFamily="34" charset="0"/>
                <a:ea typeface="Arial" pitchFamily="34" charset="-122"/>
                <a:cs typeface="Arial" pitchFamily="34" charset="-120"/>
              </a:rPr>
              <a:t>Ofek Vilkerstone</a:t>
            </a:r>
            <a:endParaRPr lang="en-US" sz="2400" dirty="0"/>
          </a:p>
        </p:txBody>
      </p:sp>
      <p:sp>
        <p:nvSpPr>
          <p:cNvPr id="6" name="Text 4"/>
          <p:cNvSpPr/>
          <p:nvPr/>
        </p:nvSpPr>
        <p:spPr>
          <a:xfrm>
            <a:off x="4418000" y="6779865"/>
            <a:ext cx="9451851" cy="342900"/>
          </a:xfrm>
          <a:prstGeom prst="rect">
            <a:avLst/>
          </a:prstGeom>
          <a:noFill/>
          <a:ln/>
        </p:spPr>
        <p:txBody>
          <a:bodyPr wrap="square" lIns="25400" tIns="25400" rIns="25400" bIns="25400" rtlCol="0" anchor="t">
            <a:normAutofit/>
          </a:bodyPr>
          <a:lstStyle/>
          <a:p>
            <a:pPr algn="ctr" indent="0" marL="0">
              <a:buNone/>
            </a:pPr>
            <a:r>
              <a:rPr lang="en-US" sz="2100" dirty="0">
                <a:solidFill>
                  <a:srgbClr val="FFFFFF">
                    <a:alpha val="50000"/>
                  </a:srgbClr>
                </a:solidFill>
                <a:latin typeface="Arial" pitchFamily="34" charset="0"/>
                <a:ea typeface="Arial" pitchFamily="34" charset="-122"/>
                <a:cs typeface="Arial" pitchFamily="34" charset="-120"/>
              </a:rPr>
              <a:t>Advisors: Prof. Noa Dagan · Dr. Seffi Cohen · Dr. Liat Friedman Antwarg</a:t>
            </a:r>
            <a:endParaRPr lang="en-US" sz="2100" dirty="0"/>
          </a:p>
        </p:txBody>
      </p:sp>
      <p:sp>
        <p:nvSpPr>
          <p:cNvPr id="7" name="Text 5"/>
          <p:cNvSpPr/>
          <p:nvPr/>
        </p:nvSpPr>
        <p:spPr>
          <a:xfrm>
            <a:off x="8369327" y="7160865"/>
            <a:ext cx="1549197" cy="342900"/>
          </a:xfrm>
          <a:prstGeom prst="rect">
            <a:avLst/>
          </a:prstGeom>
          <a:noFill/>
          <a:ln/>
        </p:spPr>
        <p:txBody>
          <a:bodyPr wrap="square" lIns="25400" tIns="25400" rIns="25400" bIns="25400" rtlCol="0" anchor="t">
            <a:normAutofit/>
          </a:bodyPr>
          <a:lstStyle/>
          <a:p>
            <a:pPr algn="ctr" indent="0" marL="0">
              <a:buNone/>
            </a:pPr>
            <a:r>
              <a:rPr lang="en-US" sz="2100" dirty="0">
                <a:solidFill>
                  <a:srgbClr val="FFFFFF">
                    <a:alpha val="50000"/>
                  </a:srgbClr>
                </a:solidFill>
                <a:latin typeface="Arial" pitchFamily="34" charset="0"/>
                <a:ea typeface="Arial" pitchFamily="34" charset="-122"/>
                <a:cs typeface="Arial" pitchFamily="34" charset="-120"/>
              </a:rPr>
              <a:t>BGU · 2026</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14 Features, 6 Diseases, One Blood Test</a:t>
            </a:r>
            <a:endParaRPr lang="en-US" sz="4500" dirty="0"/>
          </a:p>
        </p:txBody>
      </p:sp>
      <p:sp>
        <p:nvSpPr>
          <p:cNvPr id="3" name="Shape 1"/>
          <p:cNvSpPr/>
          <p:nvPr/>
        </p:nvSpPr>
        <p:spPr>
          <a:xfrm>
            <a:off x="952500" y="1790700"/>
            <a:ext cx="762000" cy="28575"/>
          </a:xfrm>
          <a:prstGeom prst="rect">
            <a:avLst/>
          </a:prstGeom>
          <a:solidFill>
            <a:srgbClr val="D4A017"/>
          </a:solidFill>
          <a:ln/>
        </p:spPr>
      </p:sp>
      <p:sp>
        <p:nvSpPr>
          <p:cNvPr id="4" name="Text 2"/>
          <p:cNvSpPr/>
          <p:nvPr/>
        </p:nvSpPr>
        <p:spPr>
          <a:xfrm>
            <a:off x="952500" y="2238375"/>
            <a:ext cx="1173480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1B2A5C"/>
                </a:solidFill>
                <a:latin typeface="Georgia" pitchFamily="34" charset="0"/>
                <a:ea typeface="Georgia" pitchFamily="34" charset="-122"/>
                <a:cs typeface="Georgia" pitchFamily="34" charset="-120"/>
              </a:rPr>
              <a:t>Complete Blood Count</a:t>
            </a:r>
            <a:endParaRPr lang="en-US" sz="3000" dirty="0"/>
          </a:p>
        </p:txBody>
      </p:sp>
      <p:sp>
        <p:nvSpPr>
          <p:cNvPr id="5" name="Text 3"/>
          <p:cNvSpPr/>
          <p:nvPr/>
        </p:nvSpPr>
        <p:spPr>
          <a:xfrm>
            <a:off x="952500" y="2990850"/>
            <a:ext cx="10988040" cy="1013222"/>
          </a:xfrm>
          <a:prstGeom prst="rect">
            <a:avLst/>
          </a:prstGeom>
          <a:noFill/>
          <a:ln/>
        </p:spPr>
        <p:txBody>
          <a:bodyPr wrap="square" lIns="25400" tIns="25400" rIns="25400" bIns="25400" rtlCol="0" anchor="t">
            <a:normAutofit/>
          </a:bodyPr>
          <a:lstStyle/>
          <a:p>
            <a:pPr algn="l" indent="0" marL="0">
              <a:lnSpc>
                <a:spcPct val="160000"/>
              </a:lnSpc>
              <a:buNone/>
            </a:pPr>
            <a:r>
              <a:rPr lang="en-US" sz="2400" dirty="0">
                <a:solidFill>
                  <a:srgbClr val="6B6B80"/>
                </a:solidFill>
                <a:latin typeface="Arial" pitchFamily="34" charset="0"/>
                <a:ea typeface="Arial" pitchFamily="34" charset="-122"/>
                <a:cs typeface="Arial" pitchFamily="34" charset="-120"/>
              </a:rPr>
              <a:t>The most ordered lab test — cheap, universal, already collected at every clinical encounter.</a:t>
            </a:r>
            <a:endParaRPr lang="en-US" sz="2400" dirty="0"/>
          </a:p>
        </p:txBody>
      </p:sp>
      <p:sp>
        <p:nvSpPr>
          <p:cNvPr id="6" name="Text 4"/>
          <p:cNvSpPr/>
          <p:nvPr/>
        </p:nvSpPr>
        <p:spPr>
          <a:xfrm>
            <a:off x="952500" y="4308872"/>
            <a:ext cx="378172" cy="638175"/>
          </a:xfrm>
          <a:prstGeom prst="rect">
            <a:avLst/>
          </a:prstGeom>
          <a:noFill/>
          <a:ln/>
        </p:spPr>
        <p:txBody>
          <a:bodyPr wrap="square" lIns="25400" tIns="25400" rIns="25400" bIns="25400" rtlCol="0" anchor="t">
            <a:normAutofit/>
          </a:bodyPr>
          <a:lstStyle/>
          <a:p>
            <a:pPr algn="l" indent="0" marL="0">
              <a:buNone/>
            </a:pPr>
            <a:r>
              <a:rPr lang="en-US" sz="4200" b="1" dirty="0">
                <a:solidFill>
                  <a:srgbClr val="1B2A5C"/>
                </a:solidFill>
                <a:latin typeface="Georgia" pitchFamily="34" charset="0"/>
                <a:ea typeface="Georgia" pitchFamily="34" charset="-122"/>
                <a:cs typeface="Georgia" pitchFamily="34" charset="-120"/>
              </a:rPr>
              <a:t>9</a:t>
            </a:r>
            <a:endParaRPr lang="en-US" sz="4200" dirty="0"/>
          </a:p>
        </p:txBody>
      </p:sp>
      <p:sp>
        <p:nvSpPr>
          <p:cNvPr id="7" name="Text 5"/>
          <p:cNvSpPr/>
          <p:nvPr/>
        </p:nvSpPr>
        <p:spPr>
          <a:xfrm>
            <a:off x="1387822" y="4508897"/>
            <a:ext cx="1139875" cy="784622"/>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B80"/>
                </a:solidFill>
                <a:latin typeface="Arial" pitchFamily="34" charset="0"/>
                <a:ea typeface="Arial" pitchFamily="34" charset="-122"/>
                <a:cs typeface="Arial" pitchFamily="34" charset="-120"/>
              </a:rPr>
              <a:t>standard counts</a:t>
            </a:r>
            <a:endParaRPr lang="en-US" sz="2100" dirty="0"/>
          </a:p>
        </p:txBody>
      </p:sp>
      <p:sp>
        <p:nvSpPr>
          <p:cNvPr id="8" name="Text 6"/>
          <p:cNvSpPr/>
          <p:nvPr/>
        </p:nvSpPr>
        <p:spPr>
          <a:xfrm>
            <a:off x="2908697" y="4308872"/>
            <a:ext cx="358080" cy="638175"/>
          </a:xfrm>
          <a:prstGeom prst="rect">
            <a:avLst/>
          </a:prstGeom>
          <a:noFill/>
          <a:ln/>
        </p:spPr>
        <p:txBody>
          <a:bodyPr wrap="square" lIns="25400" tIns="25400" rIns="25400" bIns="25400" rtlCol="0" anchor="t">
            <a:normAutofit/>
          </a:bodyPr>
          <a:lstStyle/>
          <a:p>
            <a:pPr algn="l" indent="0" marL="0">
              <a:buNone/>
            </a:pPr>
            <a:r>
              <a:rPr lang="en-US" sz="4200" b="1" dirty="0">
                <a:solidFill>
                  <a:srgbClr val="1B2A5C"/>
                </a:solidFill>
                <a:latin typeface="Georgia" pitchFamily="34" charset="0"/>
                <a:ea typeface="Georgia" pitchFamily="34" charset="-122"/>
                <a:cs typeface="Georgia" pitchFamily="34" charset="-120"/>
              </a:rPr>
              <a:t>5</a:t>
            </a:r>
            <a:endParaRPr lang="en-US" sz="4200" dirty="0"/>
          </a:p>
        </p:txBody>
      </p:sp>
      <p:sp>
        <p:nvSpPr>
          <p:cNvPr id="9" name="Text 7"/>
          <p:cNvSpPr/>
          <p:nvPr/>
        </p:nvSpPr>
        <p:spPr>
          <a:xfrm>
            <a:off x="3323927" y="4508897"/>
            <a:ext cx="1515368" cy="784622"/>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B80"/>
                </a:solidFill>
                <a:latin typeface="Arial" pitchFamily="34" charset="0"/>
                <a:ea typeface="Arial" pitchFamily="34" charset="-122"/>
                <a:cs typeface="Arial" pitchFamily="34" charset="-120"/>
              </a:rPr>
              <a:t>WBC differentials</a:t>
            </a:r>
            <a:endParaRPr lang="en-US" sz="2100" dirty="0"/>
          </a:p>
        </p:txBody>
      </p:sp>
      <p:sp>
        <p:nvSpPr>
          <p:cNvPr id="10" name="Text 8"/>
          <p:cNvSpPr/>
          <p:nvPr/>
        </p:nvSpPr>
        <p:spPr>
          <a:xfrm>
            <a:off x="12382500" y="2238375"/>
            <a:ext cx="544830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1B2A5C"/>
                </a:solidFill>
                <a:latin typeface="Georgia" pitchFamily="34" charset="0"/>
                <a:ea typeface="Georgia" pitchFamily="34" charset="-122"/>
                <a:cs typeface="Georgia" pitchFamily="34" charset="-120"/>
              </a:rPr>
              <a:t>Target Diseases</a:t>
            </a:r>
            <a:endParaRPr lang="en-US" sz="3000" dirty="0"/>
          </a:p>
        </p:txBody>
      </p:sp>
      <p:sp>
        <p:nvSpPr>
          <p:cNvPr id="11" name="Shape 9"/>
          <p:cNvSpPr/>
          <p:nvPr/>
        </p:nvSpPr>
        <p:spPr>
          <a:xfrm>
            <a:off x="12382500" y="2952750"/>
            <a:ext cx="2400300" cy="1047750"/>
          </a:xfrm>
          <a:prstGeom prst="roundRect">
            <a:avLst>
              <a:gd name="adj" fmla="val 3636"/>
            </a:avLst>
          </a:prstGeom>
          <a:solidFill>
            <a:srgbClr val="F5F4F0"/>
          </a:solidFill>
          <a:ln/>
        </p:spPr>
      </p:sp>
      <p:sp>
        <p:nvSpPr>
          <p:cNvPr id="12" name="Text 10"/>
          <p:cNvSpPr/>
          <p:nvPr/>
        </p:nvSpPr>
        <p:spPr>
          <a:xfrm>
            <a:off x="12611100" y="3124200"/>
            <a:ext cx="2019300" cy="742950"/>
          </a:xfrm>
          <a:prstGeom prst="rect">
            <a:avLst/>
          </a:prstGeom>
          <a:noFill/>
          <a:ln/>
        </p:spPr>
        <p:txBody>
          <a:bodyPr wrap="square" lIns="25400" tIns="25400" rIns="25400" bIns="25400" rtlCol="0" anchor="t">
            <a:normAutofit/>
          </a:bodyPr>
          <a:lstStyle/>
          <a:p>
            <a:pPr algn="l" indent="0" marL="0">
              <a:buNone/>
            </a:pPr>
            <a:r>
              <a:rPr lang="en-US" sz="2100" dirty="0">
                <a:solidFill>
                  <a:srgbClr val="1A1A2E"/>
                </a:solidFill>
                <a:latin typeface="Arial" pitchFamily="34" charset="0"/>
                <a:ea typeface="Arial" pitchFamily="34" charset="-122"/>
                <a:cs typeface="Arial" pitchFamily="34" charset="-120"/>
              </a:rPr>
              <a:t>Rheumatoid Arthritis</a:t>
            </a:r>
            <a:endParaRPr lang="en-US" sz="2100" dirty="0"/>
          </a:p>
        </p:txBody>
      </p:sp>
      <p:sp>
        <p:nvSpPr>
          <p:cNvPr id="13" name="Shape 11"/>
          <p:cNvSpPr/>
          <p:nvPr/>
        </p:nvSpPr>
        <p:spPr>
          <a:xfrm>
            <a:off x="14935200" y="2952750"/>
            <a:ext cx="2400300" cy="1047750"/>
          </a:xfrm>
          <a:prstGeom prst="roundRect">
            <a:avLst>
              <a:gd name="adj" fmla="val 3636"/>
            </a:avLst>
          </a:prstGeom>
          <a:solidFill>
            <a:srgbClr val="F5F4F0"/>
          </a:solidFill>
          <a:ln/>
        </p:spPr>
      </p:sp>
      <p:sp>
        <p:nvSpPr>
          <p:cNvPr id="14" name="Text 12"/>
          <p:cNvSpPr/>
          <p:nvPr/>
        </p:nvSpPr>
        <p:spPr>
          <a:xfrm>
            <a:off x="15163800" y="3124200"/>
            <a:ext cx="2019300" cy="742950"/>
          </a:xfrm>
          <a:prstGeom prst="rect">
            <a:avLst/>
          </a:prstGeom>
          <a:noFill/>
          <a:ln/>
        </p:spPr>
        <p:txBody>
          <a:bodyPr wrap="square" lIns="25400" tIns="25400" rIns="25400" bIns="25400" rtlCol="0" anchor="t">
            <a:normAutofit/>
          </a:bodyPr>
          <a:lstStyle/>
          <a:p>
            <a:pPr algn="l" indent="0" marL="0">
              <a:buNone/>
            </a:pPr>
            <a:r>
              <a:rPr lang="en-US" sz="2100" dirty="0">
                <a:solidFill>
                  <a:srgbClr val="1A1A2E"/>
                </a:solidFill>
                <a:latin typeface="Arial" pitchFamily="34" charset="0"/>
                <a:ea typeface="Arial" pitchFamily="34" charset="-122"/>
                <a:cs typeface="Arial" pitchFamily="34" charset="-120"/>
              </a:rPr>
              <a:t>Crohn's Disease</a:t>
            </a:r>
            <a:endParaRPr lang="en-US" sz="2100" dirty="0"/>
          </a:p>
        </p:txBody>
      </p:sp>
      <p:sp>
        <p:nvSpPr>
          <p:cNvPr id="15" name="Shape 13"/>
          <p:cNvSpPr/>
          <p:nvPr/>
        </p:nvSpPr>
        <p:spPr>
          <a:xfrm>
            <a:off x="12382500" y="4152900"/>
            <a:ext cx="2400300" cy="695325"/>
          </a:xfrm>
          <a:prstGeom prst="roundRect">
            <a:avLst>
              <a:gd name="adj" fmla="val 5479"/>
            </a:avLst>
          </a:prstGeom>
          <a:solidFill>
            <a:srgbClr val="F5F4F0"/>
          </a:solidFill>
          <a:ln/>
        </p:spPr>
      </p:sp>
      <p:sp>
        <p:nvSpPr>
          <p:cNvPr id="16" name="Text 14"/>
          <p:cNvSpPr/>
          <p:nvPr/>
        </p:nvSpPr>
        <p:spPr>
          <a:xfrm>
            <a:off x="12611100" y="4324350"/>
            <a:ext cx="20193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A1A2E"/>
                </a:solidFill>
                <a:latin typeface="Arial" pitchFamily="34" charset="0"/>
                <a:ea typeface="Arial" pitchFamily="34" charset="-122"/>
                <a:cs typeface="Arial" pitchFamily="34" charset="-120"/>
              </a:rPr>
              <a:t>Lupus</a:t>
            </a:r>
            <a:endParaRPr lang="en-US" sz="2100" dirty="0"/>
          </a:p>
        </p:txBody>
      </p:sp>
      <p:sp>
        <p:nvSpPr>
          <p:cNvPr id="17" name="Shape 15"/>
          <p:cNvSpPr/>
          <p:nvPr/>
        </p:nvSpPr>
        <p:spPr>
          <a:xfrm>
            <a:off x="14935200" y="4152900"/>
            <a:ext cx="2400300" cy="695325"/>
          </a:xfrm>
          <a:prstGeom prst="roundRect">
            <a:avLst>
              <a:gd name="adj" fmla="val 5479"/>
            </a:avLst>
          </a:prstGeom>
          <a:solidFill>
            <a:srgbClr val="F5F4F0"/>
          </a:solidFill>
          <a:ln/>
        </p:spPr>
      </p:sp>
      <p:sp>
        <p:nvSpPr>
          <p:cNvPr id="18" name="Text 16"/>
          <p:cNvSpPr/>
          <p:nvPr/>
        </p:nvSpPr>
        <p:spPr>
          <a:xfrm>
            <a:off x="15163800" y="4324350"/>
            <a:ext cx="201930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1A1A2E"/>
                </a:solidFill>
                <a:latin typeface="Arial" pitchFamily="34" charset="0"/>
                <a:ea typeface="Arial" pitchFamily="34" charset="-122"/>
                <a:cs typeface="Arial" pitchFamily="34" charset="-120"/>
              </a:rPr>
              <a:t>Psoriasis</a:t>
            </a:r>
            <a:endParaRPr lang="en-US" sz="2100" dirty="0"/>
          </a:p>
        </p:txBody>
      </p:sp>
      <p:sp>
        <p:nvSpPr>
          <p:cNvPr id="19" name="Shape 17"/>
          <p:cNvSpPr/>
          <p:nvPr/>
        </p:nvSpPr>
        <p:spPr>
          <a:xfrm>
            <a:off x="12382500" y="5000625"/>
            <a:ext cx="2400300" cy="1047750"/>
          </a:xfrm>
          <a:prstGeom prst="roundRect">
            <a:avLst>
              <a:gd name="adj" fmla="val 3636"/>
            </a:avLst>
          </a:prstGeom>
          <a:solidFill>
            <a:srgbClr val="F5F4F0"/>
          </a:solidFill>
          <a:ln/>
        </p:spPr>
      </p:sp>
      <p:sp>
        <p:nvSpPr>
          <p:cNvPr id="20" name="Text 18"/>
          <p:cNvSpPr/>
          <p:nvPr/>
        </p:nvSpPr>
        <p:spPr>
          <a:xfrm>
            <a:off x="12611100" y="5172075"/>
            <a:ext cx="2019300" cy="742950"/>
          </a:xfrm>
          <a:prstGeom prst="rect">
            <a:avLst/>
          </a:prstGeom>
          <a:noFill/>
          <a:ln/>
        </p:spPr>
        <p:txBody>
          <a:bodyPr wrap="square" lIns="25400" tIns="25400" rIns="25400" bIns="25400" rtlCol="0" anchor="t">
            <a:normAutofit/>
          </a:bodyPr>
          <a:lstStyle/>
          <a:p>
            <a:pPr algn="l" indent="0" marL="0">
              <a:buNone/>
            </a:pPr>
            <a:r>
              <a:rPr lang="en-US" sz="2100" dirty="0">
                <a:solidFill>
                  <a:srgbClr val="1A1A2E"/>
                </a:solidFill>
                <a:latin typeface="Arial" pitchFamily="34" charset="0"/>
                <a:ea typeface="Arial" pitchFamily="34" charset="-122"/>
                <a:cs typeface="Arial" pitchFamily="34" charset="-120"/>
              </a:rPr>
              <a:t>Type 1 Diabetes</a:t>
            </a:r>
            <a:endParaRPr lang="en-US" sz="2100" dirty="0"/>
          </a:p>
        </p:txBody>
      </p:sp>
      <p:sp>
        <p:nvSpPr>
          <p:cNvPr id="21" name="Shape 19"/>
          <p:cNvSpPr/>
          <p:nvPr/>
        </p:nvSpPr>
        <p:spPr>
          <a:xfrm>
            <a:off x="14935200" y="5000625"/>
            <a:ext cx="2400300" cy="1047750"/>
          </a:xfrm>
          <a:prstGeom prst="roundRect">
            <a:avLst>
              <a:gd name="adj" fmla="val 3636"/>
            </a:avLst>
          </a:prstGeom>
          <a:solidFill>
            <a:srgbClr val="F5F4F0"/>
          </a:solidFill>
          <a:ln/>
        </p:spPr>
      </p:sp>
      <p:sp>
        <p:nvSpPr>
          <p:cNvPr id="22" name="Text 20"/>
          <p:cNvSpPr/>
          <p:nvPr/>
        </p:nvSpPr>
        <p:spPr>
          <a:xfrm>
            <a:off x="15163800" y="5172075"/>
            <a:ext cx="2019300" cy="742950"/>
          </a:xfrm>
          <a:prstGeom prst="rect">
            <a:avLst/>
          </a:prstGeom>
          <a:noFill/>
          <a:ln/>
        </p:spPr>
        <p:txBody>
          <a:bodyPr wrap="square" lIns="25400" tIns="25400" rIns="25400" bIns="25400" rtlCol="0" anchor="t">
            <a:normAutofit/>
          </a:bodyPr>
          <a:lstStyle/>
          <a:p>
            <a:pPr algn="l" indent="0" marL="0">
              <a:buNone/>
            </a:pPr>
            <a:r>
              <a:rPr lang="en-US" sz="2100" dirty="0">
                <a:solidFill>
                  <a:srgbClr val="1A1A2E"/>
                </a:solidFill>
                <a:latin typeface="Arial" pitchFamily="34" charset="0"/>
                <a:ea typeface="Arial" pitchFamily="34" charset="-122"/>
                <a:cs typeface="Arial" pitchFamily="34" charset="-120"/>
              </a:rPr>
              <a:t>Type 2 Diabetes</a:t>
            </a:r>
            <a:endParaRPr lang="en-US" sz="2100" dirty="0"/>
          </a:p>
        </p:txBody>
      </p:sp>
      <p:sp>
        <p:nvSpPr>
          <p:cNvPr id="23" name="Shape 21"/>
          <p:cNvSpPr/>
          <p:nvPr/>
        </p:nvSpPr>
        <p:spPr>
          <a:xfrm>
            <a:off x="952500" y="8934450"/>
            <a:ext cx="16383000" cy="9525"/>
          </a:xfrm>
          <a:prstGeom prst="rect">
            <a:avLst/>
          </a:prstGeom>
          <a:solidFill>
            <a:srgbClr val="E2E0DB"/>
          </a:solidFill>
          <a:ln/>
        </p:spPr>
      </p:sp>
      <p:sp>
        <p:nvSpPr>
          <p:cNvPr id="24" name="Text 22"/>
          <p:cNvSpPr/>
          <p:nvPr/>
        </p:nvSpPr>
        <p:spPr>
          <a:xfrm>
            <a:off x="952500" y="9172575"/>
            <a:ext cx="6358860" cy="390525"/>
          </a:xfrm>
          <a:prstGeom prst="rect">
            <a:avLst/>
          </a:prstGeom>
          <a:noFill/>
          <a:ln/>
        </p:spPr>
        <p:txBody>
          <a:bodyPr wrap="square" lIns="25400" tIns="25400" rIns="25400" bIns="25400" rtlCol="0" anchor="t">
            <a:normAutofit/>
          </a:bodyPr>
          <a:lstStyle/>
          <a:p>
            <a:pPr algn="l" indent="0" marL="0">
              <a:buNone/>
            </a:pPr>
            <a:r>
              <a:rPr lang="en-US" sz="2100" dirty="0">
                <a:solidFill>
                  <a:srgbClr val="6B6B80"/>
                </a:solidFill>
                <a:latin typeface="Arial" pitchFamily="34" charset="0"/>
                <a:ea typeface="Arial" pitchFamily="34" charset="-122"/>
                <a:cs typeface="Arial" pitchFamily="34" charset="-120"/>
              </a:rPr>
              <a:t>MIMIC-IV · ~223,000 patients · ~1% prevalence</a:t>
            </a:r>
            <a:endParaRPr lang="en-US" sz="2100" dirty="0"/>
          </a:p>
        </p:txBody>
      </p:sp>
      <p:sp>
        <p:nvSpPr>
          <p:cNvPr id="25" name="Text 23"/>
          <p:cNvSpPr/>
          <p:nvPr/>
        </p:nvSpPr>
        <p:spPr>
          <a:xfrm>
            <a:off x="10887224" y="9210675"/>
            <a:ext cx="7093104" cy="342900"/>
          </a:xfrm>
          <a:prstGeom prst="rect">
            <a:avLst/>
          </a:prstGeom>
          <a:noFill/>
          <a:ln/>
        </p:spPr>
        <p:txBody>
          <a:bodyPr wrap="square" lIns="25400" tIns="25400" rIns="25400" bIns="25400" rtlCol="0" anchor="t">
            <a:normAutofit/>
          </a:bodyPr>
          <a:lstStyle/>
          <a:p>
            <a:pPr algn="l" indent="0" marL="0">
              <a:buNone/>
            </a:pPr>
            <a:r>
              <a:rPr lang="en-US" sz="2100" b="1" dirty="0">
                <a:solidFill>
                  <a:srgbClr val="1B2A5C"/>
                </a:solidFill>
                <a:latin typeface="Arial" pitchFamily="34" charset="0"/>
                <a:ea typeface="Arial" pitchFamily="34" charset="-122"/>
                <a:cs typeface="Arial" pitchFamily="34" charset="-120"/>
              </a:rPr>
              <a:t>Goal: Interpretable CBC formulas that flag disease risk</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Evaluation Framework</a:t>
            </a:r>
            <a:endParaRPr lang="en-US" sz="4500" dirty="0"/>
          </a:p>
        </p:txBody>
      </p:sp>
      <p:sp>
        <p:nvSpPr>
          <p:cNvPr id="3" name="Shape 1"/>
          <p:cNvSpPr/>
          <p:nvPr/>
        </p:nvSpPr>
        <p:spPr>
          <a:xfrm>
            <a:off x="952500" y="1790700"/>
            <a:ext cx="762000" cy="28575"/>
          </a:xfrm>
          <a:prstGeom prst="rect">
            <a:avLst/>
          </a:prstGeom>
          <a:solidFill>
            <a:srgbClr val="D4A017"/>
          </a:solidFill>
          <a:ln/>
        </p:spPr>
      </p:sp>
      <p:sp>
        <p:nvSpPr>
          <p:cNvPr id="4" name="Shape 2"/>
          <p:cNvSpPr/>
          <p:nvPr/>
        </p:nvSpPr>
        <p:spPr>
          <a:xfrm>
            <a:off x="952500" y="2238375"/>
            <a:ext cx="2114550" cy="552450"/>
          </a:xfrm>
          <a:prstGeom prst="roundRect">
            <a:avLst>
              <a:gd name="adj" fmla="val 10345"/>
            </a:avLst>
          </a:prstGeom>
          <a:solidFill>
            <a:srgbClr val="1B2A5C"/>
          </a:solidFill>
          <a:ln/>
        </p:spPr>
      </p:sp>
      <p:sp>
        <p:nvSpPr>
          <p:cNvPr id="5" name="Text 3"/>
          <p:cNvSpPr/>
          <p:nvPr/>
        </p:nvSpPr>
        <p:spPr>
          <a:xfrm>
            <a:off x="1104900" y="2371725"/>
            <a:ext cx="1809750"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Georgia" pitchFamily="34" charset="0"/>
                <a:ea typeface="Georgia" pitchFamily="34" charset="-122"/>
                <a:cs typeface="Georgia" pitchFamily="34" charset="-120"/>
              </a:rPr>
              <a:t>Dataset</a:t>
            </a:r>
            <a:endParaRPr lang="en-US" sz="1950" dirty="0"/>
          </a:p>
        </p:txBody>
      </p:sp>
      <p:sp>
        <p:nvSpPr>
          <p:cNvPr id="6" name="Shape 4"/>
          <p:cNvSpPr/>
          <p:nvPr/>
        </p:nvSpPr>
        <p:spPr>
          <a:xfrm>
            <a:off x="952500" y="9505950"/>
            <a:ext cx="2114550" cy="19050"/>
          </a:xfrm>
          <a:prstGeom prst="rect">
            <a:avLst/>
          </a:prstGeom>
          <a:solidFill>
            <a:srgbClr val="E2E0DB"/>
          </a:solidFill>
          <a:ln/>
        </p:spPr>
      </p:sp>
      <p:sp>
        <p:nvSpPr>
          <p:cNvPr id="7" name="Shape 5"/>
          <p:cNvSpPr/>
          <p:nvPr/>
        </p:nvSpPr>
        <p:spPr>
          <a:xfrm>
            <a:off x="952500" y="2790825"/>
            <a:ext cx="19050" cy="6734175"/>
          </a:xfrm>
          <a:prstGeom prst="rect">
            <a:avLst/>
          </a:prstGeom>
          <a:solidFill>
            <a:srgbClr val="E2E0DB"/>
          </a:solidFill>
          <a:ln/>
        </p:spPr>
      </p:sp>
      <p:sp>
        <p:nvSpPr>
          <p:cNvPr id="8" name="Shape 6"/>
          <p:cNvSpPr/>
          <p:nvPr/>
        </p:nvSpPr>
        <p:spPr>
          <a:xfrm>
            <a:off x="3048000" y="2790825"/>
            <a:ext cx="19050" cy="6734175"/>
          </a:xfrm>
          <a:prstGeom prst="rect">
            <a:avLst/>
          </a:prstGeom>
          <a:solidFill>
            <a:srgbClr val="E2E0DB"/>
          </a:solidFill>
          <a:ln/>
        </p:spPr>
      </p:sp>
      <p:sp>
        <p:nvSpPr>
          <p:cNvPr id="9" name="Text 7"/>
          <p:cNvSpPr/>
          <p:nvPr/>
        </p:nvSpPr>
        <p:spPr>
          <a:xfrm>
            <a:off x="1162050" y="2981325"/>
            <a:ext cx="1771650" cy="6372225"/>
          </a:xfrm>
          <a:prstGeom prst="rect">
            <a:avLst/>
          </a:prstGeom>
          <a:noFill/>
          <a:ln/>
        </p:spPr>
        <p:txBody>
          <a:bodyPr wrap="square" lIns="25400" tIns="25400" rIns="25400" bIns="25400" rtlCol="0" anchor="t">
            <a:normAutofit/>
          </a:bodyPr>
          <a:lstStyle/>
          <a:p>
            <a:pPr algn="l" indent="0" marL="0">
              <a:lnSpc>
                <a:spcPct val="190000"/>
              </a:lnSpc>
              <a:buNone/>
            </a:pPr>
            <a:r>
              <a:rPr lang="en-US" sz="1950" b="1" dirty="0">
                <a:solidFill>
                  <a:srgbClr val="1A1A2E"/>
                </a:solidFill>
                <a:latin typeface="Arial" pitchFamily="34" charset="0"/>
                <a:ea typeface="Arial" pitchFamily="34" charset="-122"/>
                <a:cs typeface="Arial" pitchFamily="34" charset="-120"/>
              </a:rPr>
              <a:t>MIMIC-IV </a:t>
            </a:r>
            <a:pPr algn="l" indent="0" marL="0">
              <a:lnSpc>
                <a:spcPct val="190000"/>
              </a:lnSpc>
              <a:buNone/>
            </a:pPr>
            <a:r>
              <a:rPr lang="en-US" sz="1800" dirty="0">
                <a:solidFill>
                  <a:srgbClr val="6B6B80"/>
                </a:solidFill>
                <a:latin typeface="Arial" pitchFamily="34" charset="0"/>
                <a:ea typeface="Arial" pitchFamily="34" charset="-122"/>
                <a:cs typeface="Arial" pitchFamily="34" charset="-120"/>
              </a:rPr>
              <a:t>~223,000 patients ~1% prevalence 90-day lookback 80 / 20 train-test</a:t>
            </a:r>
            <a:endParaRPr lang="en-US" sz="1800" dirty="0"/>
          </a:p>
        </p:txBody>
      </p:sp>
      <p:pic>
        <p:nvPicPr>
          <p:cNvPr id="10"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143250" y="5786438"/>
            <a:ext cx="304800" cy="190500"/>
          </a:xfrm>
          <a:prstGeom prst="rect">
            <a:avLst/>
          </a:prstGeom>
        </p:spPr>
      </p:pic>
      <p:sp>
        <p:nvSpPr>
          <p:cNvPr id="11" name="Shape 8"/>
          <p:cNvSpPr/>
          <p:nvPr/>
        </p:nvSpPr>
        <p:spPr>
          <a:xfrm>
            <a:off x="3524250" y="2238375"/>
            <a:ext cx="2114550" cy="552450"/>
          </a:xfrm>
          <a:prstGeom prst="roundRect">
            <a:avLst>
              <a:gd name="adj" fmla="val 10345"/>
            </a:avLst>
          </a:prstGeom>
          <a:solidFill>
            <a:srgbClr val="1B2A5C"/>
          </a:solidFill>
          <a:ln/>
        </p:spPr>
      </p:sp>
      <p:sp>
        <p:nvSpPr>
          <p:cNvPr id="12" name="Text 9"/>
          <p:cNvSpPr/>
          <p:nvPr/>
        </p:nvSpPr>
        <p:spPr>
          <a:xfrm>
            <a:off x="3676650" y="2371725"/>
            <a:ext cx="1809750"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Georgia" pitchFamily="34" charset="0"/>
                <a:ea typeface="Georgia" pitchFamily="34" charset="-122"/>
                <a:cs typeface="Georgia" pitchFamily="34" charset="-120"/>
              </a:rPr>
              <a:t>Pre-processing</a:t>
            </a:r>
            <a:endParaRPr lang="en-US" sz="1950" dirty="0"/>
          </a:p>
        </p:txBody>
      </p:sp>
      <p:sp>
        <p:nvSpPr>
          <p:cNvPr id="13" name="Shape 10"/>
          <p:cNvSpPr/>
          <p:nvPr/>
        </p:nvSpPr>
        <p:spPr>
          <a:xfrm>
            <a:off x="3524250" y="9505950"/>
            <a:ext cx="2114550" cy="19050"/>
          </a:xfrm>
          <a:prstGeom prst="rect">
            <a:avLst/>
          </a:prstGeom>
          <a:solidFill>
            <a:srgbClr val="E2E0DB"/>
          </a:solidFill>
          <a:ln/>
        </p:spPr>
      </p:sp>
      <p:sp>
        <p:nvSpPr>
          <p:cNvPr id="14" name="Shape 11"/>
          <p:cNvSpPr/>
          <p:nvPr/>
        </p:nvSpPr>
        <p:spPr>
          <a:xfrm>
            <a:off x="3524250" y="2790825"/>
            <a:ext cx="19050" cy="6734175"/>
          </a:xfrm>
          <a:prstGeom prst="rect">
            <a:avLst/>
          </a:prstGeom>
          <a:solidFill>
            <a:srgbClr val="E2E0DB"/>
          </a:solidFill>
          <a:ln/>
        </p:spPr>
      </p:sp>
      <p:sp>
        <p:nvSpPr>
          <p:cNvPr id="15" name="Shape 12"/>
          <p:cNvSpPr/>
          <p:nvPr/>
        </p:nvSpPr>
        <p:spPr>
          <a:xfrm>
            <a:off x="5619750" y="2790825"/>
            <a:ext cx="19050" cy="6734175"/>
          </a:xfrm>
          <a:prstGeom prst="rect">
            <a:avLst/>
          </a:prstGeom>
          <a:solidFill>
            <a:srgbClr val="E2E0DB"/>
          </a:solidFill>
          <a:ln/>
        </p:spPr>
      </p:sp>
      <p:sp>
        <p:nvSpPr>
          <p:cNvPr id="16" name="Text 13"/>
          <p:cNvSpPr/>
          <p:nvPr/>
        </p:nvSpPr>
        <p:spPr>
          <a:xfrm>
            <a:off x="3733800" y="2981325"/>
            <a:ext cx="1771650" cy="6372225"/>
          </a:xfrm>
          <a:prstGeom prst="rect">
            <a:avLst/>
          </a:prstGeom>
          <a:noFill/>
          <a:ln/>
        </p:spPr>
        <p:txBody>
          <a:bodyPr wrap="square" lIns="25400" tIns="25400" rIns="25400" bIns="25400" rtlCol="0" anchor="t">
            <a:normAutofit/>
          </a:bodyPr>
          <a:lstStyle/>
          <a:p>
            <a:pPr algn="l" indent="0" marL="0">
              <a:lnSpc>
                <a:spcPct val="190000"/>
              </a:lnSpc>
              <a:buNone/>
            </a:pPr>
            <a:r>
              <a:rPr lang="en-US" sz="1800" dirty="0">
                <a:solidFill>
                  <a:srgbClr val="6B6B80"/>
                </a:solidFill>
                <a:latin typeface="Arial" pitchFamily="34" charset="0"/>
                <a:ea typeface="Arial" pitchFamily="34" charset="-122"/>
                <a:cs typeface="Arial" pitchFamily="34" charset="-120"/>
              </a:rPr>
              <a:t>90-day lookback First 24 h index Last-value aggregation Imputation Normalization</a:t>
            </a:r>
            <a:endParaRPr lang="en-US" sz="1800" dirty="0"/>
          </a:p>
        </p:txBody>
      </p:sp>
      <p:pic>
        <p:nvPicPr>
          <p:cNvPr id="1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15000" y="5786438"/>
            <a:ext cx="304800" cy="190500"/>
          </a:xfrm>
          <a:prstGeom prst="rect">
            <a:avLst/>
          </a:prstGeom>
        </p:spPr>
      </p:pic>
      <p:sp>
        <p:nvSpPr>
          <p:cNvPr id="18" name="Shape 14"/>
          <p:cNvSpPr/>
          <p:nvPr/>
        </p:nvSpPr>
        <p:spPr>
          <a:xfrm>
            <a:off x="6096000" y="2238375"/>
            <a:ext cx="8667750" cy="552450"/>
          </a:xfrm>
          <a:prstGeom prst="roundRect">
            <a:avLst>
              <a:gd name="adj" fmla="val 10345"/>
            </a:avLst>
          </a:prstGeom>
          <a:solidFill>
            <a:srgbClr val="1B2A5C"/>
          </a:solidFill>
          <a:ln/>
        </p:spPr>
      </p:sp>
      <p:sp>
        <p:nvSpPr>
          <p:cNvPr id="19" name="Text 15"/>
          <p:cNvSpPr/>
          <p:nvPr/>
        </p:nvSpPr>
        <p:spPr>
          <a:xfrm>
            <a:off x="6156484" y="2371725"/>
            <a:ext cx="8546783"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Georgia" pitchFamily="34" charset="0"/>
                <a:ea typeface="Georgia" pitchFamily="34" charset="-122"/>
                <a:cs typeface="Georgia" pitchFamily="34" charset="-120"/>
              </a:rPr>
              <a:t>Formula Discovery</a:t>
            </a:r>
            <a:endParaRPr lang="en-US" sz="1950" dirty="0"/>
          </a:p>
        </p:txBody>
      </p:sp>
      <p:sp>
        <p:nvSpPr>
          <p:cNvPr id="20" name="Shape 16"/>
          <p:cNvSpPr/>
          <p:nvPr/>
        </p:nvSpPr>
        <p:spPr>
          <a:xfrm>
            <a:off x="6096000" y="9505950"/>
            <a:ext cx="8667750" cy="19050"/>
          </a:xfrm>
          <a:prstGeom prst="rect">
            <a:avLst/>
          </a:prstGeom>
          <a:solidFill>
            <a:srgbClr val="E2E0DB"/>
          </a:solidFill>
          <a:ln/>
        </p:spPr>
      </p:sp>
      <p:sp>
        <p:nvSpPr>
          <p:cNvPr id="21" name="Shape 17"/>
          <p:cNvSpPr/>
          <p:nvPr/>
        </p:nvSpPr>
        <p:spPr>
          <a:xfrm>
            <a:off x="6096000" y="2790825"/>
            <a:ext cx="19050" cy="6734175"/>
          </a:xfrm>
          <a:prstGeom prst="rect">
            <a:avLst/>
          </a:prstGeom>
          <a:solidFill>
            <a:srgbClr val="E2E0DB"/>
          </a:solidFill>
          <a:ln/>
        </p:spPr>
      </p:sp>
      <p:sp>
        <p:nvSpPr>
          <p:cNvPr id="22" name="Shape 18"/>
          <p:cNvSpPr/>
          <p:nvPr/>
        </p:nvSpPr>
        <p:spPr>
          <a:xfrm>
            <a:off x="14744700" y="2790825"/>
            <a:ext cx="19050" cy="6734175"/>
          </a:xfrm>
          <a:prstGeom prst="rect">
            <a:avLst/>
          </a:prstGeom>
          <a:solidFill>
            <a:srgbClr val="E2E0DB"/>
          </a:solidFill>
          <a:ln/>
        </p:spPr>
      </p:sp>
      <p:sp>
        <p:nvSpPr>
          <p:cNvPr id="23" name="Shape 19"/>
          <p:cNvSpPr/>
          <p:nvPr/>
        </p:nvSpPr>
        <p:spPr>
          <a:xfrm>
            <a:off x="6305550" y="2981325"/>
            <a:ext cx="4067175" cy="2767013"/>
          </a:xfrm>
          <a:prstGeom prst="roundRect">
            <a:avLst>
              <a:gd name="adj" fmla="val 1377"/>
            </a:avLst>
          </a:prstGeom>
          <a:solidFill>
            <a:srgbClr val="F5F4F0"/>
          </a:solidFill>
          <a:ln/>
        </p:spPr>
      </p:sp>
      <p:sp>
        <p:nvSpPr>
          <p:cNvPr id="24" name="Text 20"/>
          <p:cNvSpPr/>
          <p:nvPr/>
        </p:nvSpPr>
        <p:spPr>
          <a:xfrm>
            <a:off x="6496050" y="4045744"/>
            <a:ext cx="40547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A5C"/>
                </a:solidFill>
                <a:latin typeface="Arial" pitchFamily="34" charset="0"/>
                <a:ea typeface="Arial" pitchFamily="34" charset="-122"/>
                <a:cs typeface="Arial" pitchFamily="34" charset="-120"/>
              </a:rPr>
              <a:t>M1 · Threshold</a:t>
            </a:r>
            <a:endParaRPr lang="en-US" sz="1950" dirty="0"/>
          </a:p>
        </p:txBody>
      </p:sp>
      <p:sp>
        <p:nvSpPr>
          <p:cNvPr id="25" name="Text 21"/>
          <p:cNvSpPr/>
          <p:nvPr/>
        </p:nvSpPr>
        <p:spPr>
          <a:xfrm>
            <a:off x="6496050" y="4379119"/>
            <a:ext cx="405479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B80"/>
                </a:solidFill>
                <a:latin typeface="Arial" pitchFamily="34" charset="0"/>
                <a:ea typeface="Arial" pitchFamily="34" charset="-122"/>
                <a:cs typeface="Arial" pitchFamily="34" charset="-120"/>
              </a:rPr>
              <a:t>Youden's Index cutoffs</a:t>
            </a:r>
            <a:endParaRPr lang="en-US" sz="1800" dirty="0"/>
          </a:p>
        </p:txBody>
      </p:sp>
      <p:sp>
        <p:nvSpPr>
          <p:cNvPr id="26" name="Shape 22"/>
          <p:cNvSpPr/>
          <p:nvPr/>
        </p:nvSpPr>
        <p:spPr>
          <a:xfrm>
            <a:off x="10487025" y="2981325"/>
            <a:ext cx="4067175" cy="2767013"/>
          </a:xfrm>
          <a:prstGeom prst="roundRect">
            <a:avLst>
              <a:gd name="adj" fmla="val 1377"/>
            </a:avLst>
          </a:prstGeom>
          <a:solidFill>
            <a:srgbClr val="F5F4F0"/>
          </a:solidFill>
          <a:ln/>
        </p:spPr>
      </p:sp>
      <p:sp>
        <p:nvSpPr>
          <p:cNvPr id="27" name="Text 23"/>
          <p:cNvSpPr/>
          <p:nvPr/>
        </p:nvSpPr>
        <p:spPr>
          <a:xfrm>
            <a:off x="10677525" y="4045744"/>
            <a:ext cx="40547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A5C"/>
                </a:solidFill>
                <a:latin typeface="Arial" pitchFamily="34" charset="0"/>
                <a:ea typeface="Arial" pitchFamily="34" charset="-122"/>
                <a:cs typeface="Arial" pitchFamily="34" charset="-120"/>
              </a:rPr>
              <a:t>M2 · Random Search</a:t>
            </a:r>
            <a:endParaRPr lang="en-US" sz="1950" dirty="0"/>
          </a:p>
        </p:txBody>
      </p:sp>
      <p:sp>
        <p:nvSpPr>
          <p:cNvPr id="28" name="Text 24"/>
          <p:cNvSpPr/>
          <p:nvPr/>
        </p:nvSpPr>
        <p:spPr>
          <a:xfrm>
            <a:off x="10677525" y="4379119"/>
            <a:ext cx="405479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B80"/>
                </a:solidFill>
                <a:latin typeface="Arial" pitchFamily="34" charset="0"/>
                <a:ea typeface="Arial" pitchFamily="34" charset="-122"/>
                <a:cs typeface="Arial" pitchFamily="34" charset="-120"/>
              </a:rPr>
              <a:t>10,000 random formulas</a:t>
            </a:r>
            <a:endParaRPr lang="en-US" sz="1800" dirty="0"/>
          </a:p>
        </p:txBody>
      </p:sp>
      <p:sp>
        <p:nvSpPr>
          <p:cNvPr id="29" name="Shape 25"/>
          <p:cNvSpPr/>
          <p:nvPr/>
        </p:nvSpPr>
        <p:spPr>
          <a:xfrm>
            <a:off x="6305550" y="5862638"/>
            <a:ext cx="4067175" cy="2767013"/>
          </a:xfrm>
          <a:prstGeom prst="roundRect">
            <a:avLst>
              <a:gd name="adj" fmla="val 1377"/>
            </a:avLst>
          </a:prstGeom>
          <a:solidFill>
            <a:srgbClr val="F5F4F0"/>
          </a:solidFill>
          <a:ln/>
        </p:spPr>
      </p:sp>
      <p:sp>
        <p:nvSpPr>
          <p:cNvPr id="30" name="Text 26"/>
          <p:cNvSpPr/>
          <p:nvPr/>
        </p:nvSpPr>
        <p:spPr>
          <a:xfrm>
            <a:off x="6496050" y="6927056"/>
            <a:ext cx="40547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A5C"/>
                </a:solidFill>
                <a:latin typeface="Arial" pitchFamily="34" charset="0"/>
                <a:ea typeface="Arial" pitchFamily="34" charset="-122"/>
                <a:cs typeface="Arial" pitchFamily="34" charset="-120"/>
              </a:rPr>
              <a:t>M3 · Genetic Prog.</a:t>
            </a:r>
            <a:endParaRPr lang="en-US" sz="1950" dirty="0"/>
          </a:p>
        </p:txBody>
      </p:sp>
      <p:sp>
        <p:nvSpPr>
          <p:cNvPr id="31" name="Text 27"/>
          <p:cNvSpPr/>
          <p:nvPr/>
        </p:nvSpPr>
        <p:spPr>
          <a:xfrm>
            <a:off x="6496050" y="7260431"/>
            <a:ext cx="405479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B80"/>
                </a:solidFill>
                <a:latin typeface="Arial" pitchFamily="34" charset="0"/>
                <a:ea typeface="Arial" pitchFamily="34" charset="-122"/>
                <a:cs typeface="Arial" pitchFamily="34" charset="-120"/>
              </a:rPr>
              <a:t>gplearn · pop = 500</a:t>
            </a:r>
            <a:endParaRPr lang="en-US" sz="1800" dirty="0"/>
          </a:p>
        </p:txBody>
      </p:sp>
      <p:sp>
        <p:nvSpPr>
          <p:cNvPr id="32" name="Shape 28"/>
          <p:cNvSpPr/>
          <p:nvPr/>
        </p:nvSpPr>
        <p:spPr>
          <a:xfrm>
            <a:off x="10487025" y="5862638"/>
            <a:ext cx="4067175" cy="2767013"/>
          </a:xfrm>
          <a:prstGeom prst="roundRect">
            <a:avLst>
              <a:gd name="adj" fmla="val 1377"/>
            </a:avLst>
          </a:prstGeom>
          <a:solidFill>
            <a:srgbClr val="F5F4F0"/>
          </a:solidFill>
          <a:ln/>
        </p:spPr>
      </p:sp>
      <p:sp>
        <p:nvSpPr>
          <p:cNvPr id="33" name="Text 29"/>
          <p:cNvSpPr/>
          <p:nvPr/>
        </p:nvSpPr>
        <p:spPr>
          <a:xfrm>
            <a:off x="10677525" y="6927056"/>
            <a:ext cx="4054793" cy="333375"/>
          </a:xfrm>
          <a:prstGeom prst="rect">
            <a:avLst/>
          </a:prstGeom>
          <a:noFill/>
          <a:ln/>
        </p:spPr>
        <p:txBody>
          <a:bodyPr wrap="square" lIns="25400" tIns="25400" rIns="25400" bIns="25400" rtlCol="0" anchor="t">
            <a:normAutofit/>
          </a:bodyPr>
          <a:lstStyle/>
          <a:p>
            <a:pPr algn="l" indent="0" marL="0">
              <a:buNone/>
            </a:pPr>
            <a:r>
              <a:rPr lang="en-US" sz="1950" b="1" dirty="0">
                <a:solidFill>
                  <a:srgbClr val="1B2A5C"/>
                </a:solidFill>
                <a:latin typeface="Arial" pitchFamily="34" charset="0"/>
                <a:ea typeface="Arial" pitchFamily="34" charset="-122"/>
                <a:cs typeface="Arial" pitchFamily="34" charset="-120"/>
              </a:rPr>
              <a:t>M4 · LLM</a:t>
            </a:r>
            <a:endParaRPr lang="en-US" sz="1950" dirty="0"/>
          </a:p>
        </p:txBody>
      </p:sp>
      <p:sp>
        <p:nvSpPr>
          <p:cNvPr id="34" name="Text 30"/>
          <p:cNvSpPr/>
          <p:nvPr/>
        </p:nvSpPr>
        <p:spPr>
          <a:xfrm>
            <a:off x="10677525" y="7260431"/>
            <a:ext cx="4054793"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B80"/>
                </a:solidFill>
                <a:latin typeface="Arial" pitchFamily="34" charset="0"/>
                <a:ea typeface="Arial" pitchFamily="34" charset="-122"/>
                <a:cs typeface="Arial" pitchFamily="34" charset="-120"/>
              </a:rPr>
              <a:t>Med-Gemma 4B · seeded</a:t>
            </a:r>
            <a:endParaRPr lang="en-US" sz="1800" dirty="0"/>
          </a:p>
        </p:txBody>
      </p:sp>
      <p:sp>
        <p:nvSpPr>
          <p:cNvPr id="35" name="Shape 31"/>
          <p:cNvSpPr/>
          <p:nvPr/>
        </p:nvSpPr>
        <p:spPr>
          <a:xfrm>
            <a:off x="6305550" y="8743950"/>
            <a:ext cx="8248650" cy="571500"/>
          </a:xfrm>
          <a:prstGeom prst="roundRect">
            <a:avLst>
              <a:gd name="adj" fmla="val 6667"/>
            </a:avLst>
          </a:prstGeom>
          <a:solidFill>
            <a:srgbClr val="F5F4F0"/>
          </a:solidFill>
          <a:ln/>
        </p:spPr>
      </p:sp>
      <p:sp>
        <p:nvSpPr>
          <p:cNvPr id="36" name="Text 32"/>
          <p:cNvSpPr/>
          <p:nvPr/>
        </p:nvSpPr>
        <p:spPr>
          <a:xfrm>
            <a:off x="6372320" y="8877300"/>
            <a:ext cx="8115110" cy="342900"/>
          </a:xfrm>
          <a:prstGeom prst="rect">
            <a:avLst/>
          </a:prstGeom>
          <a:noFill/>
          <a:ln/>
        </p:spPr>
        <p:txBody>
          <a:bodyPr wrap="square" lIns="25400" tIns="25400" rIns="25400" bIns="25400" rtlCol="0" anchor="t">
            <a:normAutofit/>
          </a:bodyPr>
          <a:lstStyle/>
          <a:p>
            <a:pPr algn="ctr" indent="0" marL="0">
              <a:buNone/>
            </a:pPr>
            <a:r>
              <a:rPr lang="en-US" sz="1800" b="1" dirty="0">
                <a:solidFill>
                  <a:srgbClr val="1A1A2E"/>
                </a:solidFill>
                <a:latin typeface="Arial" pitchFamily="34" charset="0"/>
                <a:ea typeface="Arial" pitchFamily="34" charset="-122"/>
                <a:cs typeface="Arial" pitchFamily="34" charset="-120"/>
              </a:rPr>
              <a:t>Baseline: </a:t>
            </a:r>
            <a:pPr algn="ctr" indent="0" marL="0">
              <a:buNone/>
            </a:pPr>
            <a:r>
              <a:rPr lang="en-US" sz="1800" dirty="0">
                <a:solidFill>
                  <a:srgbClr val="6B6B80"/>
                </a:solidFill>
                <a:latin typeface="Arial" pitchFamily="34" charset="0"/>
                <a:ea typeface="Arial" pitchFamily="34" charset="-122"/>
                <a:cs typeface="Arial" pitchFamily="34" charset="-120"/>
              </a:rPr>
              <a:t>Logistic Regression (all 14 features)</a:t>
            </a:r>
            <a:endParaRPr lang="en-US" sz="1800" dirty="0"/>
          </a:p>
        </p:txBody>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839950" y="5786438"/>
            <a:ext cx="304800" cy="190500"/>
          </a:xfrm>
          <a:prstGeom prst="rect">
            <a:avLst/>
          </a:prstGeom>
        </p:spPr>
      </p:pic>
      <p:sp>
        <p:nvSpPr>
          <p:cNvPr id="38" name="Shape 33"/>
          <p:cNvSpPr/>
          <p:nvPr/>
        </p:nvSpPr>
        <p:spPr>
          <a:xfrm>
            <a:off x="15220950" y="2238375"/>
            <a:ext cx="2114550" cy="552450"/>
          </a:xfrm>
          <a:prstGeom prst="roundRect">
            <a:avLst>
              <a:gd name="adj" fmla="val 10345"/>
            </a:avLst>
          </a:prstGeom>
          <a:solidFill>
            <a:srgbClr val="1B2A5C"/>
          </a:solidFill>
          <a:ln/>
        </p:spPr>
      </p:sp>
      <p:sp>
        <p:nvSpPr>
          <p:cNvPr id="39" name="Text 34"/>
          <p:cNvSpPr/>
          <p:nvPr/>
        </p:nvSpPr>
        <p:spPr>
          <a:xfrm>
            <a:off x="15373350" y="2371725"/>
            <a:ext cx="1809750" cy="323850"/>
          </a:xfrm>
          <a:prstGeom prst="rect">
            <a:avLst/>
          </a:prstGeom>
          <a:noFill/>
          <a:ln/>
        </p:spPr>
        <p:txBody>
          <a:bodyPr wrap="square" lIns="25400" tIns="25400" rIns="25400" bIns="25400" rtlCol="0" anchor="t">
            <a:normAutofit/>
          </a:bodyPr>
          <a:lstStyle/>
          <a:p>
            <a:pPr algn="ctr" indent="0" marL="0">
              <a:buNone/>
            </a:pPr>
            <a:r>
              <a:rPr lang="en-US" sz="1950" b="1" dirty="0">
                <a:solidFill>
                  <a:srgbClr val="FFFFFF"/>
                </a:solidFill>
                <a:latin typeface="Georgia" pitchFamily="34" charset="0"/>
                <a:ea typeface="Georgia" pitchFamily="34" charset="-122"/>
                <a:cs typeface="Georgia" pitchFamily="34" charset="-120"/>
              </a:rPr>
              <a:t>Evaluation</a:t>
            </a:r>
            <a:endParaRPr lang="en-US" sz="1950" dirty="0"/>
          </a:p>
        </p:txBody>
      </p:sp>
      <p:sp>
        <p:nvSpPr>
          <p:cNvPr id="40" name="Shape 35"/>
          <p:cNvSpPr/>
          <p:nvPr/>
        </p:nvSpPr>
        <p:spPr>
          <a:xfrm>
            <a:off x="15220950" y="9505950"/>
            <a:ext cx="2114550" cy="19050"/>
          </a:xfrm>
          <a:prstGeom prst="rect">
            <a:avLst/>
          </a:prstGeom>
          <a:solidFill>
            <a:srgbClr val="E2E0DB"/>
          </a:solidFill>
          <a:ln/>
        </p:spPr>
      </p:sp>
      <p:sp>
        <p:nvSpPr>
          <p:cNvPr id="41" name="Shape 36"/>
          <p:cNvSpPr/>
          <p:nvPr/>
        </p:nvSpPr>
        <p:spPr>
          <a:xfrm>
            <a:off x="15220950" y="2790825"/>
            <a:ext cx="19050" cy="6734175"/>
          </a:xfrm>
          <a:prstGeom prst="rect">
            <a:avLst/>
          </a:prstGeom>
          <a:solidFill>
            <a:srgbClr val="E2E0DB"/>
          </a:solidFill>
          <a:ln/>
        </p:spPr>
      </p:sp>
      <p:sp>
        <p:nvSpPr>
          <p:cNvPr id="42" name="Shape 37"/>
          <p:cNvSpPr/>
          <p:nvPr/>
        </p:nvSpPr>
        <p:spPr>
          <a:xfrm>
            <a:off x="17316450" y="2790825"/>
            <a:ext cx="19050" cy="6734175"/>
          </a:xfrm>
          <a:prstGeom prst="rect">
            <a:avLst/>
          </a:prstGeom>
          <a:solidFill>
            <a:srgbClr val="E2E0DB"/>
          </a:solidFill>
          <a:ln/>
        </p:spPr>
      </p:sp>
      <p:sp>
        <p:nvSpPr>
          <p:cNvPr id="43" name="Text 38"/>
          <p:cNvSpPr/>
          <p:nvPr/>
        </p:nvSpPr>
        <p:spPr>
          <a:xfrm>
            <a:off x="15430500" y="2981325"/>
            <a:ext cx="1771650" cy="6372225"/>
          </a:xfrm>
          <a:prstGeom prst="rect">
            <a:avLst/>
          </a:prstGeom>
          <a:noFill/>
          <a:ln/>
        </p:spPr>
        <p:txBody>
          <a:bodyPr wrap="square" lIns="25400" tIns="25400" rIns="25400" bIns="25400" rtlCol="0" anchor="t">
            <a:normAutofit/>
          </a:bodyPr>
          <a:lstStyle/>
          <a:p>
            <a:pPr algn="l" indent="0" marL="0">
              <a:lnSpc>
                <a:spcPct val="190000"/>
              </a:lnSpc>
              <a:buNone/>
            </a:pPr>
            <a:r>
              <a:rPr lang="en-US" sz="1800" b="1" dirty="0">
                <a:solidFill>
                  <a:srgbClr val="D4A017"/>
                </a:solidFill>
                <a:latin typeface="Arial" pitchFamily="34" charset="0"/>
                <a:ea typeface="Arial" pitchFamily="34" charset="-122"/>
                <a:cs typeface="Arial" pitchFamily="34" charset="-120"/>
              </a:rPr>
              <a:t>AUC-PR Lift </a:t>
            </a:r>
            <a:pPr algn="l" indent="0" marL="0">
              <a:lnSpc>
                <a:spcPct val="190000"/>
              </a:lnSpc>
              <a:buNone/>
            </a:pPr>
            <a:r>
              <a:rPr lang="en-US" sz="1800" dirty="0">
                <a:solidFill>
                  <a:srgbClr val="6B6B80"/>
                </a:solidFill>
                <a:latin typeface="Arial" pitchFamily="34" charset="0"/>
                <a:ea typeface="Arial" pitchFamily="34" charset="-122"/>
                <a:cs typeface="Arial" pitchFamily="34" charset="-120"/>
              </a:rPr>
              <a:t>Primary metric </a:t>
            </a:r>
            <a:pPr algn="l" indent="0" marL="0">
              <a:lnSpc>
                <a:spcPct val="190000"/>
              </a:lnSpc>
              <a:buNone/>
            </a:pPr>
            <a:r>
              <a:rPr lang="en-US" sz="1800" dirty="0">
                <a:solidFill>
                  <a:srgbClr val="1A1A2E"/>
                </a:solidFill>
                <a:latin typeface="Arial" pitchFamily="34" charset="0"/>
                <a:ea typeface="Arial" pitchFamily="34" charset="-122"/>
                <a:cs typeface="Arial" pitchFamily="34" charset="-120"/>
              </a:rPr>
              <a:t>AUC-ROC Bootstrap CI vs. Baseline </a:t>
            </a:r>
            <a:pPr algn="l" indent="0" marL="0">
              <a:lnSpc>
                <a:spcPct val="190000"/>
              </a:lnSpc>
              <a:buNone/>
            </a:pPr>
            <a:r>
              <a:rPr lang="en-US" sz="1800" b="1" dirty="0">
                <a:solidFill>
                  <a:srgbClr val="1A1A2E"/>
                </a:solidFill>
                <a:latin typeface="Arial" pitchFamily="34" charset="0"/>
                <a:ea typeface="Arial" pitchFamily="34" charset="-122"/>
                <a:cs typeface="Arial" pitchFamily="34" charset="-120"/>
              </a:rPr>
              <a:t>External validation </a:t>
            </a:r>
            <a:pPr algn="l" indent="0" marL="0">
              <a:lnSpc>
                <a:spcPct val="190000"/>
              </a:lnSpc>
              <a:buNone/>
            </a:pPr>
            <a:r>
              <a:rPr lang="en-US" sz="1800" dirty="0">
                <a:solidFill>
                  <a:srgbClr val="6B6B80"/>
                </a:solidFill>
                <a:latin typeface="Arial" pitchFamily="34" charset="0"/>
                <a:ea typeface="Arial" pitchFamily="34" charset="-122"/>
                <a:cs typeface="Arial" pitchFamily="34" charset="-120"/>
              </a:rPr>
              <a:t>EHRSHOT · NHANES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Performance and Complexity</a:t>
            </a:r>
            <a:endParaRPr lang="en-US" sz="4500" dirty="0"/>
          </a:p>
        </p:txBody>
      </p:sp>
      <p:sp>
        <p:nvSpPr>
          <p:cNvPr id="3" name="Shape 1"/>
          <p:cNvSpPr/>
          <p:nvPr/>
        </p:nvSpPr>
        <p:spPr>
          <a:xfrm>
            <a:off x="952500" y="1790700"/>
            <a:ext cx="762000" cy="28575"/>
          </a:xfrm>
          <a:prstGeom prst="rect">
            <a:avLst/>
          </a:prstGeom>
          <a:solidFill>
            <a:srgbClr val="D4A017"/>
          </a:solidFill>
          <a:ln/>
        </p:spPr>
      </p:sp>
      <p:pic>
        <p:nvPicPr>
          <p:cNvPr id="4" name="Image 0" descr="preencoded.png">    </p:cNvPr>
          <p:cNvPicPr>
            <a:picLocks noChangeAspect="1"/>
          </p:cNvPicPr>
          <p:nvPr/>
        </p:nvPicPr>
        <p:blipFill>
          <a:blip r:embed="rId1"/>
          <a:srcRect l="-1" r="-1" t="0" b="0"/>
          <a:stretch/>
        </p:blipFill>
        <p:spPr>
          <a:xfrm>
            <a:off x="2383780" y="2238375"/>
            <a:ext cx="13520440" cy="72864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Case Study: Rheumatoid Arthritis</a:t>
            </a:r>
            <a:endParaRPr lang="en-US" sz="4500" dirty="0"/>
          </a:p>
        </p:txBody>
      </p:sp>
      <p:sp>
        <p:nvSpPr>
          <p:cNvPr id="3" name="Shape 1"/>
          <p:cNvSpPr/>
          <p:nvPr/>
        </p:nvSpPr>
        <p:spPr>
          <a:xfrm>
            <a:off x="952500" y="1790700"/>
            <a:ext cx="762000" cy="28575"/>
          </a:xfrm>
          <a:prstGeom prst="rect">
            <a:avLst/>
          </a:prstGeom>
          <a:solidFill>
            <a:srgbClr val="D4A017"/>
          </a:solidFill>
          <a:ln/>
        </p:spPr>
      </p:sp>
      <p:sp>
        <p:nvSpPr>
          <p:cNvPr id="4" name="Text 2"/>
          <p:cNvSpPr/>
          <p:nvPr/>
        </p:nvSpPr>
        <p:spPr>
          <a:xfrm>
            <a:off x="952500" y="2047875"/>
            <a:ext cx="16874490" cy="9525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6B6B80"/>
                </a:solidFill>
                <a:latin typeface="Arial" pitchFamily="34" charset="0"/>
                <a:ea typeface="Arial" pitchFamily="34" charset="-122"/>
                <a:cs typeface="Arial" pitchFamily="34" charset="-120"/>
              </a:rPr>
              <a:t>Chronic inflammation → anemia-of-inflammation markers detectable in a routine CBC. The LLM combines three biologically grounded features:</a:t>
            </a:r>
            <a:endParaRPr lang="en-US" sz="2400" dirty="0"/>
          </a:p>
        </p:txBody>
      </p:sp>
      <p:pic>
        <p:nvPicPr>
          <p:cNvPr id="5" name="Image 0" descr="preencoded.png">    </p:cNvPr>
          <p:cNvPicPr>
            <a:picLocks noChangeAspect="1"/>
          </p:cNvPicPr>
          <p:nvPr/>
        </p:nvPicPr>
        <p:blipFill>
          <a:blip r:embed="rId1"/>
          <a:srcRect l="-1" r="-1" t="0" b="0"/>
          <a:stretch/>
        </p:blipFill>
        <p:spPr>
          <a:xfrm>
            <a:off x="2705100" y="3152775"/>
            <a:ext cx="12877800" cy="63720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Seeded GP: Best of Both Worlds</a:t>
            </a:r>
            <a:endParaRPr lang="en-US" sz="4500" dirty="0"/>
          </a:p>
        </p:txBody>
      </p:sp>
      <p:sp>
        <p:nvSpPr>
          <p:cNvPr id="3" name="Shape 1"/>
          <p:cNvSpPr/>
          <p:nvPr/>
        </p:nvSpPr>
        <p:spPr>
          <a:xfrm>
            <a:off x="952500" y="1790700"/>
            <a:ext cx="762000" cy="28575"/>
          </a:xfrm>
          <a:prstGeom prst="rect">
            <a:avLst/>
          </a:prstGeom>
          <a:solidFill>
            <a:srgbClr val="D4A017"/>
          </a:solidFill>
          <a:ln/>
        </p:spPr>
      </p:sp>
      <p:sp>
        <p:nvSpPr>
          <p:cNvPr id="4" name="Text 2"/>
          <p:cNvSpPr/>
          <p:nvPr/>
        </p:nvSpPr>
        <p:spPr>
          <a:xfrm>
            <a:off x="952500" y="3920728"/>
            <a:ext cx="6082665" cy="1022747"/>
          </a:xfrm>
          <a:prstGeom prst="rect">
            <a:avLst/>
          </a:prstGeom>
          <a:noFill/>
          <a:ln/>
        </p:spPr>
        <p:txBody>
          <a:bodyPr wrap="square" lIns="25400" tIns="25400" rIns="25400" bIns="25400" rtlCol="0" anchor="t">
            <a:normAutofit/>
          </a:bodyPr>
          <a:lstStyle/>
          <a:p>
            <a:pPr algn="l" indent="0" marL="0">
              <a:lnSpc>
                <a:spcPct val="160000"/>
              </a:lnSpc>
              <a:buNone/>
            </a:pPr>
            <a:r>
              <a:rPr lang="en-US" sz="2400" b="1" dirty="0">
                <a:solidFill>
                  <a:srgbClr val="1B2A5C"/>
                </a:solidFill>
                <a:latin typeface="Arial" pitchFamily="34" charset="0"/>
                <a:ea typeface="Arial" pitchFamily="34" charset="-122"/>
                <a:cs typeface="Arial" pitchFamily="34" charset="-120"/>
              </a:rPr>
              <a:t>M4 (LLM) </a:t>
            </a:r>
            <a:pPr algn="l" indent="0" marL="0">
              <a:lnSpc>
                <a:spcPct val="160000"/>
              </a:lnSpc>
              <a:buNone/>
            </a:pPr>
            <a:r>
              <a:rPr lang="en-US" sz="2400" dirty="0">
                <a:solidFill>
                  <a:srgbClr val="6B6B80"/>
                </a:solidFill>
                <a:latin typeface="Arial" pitchFamily="34" charset="0"/>
                <a:ea typeface="Arial" pitchFamily="34" charset="-122"/>
                <a:cs typeface="Arial" pitchFamily="34" charset="-120"/>
              </a:rPr>
              <a:t>selects biologically meaningful features</a:t>
            </a:r>
            <a:endParaRPr lang="en-US" sz="2400" dirty="0"/>
          </a:p>
        </p:txBody>
      </p:sp>
      <p:sp>
        <p:nvSpPr>
          <p:cNvPr id="5" name="Text 3"/>
          <p:cNvSpPr/>
          <p:nvPr/>
        </p:nvSpPr>
        <p:spPr>
          <a:xfrm>
            <a:off x="952500" y="5095875"/>
            <a:ext cx="6082665" cy="535186"/>
          </a:xfrm>
          <a:prstGeom prst="rect">
            <a:avLst/>
          </a:prstGeom>
          <a:noFill/>
          <a:ln/>
        </p:spPr>
        <p:txBody>
          <a:bodyPr wrap="square" lIns="25400" tIns="25400" rIns="25400" bIns="25400" rtlCol="0" anchor="t">
            <a:normAutofit/>
          </a:bodyPr>
          <a:lstStyle/>
          <a:p>
            <a:pPr algn="l" indent="0" marL="0">
              <a:lnSpc>
                <a:spcPct val="160000"/>
              </a:lnSpc>
              <a:buNone/>
            </a:pPr>
            <a:r>
              <a:rPr lang="en-US" sz="2400" b="1" dirty="0">
                <a:solidFill>
                  <a:srgbClr val="1B2A5C"/>
                </a:solidFill>
                <a:latin typeface="Arial" pitchFamily="34" charset="0"/>
                <a:ea typeface="Arial" pitchFamily="34" charset="-122"/>
                <a:cs typeface="Arial" pitchFamily="34" charset="-120"/>
              </a:rPr>
              <a:t>GP </a:t>
            </a:r>
            <a:pPr algn="l" indent="0" marL="0">
              <a:lnSpc>
                <a:spcPct val="160000"/>
              </a:lnSpc>
              <a:buNone/>
            </a:pPr>
            <a:r>
              <a:rPr lang="en-US" sz="2400" dirty="0">
                <a:solidFill>
                  <a:srgbClr val="6B6B80"/>
                </a:solidFill>
                <a:latin typeface="Arial" pitchFamily="34" charset="0"/>
                <a:ea typeface="Arial" pitchFamily="34" charset="-122"/>
                <a:cs typeface="Arial" pitchFamily="34" charset="-120"/>
              </a:rPr>
              <a:t>optimizes the mathematical expression</a:t>
            </a:r>
            <a:endParaRPr lang="en-US" sz="2400" dirty="0"/>
          </a:p>
        </p:txBody>
      </p:sp>
      <p:sp>
        <p:nvSpPr>
          <p:cNvPr id="6" name="Text 4"/>
          <p:cNvSpPr/>
          <p:nvPr/>
        </p:nvSpPr>
        <p:spPr>
          <a:xfrm>
            <a:off x="952500" y="5783461"/>
            <a:ext cx="6082665" cy="535186"/>
          </a:xfrm>
          <a:prstGeom prst="rect">
            <a:avLst/>
          </a:prstGeom>
          <a:noFill/>
          <a:ln/>
        </p:spPr>
        <p:txBody>
          <a:bodyPr wrap="square" lIns="25400" tIns="25400" rIns="25400" bIns="25400" rtlCol="0" anchor="t">
            <a:normAutofit/>
          </a:bodyPr>
          <a:lstStyle/>
          <a:p>
            <a:pPr algn="l" indent="0" marL="0">
              <a:lnSpc>
                <a:spcPct val="160000"/>
              </a:lnSpc>
              <a:buNone/>
            </a:pPr>
            <a:r>
              <a:rPr lang="en-US" sz="2400" b="1" dirty="0">
                <a:solidFill>
                  <a:srgbClr val="1B2A5C"/>
                </a:solidFill>
                <a:latin typeface="Arial" pitchFamily="34" charset="0"/>
                <a:ea typeface="Arial" pitchFamily="34" charset="-122"/>
                <a:cs typeface="Arial" pitchFamily="34" charset="-120"/>
              </a:rPr>
              <a:t>M5 ≥ M3 </a:t>
            </a:r>
            <a:pPr algn="l" indent="0" marL="0">
              <a:lnSpc>
                <a:spcPct val="160000"/>
              </a:lnSpc>
              <a:buNone/>
            </a:pPr>
            <a:r>
              <a:rPr lang="en-US" sz="2400" dirty="0">
                <a:solidFill>
                  <a:srgbClr val="6B6B80"/>
                </a:solidFill>
                <a:latin typeface="Arial" pitchFamily="34" charset="0"/>
                <a:ea typeface="Arial" pitchFamily="34" charset="-122"/>
                <a:cs typeface="Arial" pitchFamily="34" charset="-120"/>
              </a:rPr>
              <a:t>on every disease tested</a:t>
            </a:r>
            <a:endParaRPr lang="en-US" sz="2400" dirty="0"/>
          </a:p>
        </p:txBody>
      </p:sp>
      <p:sp>
        <p:nvSpPr>
          <p:cNvPr id="7" name="Shape 5"/>
          <p:cNvSpPr/>
          <p:nvPr/>
        </p:nvSpPr>
        <p:spPr>
          <a:xfrm>
            <a:off x="952500" y="6623447"/>
            <a:ext cx="1841450" cy="1219200"/>
          </a:xfrm>
          <a:prstGeom prst="roundRect">
            <a:avLst>
              <a:gd name="adj" fmla="val 3125"/>
            </a:avLst>
          </a:prstGeom>
          <a:solidFill>
            <a:srgbClr val="F5F4F0"/>
          </a:solidFill>
          <a:ln/>
        </p:spPr>
      </p:sp>
      <p:sp>
        <p:nvSpPr>
          <p:cNvPr id="8" name="Text 6"/>
          <p:cNvSpPr/>
          <p:nvPr/>
        </p:nvSpPr>
        <p:spPr>
          <a:xfrm>
            <a:off x="1153797" y="6813947"/>
            <a:ext cx="1438855" cy="514350"/>
          </a:xfrm>
          <a:prstGeom prst="rect">
            <a:avLst/>
          </a:prstGeom>
          <a:noFill/>
          <a:ln/>
        </p:spPr>
        <p:txBody>
          <a:bodyPr wrap="square" lIns="25400" tIns="25400" rIns="25400" bIns="25400" rtlCol="0" anchor="t">
            <a:normAutofit/>
          </a:bodyPr>
          <a:lstStyle/>
          <a:p>
            <a:pPr algn="ctr" indent="0" marL="0">
              <a:buNone/>
            </a:pPr>
            <a:r>
              <a:rPr lang="en-US" sz="3300" b="1" dirty="0">
                <a:solidFill>
                  <a:srgbClr val="1B2A5C"/>
                </a:solidFill>
                <a:latin typeface="Georgia" pitchFamily="34" charset="0"/>
                <a:ea typeface="Georgia" pitchFamily="34" charset="-122"/>
                <a:cs typeface="Georgia" pitchFamily="34" charset="-120"/>
              </a:rPr>
              <a:t>+46%</a:t>
            </a:r>
            <a:endParaRPr lang="en-US" sz="3300" dirty="0"/>
          </a:p>
        </p:txBody>
      </p:sp>
      <p:sp>
        <p:nvSpPr>
          <p:cNvPr id="9" name="Text 7"/>
          <p:cNvSpPr/>
          <p:nvPr/>
        </p:nvSpPr>
        <p:spPr>
          <a:xfrm>
            <a:off x="1153797" y="7347347"/>
            <a:ext cx="143885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6B80"/>
                </a:solidFill>
                <a:latin typeface="Arial" pitchFamily="34" charset="0"/>
                <a:ea typeface="Arial" pitchFamily="34" charset="-122"/>
                <a:cs typeface="Arial" pitchFamily="34" charset="-120"/>
              </a:rPr>
              <a:t>T1D gain</a:t>
            </a:r>
            <a:endParaRPr lang="en-US" sz="1800" dirty="0"/>
          </a:p>
        </p:txBody>
      </p:sp>
      <p:sp>
        <p:nvSpPr>
          <p:cNvPr id="10" name="Shape 8"/>
          <p:cNvSpPr/>
          <p:nvPr/>
        </p:nvSpPr>
        <p:spPr>
          <a:xfrm>
            <a:off x="2984450" y="6623447"/>
            <a:ext cx="1841599" cy="1219200"/>
          </a:xfrm>
          <a:prstGeom prst="roundRect">
            <a:avLst>
              <a:gd name="adj" fmla="val 3125"/>
            </a:avLst>
          </a:prstGeom>
          <a:solidFill>
            <a:srgbClr val="F5F4F0"/>
          </a:solidFill>
          <a:ln/>
        </p:spPr>
      </p:sp>
      <p:sp>
        <p:nvSpPr>
          <p:cNvPr id="11" name="Text 9"/>
          <p:cNvSpPr/>
          <p:nvPr/>
        </p:nvSpPr>
        <p:spPr>
          <a:xfrm>
            <a:off x="3185740" y="6813947"/>
            <a:ext cx="1439019" cy="514350"/>
          </a:xfrm>
          <a:prstGeom prst="rect">
            <a:avLst/>
          </a:prstGeom>
          <a:noFill/>
          <a:ln/>
        </p:spPr>
        <p:txBody>
          <a:bodyPr wrap="square" lIns="25400" tIns="25400" rIns="25400" bIns="25400" rtlCol="0" anchor="t">
            <a:normAutofit/>
          </a:bodyPr>
          <a:lstStyle/>
          <a:p>
            <a:pPr algn="ctr" indent="0" marL="0">
              <a:buNone/>
            </a:pPr>
            <a:r>
              <a:rPr lang="en-US" sz="3300" b="1" dirty="0">
                <a:solidFill>
                  <a:srgbClr val="1B2A5C"/>
                </a:solidFill>
                <a:latin typeface="Georgia" pitchFamily="34" charset="0"/>
                <a:ea typeface="Georgia" pitchFamily="34" charset="-122"/>
                <a:cs typeface="Georgia" pitchFamily="34" charset="-120"/>
              </a:rPr>
              <a:t>+46%</a:t>
            </a:r>
            <a:endParaRPr lang="en-US" sz="3300" dirty="0"/>
          </a:p>
        </p:txBody>
      </p:sp>
      <p:sp>
        <p:nvSpPr>
          <p:cNvPr id="12" name="Text 10"/>
          <p:cNvSpPr/>
          <p:nvPr/>
        </p:nvSpPr>
        <p:spPr>
          <a:xfrm>
            <a:off x="3185740" y="7347347"/>
            <a:ext cx="1439019"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6B80"/>
                </a:solidFill>
                <a:latin typeface="Arial" pitchFamily="34" charset="0"/>
                <a:ea typeface="Arial" pitchFamily="34" charset="-122"/>
                <a:cs typeface="Arial" pitchFamily="34" charset="-120"/>
              </a:rPr>
              <a:t>RA gain</a:t>
            </a:r>
            <a:endParaRPr lang="en-US" sz="1800" dirty="0"/>
          </a:p>
        </p:txBody>
      </p:sp>
      <p:sp>
        <p:nvSpPr>
          <p:cNvPr id="13" name="Shape 11"/>
          <p:cNvSpPr/>
          <p:nvPr/>
        </p:nvSpPr>
        <p:spPr>
          <a:xfrm>
            <a:off x="5016550" y="6623447"/>
            <a:ext cx="1841450" cy="1219200"/>
          </a:xfrm>
          <a:prstGeom prst="roundRect">
            <a:avLst>
              <a:gd name="adj" fmla="val 3125"/>
            </a:avLst>
          </a:prstGeom>
          <a:solidFill>
            <a:srgbClr val="F5F4F0"/>
          </a:solidFill>
          <a:ln/>
        </p:spPr>
      </p:sp>
      <p:sp>
        <p:nvSpPr>
          <p:cNvPr id="14" name="Text 12"/>
          <p:cNvSpPr/>
          <p:nvPr/>
        </p:nvSpPr>
        <p:spPr>
          <a:xfrm>
            <a:off x="5217847" y="6813947"/>
            <a:ext cx="1438855" cy="514350"/>
          </a:xfrm>
          <a:prstGeom prst="rect">
            <a:avLst/>
          </a:prstGeom>
          <a:noFill/>
          <a:ln/>
        </p:spPr>
        <p:txBody>
          <a:bodyPr wrap="square" lIns="25400" tIns="25400" rIns="25400" bIns="25400" rtlCol="0" anchor="t">
            <a:normAutofit/>
          </a:bodyPr>
          <a:lstStyle/>
          <a:p>
            <a:pPr algn="ctr" indent="0" marL="0">
              <a:buNone/>
            </a:pPr>
            <a:r>
              <a:rPr lang="en-US" sz="3300" b="1" dirty="0">
                <a:solidFill>
                  <a:srgbClr val="1B2A5C"/>
                </a:solidFill>
                <a:latin typeface="Georgia" pitchFamily="34" charset="0"/>
                <a:ea typeface="Georgia" pitchFamily="34" charset="-122"/>
                <a:cs typeface="Georgia" pitchFamily="34" charset="-120"/>
              </a:rPr>
              <a:t>+74%</a:t>
            </a:r>
            <a:endParaRPr lang="en-US" sz="3300" dirty="0"/>
          </a:p>
        </p:txBody>
      </p:sp>
      <p:sp>
        <p:nvSpPr>
          <p:cNvPr id="15" name="Text 13"/>
          <p:cNvSpPr/>
          <p:nvPr/>
        </p:nvSpPr>
        <p:spPr>
          <a:xfrm>
            <a:off x="5217847" y="7347347"/>
            <a:ext cx="143885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6B80"/>
                </a:solidFill>
                <a:latin typeface="Arial" pitchFamily="34" charset="0"/>
                <a:ea typeface="Arial" pitchFamily="34" charset="-122"/>
                <a:cs typeface="Arial" pitchFamily="34" charset="-120"/>
              </a:rPr>
              <a:t>Lupus gain</a:t>
            </a:r>
            <a:endParaRPr lang="en-US" sz="1800" dirty="0"/>
          </a:p>
        </p:txBody>
      </p:sp>
      <p:pic>
        <p:nvPicPr>
          <p:cNvPr id="16" name="Image 0" descr="preencoded.png">    </p:cNvPr>
          <p:cNvPicPr>
            <a:picLocks noChangeAspect="1"/>
          </p:cNvPicPr>
          <p:nvPr/>
        </p:nvPicPr>
        <p:blipFill>
          <a:blip r:embed="rId1"/>
          <a:srcRect l="0" r="0" t="0" b="0"/>
          <a:stretch/>
        </p:blipFill>
        <p:spPr>
          <a:xfrm>
            <a:off x="8336905" y="2339280"/>
            <a:ext cx="8053090" cy="6703665"/>
          </a:xfrm>
          <a:prstGeom prst="rect">
            <a:avLst/>
          </a:prstGeom>
        </p:spPr>
      </p:pic>
      <p:sp>
        <p:nvSpPr>
          <p:cNvPr id="17" name="Text 14"/>
          <p:cNvSpPr/>
          <p:nvPr/>
        </p:nvSpPr>
        <p:spPr>
          <a:xfrm>
            <a:off x="8908993" y="9119146"/>
            <a:ext cx="6908765" cy="342900"/>
          </a:xfrm>
          <a:prstGeom prst="rect">
            <a:avLst/>
          </a:prstGeom>
          <a:noFill/>
          <a:ln/>
        </p:spPr>
        <p:txBody>
          <a:bodyPr wrap="square" lIns="25400" tIns="25400" rIns="25400" bIns="25400" rtlCol="0" anchor="t">
            <a:normAutofit/>
          </a:bodyPr>
          <a:lstStyle/>
          <a:p>
            <a:pPr algn="ctr" indent="0" marL="0">
              <a:buNone/>
            </a:pPr>
            <a:r>
              <a:rPr lang="en-US" sz="1800" dirty="0">
                <a:solidFill>
                  <a:srgbClr val="6B6B80"/>
                </a:solidFill>
                <a:latin typeface="Arial" pitchFamily="34" charset="0"/>
                <a:ea typeface="Arial" pitchFamily="34" charset="-122"/>
                <a:cs typeface="Arial" pitchFamily="34" charset="-120"/>
              </a:rPr>
              <a:t>Near-diagonal = formula captures same signal as matched LR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2–6× Lift Across 6 Diseases</a:t>
            </a:r>
            <a:endParaRPr lang="en-US" sz="4500" dirty="0"/>
          </a:p>
        </p:txBody>
      </p:sp>
      <p:sp>
        <p:nvSpPr>
          <p:cNvPr id="3" name="Shape 1"/>
          <p:cNvSpPr/>
          <p:nvPr/>
        </p:nvSpPr>
        <p:spPr>
          <a:xfrm>
            <a:off x="952500" y="1790700"/>
            <a:ext cx="762000" cy="28575"/>
          </a:xfrm>
          <a:prstGeom prst="rect">
            <a:avLst/>
          </a:prstGeom>
          <a:solidFill>
            <a:srgbClr val="D4A017"/>
          </a:solidFill>
          <a:ln/>
        </p:spPr>
      </p:sp>
      <p:pic>
        <p:nvPicPr>
          <p:cNvPr id="4" name="Image 0" descr="preencoded.png">    </p:cNvPr>
          <p:cNvPicPr>
            <a:picLocks noChangeAspect="1"/>
          </p:cNvPicPr>
          <p:nvPr/>
        </p:nvPicPr>
        <p:blipFill>
          <a:blip r:embed="rId1"/>
          <a:srcRect l="-1" r="-1" t="0" b="0"/>
          <a:stretch/>
        </p:blipFill>
        <p:spPr>
          <a:xfrm>
            <a:off x="952500" y="2859732"/>
            <a:ext cx="16383000" cy="60439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1B2A5C"/>
                </a:solidFill>
                <a:latin typeface="Georgia" pitchFamily="34" charset="0"/>
                <a:ea typeface="Georgia" pitchFamily="34" charset="-122"/>
                <a:cs typeface="Georgia" pitchFamily="34" charset="-120"/>
              </a:rPr>
              <a:t>The Signal Travels</a:t>
            </a:r>
            <a:endParaRPr lang="en-US" sz="4500" dirty="0"/>
          </a:p>
        </p:txBody>
      </p:sp>
      <p:sp>
        <p:nvSpPr>
          <p:cNvPr id="3" name="Shape 1"/>
          <p:cNvSpPr/>
          <p:nvPr/>
        </p:nvSpPr>
        <p:spPr>
          <a:xfrm>
            <a:off x="952500" y="1790700"/>
            <a:ext cx="762000" cy="28575"/>
          </a:xfrm>
          <a:prstGeom prst="rect">
            <a:avLst/>
          </a:prstGeom>
          <a:solidFill>
            <a:srgbClr val="D4A017"/>
          </a:solidFill>
          <a:ln/>
        </p:spPr>
      </p:sp>
      <p:pic>
        <p:nvPicPr>
          <p:cNvPr id="4" name="Image 0" descr="preencoded.png">    </p:cNvPr>
          <p:cNvPicPr>
            <a:picLocks noChangeAspect="1"/>
          </p:cNvPicPr>
          <p:nvPr/>
        </p:nvPicPr>
        <p:blipFill>
          <a:blip r:embed="rId1"/>
          <a:srcRect l="0" r="0" t="0" b="0"/>
          <a:stretch/>
        </p:blipFill>
        <p:spPr>
          <a:xfrm>
            <a:off x="952500" y="2442121"/>
            <a:ext cx="16383000" cy="6298109"/>
          </a:xfrm>
          <a:prstGeom prst="rect">
            <a:avLst/>
          </a:prstGeom>
        </p:spPr>
      </p:pic>
      <p:sp>
        <p:nvSpPr>
          <p:cNvPr id="5" name="Text 2"/>
          <p:cNvSpPr/>
          <p:nvPr/>
        </p:nvSpPr>
        <p:spPr>
          <a:xfrm>
            <a:off x="133350" y="9172575"/>
            <a:ext cx="18021300" cy="390525"/>
          </a:xfrm>
          <a:prstGeom prst="rect">
            <a:avLst/>
          </a:prstGeom>
          <a:noFill/>
          <a:ln/>
        </p:spPr>
        <p:txBody>
          <a:bodyPr wrap="square" lIns="25400" tIns="25400" rIns="25400" bIns="25400" rtlCol="0" anchor="t">
            <a:normAutofit/>
          </a:bodyPr>
          <a:lstStyle/>
          <a:p>
            <a:pPr algn="ctr" indent="0" marL="0">
              <a:buNone/>
            </a:pPr>
            <a:r>
              <a:rPr lang="en-US" sz="2100" dirty="0">
                <a:solidFill>
                  <a:srgbClr val="6B6B80"/>
                </a:solidFill>
                <a:latin typeface="Arial" pitchFamily="34" charset="0"/>
                <a:ea typeface="Arial" pitchFamily="34" charset="-122"/>
                <a:cs typeface="Arial" pitchFamily="34" charset="-120"/>
              </a:rPr>
              <a:t>AUC-PR lift &gt; 1× maintained from MIMIC → Stanford EHR → US population survey</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2A5C"/>
        </a:solidFill>
      </p:bgPr>
    </p:bg>
    <p:spTree>
      <p:nvGrpSpPr>
        <p:cNvPr id="1" name=""/>
        <p:cNvGrpSpPr/>
        <p:nvPr/>
      </p:nvGrpSpPr>
      <p:grpSpPr>
        <a:xfrm>
          <a:off x="0" y="0"/>
          <a:ext cx="0" cy="0"/>
          <a:chOff x="0" y="0"/>
          <a:chExt cx="0" cy="0"/>
        </a:xfrm>
      </p:grpSpPr>
      <p:sp>
        <p:nvSpPr>
          <p:cNvPr id="2" name="Text 0"/>
          <p:cNvSpPr/>
          <p:nvPr/>
        </p:nvSpPr>
        <p:spPr>
          <a:xfrm>
            <a:off x="952500" y="952500"/>
            <a:ext cx="18021300" cy="723900"/>
          </a:xfrm>
          <a:prstGeom prst="rect">
            <a:avLst/>
          </a:prstGeom>
          <a:noFill/>
          <a:ln/>
        </p:spPr>
        <p:txBody>
          <a:bodyPr wrap="square" lIns="25400" tIns="25400" rIns="25400" bIns="25400" rtlCol="0" anchor="t">
            <a:normAutofit/>
          </a:bodyPr>
          <a:lstStyle/>
          <a:p>
            <a:pPr algn="l" indent="0" marL="0">
              <a:lnSpc>
                <a:spcPct val="120000"/>
              </a:lnSpc>
              <a:buNone/>
            </a:pPr>
            <a:r>
              <a:rPr lang="en-US" sz="4500" b="1" dirty="0">
                <a:solidFill>
                  <a:srgbClr val="FFFFFF"/>
                </a:solidFill>
                <a:latin typeface="Georgia" pitchFamily="34" charset="0"/>
                <a:ea typeface="Georgia" pitchFamily="34" charset="-122"/>
                <a:cs typeface="Georgia" pitchFamily="34" charset="-120"/>
              </a:rPr>
              <a:t>Three Findings</a:t>
            </a:r>
            <a:endParaRPr lang="en-US" sz="4500" dirty="0"/>
          </a:p>
        </p:txBody>
      </p:sp>
      <p:sp>
        <p:nvSpPr>
          <p:cNvPr id="3" name="Shape 1"/>
          <p:cNvSpPr/>
          <p:nvPr/>
        </p:nvSpPr>
        <p:spPr>
          <a:xfrm>
            <a:off x="952500" y="1790700"/>
            <a:ext cx="762000" cy="28575"/>
          </a:xfrm>
          <a:prstGeom prst="rect">
            <a:avLst/>
          </a:prstGeom>
          <a:solidFill>
            <a:srgbClr val="D4A017"/>
          </a:solidFill>
          <a:ln/>
        </p:spPr>
      </p:sp>
      <p:sp>
        <p:nvSpPr>
          <p:cNvPr id="4" name="Text 2"/>
          <p:cNvSpPr/>
          <p:nvPr/>
        </p:nvSpPr>
        <p:spPr>
          <a:xfrm>
            <a:off x="952500" y="2352675"/>
            <a:ext cx="685800"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dirty="0">
                <a:solidFill>
                  <a:srgbClr val="D4A017"/>
                </a:solidFill>
                <a:latin typeface="Georgia" pitchFamily="34" charset="0"/>
                <a:ea typeface="Georgia" pitchFamily="34" charset="-122"/>
                <a:cs typeface="Georgia" pitchFamily="34" charset="-120"/>
              </a:rPr>
              <a:t>01</a:t>
            </a:r>
            <a:endParaRPr lang="en-US" sz="3600" dirty="0"/>
          </a:p>
        </p:txBody>
      </p:sp>
      <p:sp>
        <p:nvSpPr>
          <p:cNvPr id="5" name="Text 3"/>
          <p:cNvSpPr/>
          <p:nvPr/>
        </p:nvSpPr>
        <p:spPr>
          <a:xfrm>
            <a:off x="1866900" y="2352675"/>
            <a:ext cx="1701546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Georgia" pitchFamily="34" charset="0"/>
                <a:ea typeface="Georgia" pitchFamily="34" charset="-122"/>
                <a:cs typeface="Georgia" pitchFamily="34" charset="-120"/>
              </a:rPr>
              <a:t>LLM as Biological Compass</a:t>
            </a:r>
            <a:endParaRPr lang="en-US" sz="3000" dirty="0"/>
          </a:p>
        </p:txBody>
      </p:sp>
      <p:sp>
        <p:nvSpPr>
          <p:cNvPr id="6" name="Text 4"/>
          <p:cNvSpPr/>
          <p:nvPr/>
        </p:nvSpPr>
        <p:spPr>
          <a:xfrm>
            <a:off x="1866900" y="2952750"/>
            <a:ext cx="15932658" cy="9525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FFFFFF">
                    <a:alpha val="65000"/>
                  </a:srgbClr>
                </a:solidFill>
                <a:latin typeface="Arial" pitchFamily="34" charset="0"/>
                <a:ea typeface="Arial" pitchFamily="34" charset="-122"/>
                <a:cs typeface="Arial" pitchFamily="34" charset="-120"/>
              </a:rPr>
              <a:t>M4 generates compact, clinically interpretable formulas. GP alone finds valid expressions but with arbitrary, unrecognizable features.</a:t>
            </a:r>
            <a:endParaRPr lang="en-US" sz="2400" dirty="0"/>
          </a:p>
        </p:txBody>
      </p:sp>
      <p:sp>
        <p:nvSpPr>
          <p:cNvPr id="7" name="Text 5"/>
          <p:cNvSpPr/>
          <p:nvPr/>
        </p:nvSpPr>
        <p:spPr>
          <a:xfrm>
            <a:off x="952500" y="4324350"/>
            <a:ext cx="685800"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dirty="0">
                <a:solidFill>
                  <a:srgbClr val="D4A017"/>
                </a:solidFill>
                <a:latin typeface="Georgia" pitchFamily="34" charset="0"/>
                <a:ea typeface="Georgia" pitchFamily="34" charset="-122"/>
                <a:cs typeface="Georgia" pitchFamily="34" charset="-120"/>
              </a:rPr>
              <a:t>02</a:t>
            </a:r>
            <a:endParaRPr lang="en-US" sz="3600" dirty="0"/>
          </a:p>
        </p:txBody>
      </p:sp>
      <p:sp>
        <p:nvSpPr>
          <p:cNvPr id="8" name="Text 6"/>
          <p:cNvSpPr/>
          <p:nvPr/>
        </p:nvSpPr>
        <p:spPr>
          <a:xfrm>
            <a:off x="1866900" y="4324350"/>
            <a:ext cx="1701546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Georgia" pitchFamily="34" charset="0"/>
                <a:ea typeface="Georgia" pitchFamily="34" charset="-122"/>
                <a:cs typeface="Georgia" pitchFamily="34" charset="-120"/>
              </a:rPr>
              <a:t>Best of Both Worlds</a:t>
            </a:r>
            <a:endParaRPr lang="en-US" sz="3000" dirty="0"/>
          </a:p>
        </p:txBody>
      </p:sp>
      <p:sp>
        <p:nvSpPr>
          <p:cNvPr id="9" name="Text 7"/>
          <p:cNvSpPr/>
          <p:nvPr/>
        </p:nvSpPr>
        <p:spPr>
          <a:xfrm>
            <a:off x="1866900" y="4924425"/>
            <a:ext cx="15932658" cy="9525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FFFFFF">
                    <a:alpha val="65000"/>
                  </a:srgbClr>
                </a:solidFill>
                <a:latin typeface="Arial" pitchFamily="34" charset="0"/>
                <a:ea typeface="Arial" pitchFamily="34" charset="-122"/>
                <a:cs typeface="Arial" pitchFamily="34" charset="-120"/>
              </a:rPr>
              <a:t>Seeded GP matches or beats vanilla GP on every disease while using fewer, more meaningful features. The seed never hurts.</a:t>
            </a:r>
            <a:endParaRPr lang="en-US" sz="2400" dirty="0"/>
          </a:p>
        </p:txBody>
      </p:sp>
      <p:sp>
        <p:nvSpPr>
          <p:cNvPr id="10" name="Text 8"/>
          <p:cNvSpPr/>
          <p:nvPr/>
        </p:nvSpPr>
        <p:spPr>
          <a:xfrm>
            <a:off x="952500" y="6296025"/>
            <a:ext cx="685800"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dirty="0">
                <a:solidFill>
                  <a:srgbClr val="D4A017"/>
                </a:solidFill>
                <a:latin typeface="Georgia" pitchFamily="34" charset="0"/>
                <a:ea typeface="Georgia" pitchFamily="34" charset="-122"/>
                <a:cs typeface="Georgia" pitchFamily="34" charset="-120"/>
              </a:rPr>
              <a:t>03</a:t>
            </a:r>
            <a:endParaRPr lang="en-US" sz="3600" dirty="0"/>
          </a:p>
        </p:txBody>
      </p:sp>
      <p:sp>
        <p:nvSpPr>
          <p:cNvPr id="11" name="Text 9"/>
          <p:cNvSpPr/>
          <p:nvPr/>
        </p:nvSpPr>
        <p:spPr>
          <a:xfrm>
            <a:off x="1866900" y="6296025"/>
            <a:ext cx="17015460" cy="523875"/>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Georgia" pitchFamily="34" charset="0"/>
                <a:ea typeface="Georgia" pitchFamily="34" charset="-122"/>
                <a:cs typeface="Georgia" pitchFamily="34" charset="-120"/>
              </a:rPr>
              <a:t>The Signal Travels</a:t>
            </a:r>
            <a:endParaRPr lang="en-US" sz="3000" dirty="0"/>
          </a:p>
        </p:txBody>
      </p:sp>
      <p:sp>
        <p:nvSpPr>
          <p:cNvPr id="12" name="Text 10"/>
          <p:cNvSpPr/>
          <p:nvPr/>
        </p:nvSpPr>
        <p:spPr>
          <a:xfrm>
            <a:off x="1866900" y="6896100"/>
            <a:ext cx="15932658" cy="952500"/>
          </a:xfrm>
          <a:prstGeom prst="rect">
            <a:avLst/>
          </a:prstGeom>
          <a:noFill/>
          <a:ln/>
        </p:spPr>
        <p:txBody>
          <a:bodyPr wrap="square" lIns="25400" tIns="25400" rIns="25400" bIns="25400" rtlCol="0" anchor="t">
            <a:normAutofit/>
          </a:bodyPr>
          <a:lstStyle/>
          <a:p>
            <a:pPr algn="l" indent="0" marL="0">
              <a:lnSpc>
                <a:spcPct val="150000"/>
              </a:lnSpc>
              <a:buNone/>
            </a:pPr>
            <a:r>
              <a:rPr lang="en-US" sz="2400" dirty="0">
                <a:solidFill>
                  <a:srgbClr val="FFFFFF">
                    <a:alpha val="65000"/>
                  </a:srgbClr>
                </a:solidFill>
                <a:latin typeface="Arial" pitchFamily="34" charset="0"/>
                <a:ea typeface="Arial" pitchFamily="34" charset="-122"/>
                <a:cs typeface="Arial" pitchFamily="34" charset="-120"/>
              </a:rPr>
              <a:t>AUC-PR lift &gt; 1× maintained across MIMIC → EHRSHOT → NHANES, despite prevalence varying from ~1% to ~57%.</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32710" y="3876675"/>
            <a:ext cx="3622432" cy="819150"/>
          </a:xfrm>
          <a:prstGeom prst="rect">
            <a:avLst/>
          </a:prstGeom>
          <a:noFill/>
          <a:ln/>
        </p:spPr>
        <p:txBody>
          <a:bodyPr wrap="square" lIns="25400" tIns="25400" rIns="25400" bIns="25400" rtlCol="0" anchor="t">
            <a:normAutofit/>
          </a:bodyPr>
          <a:lstStyle/>
          <a:p>
            <a:pPr algn="ctr" indent="0" marL="0">
              <a:buNone/>
            </a:pPr>
            <a:r>
              <a:rPr lang="en-US" sz="5400" b="1" dirty="0">
                <a:solidFill>
                  <a:srgbClr val="1B2A5C"/>
                </a:solidFill>
                <a:latin typeface="Georgia" pitchFamily="34" charset="0"/>
                <a:ea typeface="Georgia" pitchFamily="34" charset="-122"/>
                <a:cs typeface="Georgia" pitchFamily="34" charset="-120"/>
              </a:rPr>
              <a:t>Thank You</a:t>
            </a:r>
            <a:endParaRPr lang="en-US" sz="5400" dirty="0"/>
          </a:p>
        </p:txBody>
      </p:sp>
      <p:sp>
        <p:nvSpPr>
          <p:cNvPr id="3" name="Shape 1"/>
          <p:cNvSpPr/>
          <p:nvPr/>
        </p:nvSpPr>
        <p:spPr>
          <a:xfrm>
            <a:off x="8763000" y="4924425"/>
            <a:ext cx="762000" cy="28575"/>
          </a:xfrm>
          <a:prstGeom prst="rect">
            <a:avLst/>
          </a:prstGeom>
          <a:solidFill>
            <a:srgbClr val="D4A017"/>
          </a:solidFill>
          <a:ln/>
        </p:spPr>
      </p:sp>
      <p:sp>
        <p:nvSpPr>
          <p:cNvPr id="4" name="Text 2"/>
          <p:cNvSpPr/>
          <p:nvPr/>
        </p:nvSpPr>
        <p:spPr>
          <a:xfrm>
            <a:off x="8096585" y="5219700"/>
            <a:ext cx="2094681" cy="533400"/>
          </a:xfrm>
          <a:prstGeom prst="rect">
            <a:avLst/>
          </a:prstGeom>
          <a:noFill/>
          <a:ln/>
        </p:spPr>
        <p:txBody>
          <a:bodyPr wrap="square" lIns="25400" tIns="25400" rIns="25400" bIns="25400" rtlCol="0" anchor="t">
            <a:normAutofit/>
          </a:bodyPr>
          <a:lstStyle/>
          <a:p>
            <a:pPr algn="ctr" indent="0" marL="0">
              <a:buNone/>
            </a:pPr>
            <a:r>
              <a:rPr lang="en-US" sz="3000" dirty="0">
                <a:solidFill>
                  <a:srgbClr val="6B6B80"/>
                </a:solidFill>
                <a:latin typeface="Arial" pitchFamily="34" charset="0"/>
                <a:ea typeface="Arial" pitchFamily="34" charset="-122"/>
                <a:cs typeface="Arial" pitchFamily="34" charset="-120"/>
              </a:rPr>
              <a:t>Questions?</a:t>
            </a:r>
            <a:endParaRPr lang="en-US" sz="3000" dirty="0"/>
          </a:p>
        </p:txBody>
      </p:sp>
      <p:sp>
        <p:nvSpPr>
          <p:cNvPr id="5" name="Text 3"/>
          <p:cNvSpPr/>
          <p:nvPr/>
        </p:nvSpPr>
        <p:spPr>
          <a:xfrm>
            <a:off x="7159332" y="6248400"/>
            <a:ext cx="3969335" cy="390525"/>
          </a:xfrm>
          <a:prstGeom prst="rect">
            <a:avLst/>
          </a:prstGeom>
          <a:noFill/>
          <a:ln/>
        </p:spPr>
        <p:txBody>
          <a:bodyPr wrap="square" lIns="25400" tIns="25400" rIns="25400" bIns="25400" rtlCol="0" anchor="t">
            <a:normAutofit/>
          </a:bodyPr>
          <a:lstStyle/>
          <a:p>
            <a:pPr algn="ctr" indent="0" marL="0">
              <a:buNone/>
            </a:pPr>
            <a:r>
              <a:rPr lang="en-US" sz="2100" dirty="0">
                <a:solidFill>
                  <a:srgbClr val="6B6B80"/>
                </a:solidFill>
                <a:latin typeface="Arial" pitchFamily="34" charset="0"/>
                <a:ea typeface="Arial" pitchFamily="34" charset="-122"/>
                <a:cs typeface="Arial" pitchFamily="34" charset="-120"/>
              </a:rPr>
              <a:t>Ofek Vilkerstone · [Institution]</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2026-06-22T19:42:56Z</dcterms:created>
  <dcterms:modified xsi:type="dcterms:W3CDTF">2026-06-22T19:42:56Z</dcterms:modified>
</cp:coreProperties>
</file>