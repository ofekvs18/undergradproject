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3"/>
  </p:notesMasterIdLst>
  <p:sldIdLst>
    <p:sldId id="266" r:id="rId2"/>
    <p:sldId id="257" r:id="rId3"/>
    <p:sldId id="274" r:id="rId4"/>
    <p:sldId id="258" r:id="rId5"/>
    <p:sldId id="272" r:id="rId6"/>
    <p:sldId id="261" r:id="rId7"/>
    <p:sldId id="273" r:id="rId8"/>
    <p:sldId id="275" r:id="rId9"/>
    <p:sldId id="276" r:id="rId10"/>
    <p:sldId id="264" r:id="rId11"/>
    <p:sldId id="265" r:id="rId12"/>
  </p:sldIdLst>
  <p:sldSz cx="12192000" cy="6858000"/>
  <p:notesSz cx="6858000" cy="12192000"/>
  <p:embeddedFontLst>
    <p:embeddedFont>
      <p:font typeface="Mukta Light" panose="020B0604020202020204" charset="0"/>
      <p:regular r:id="rId14"/>
    </p:embeddedFont>
    <p:embeddedFont>
      <p:font typeface="Prompt Medium" panose="00000600000000000000" pitchFamily="2" charset="-34"/>
      <p:regular r:id="rId15"/>
      <p: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7554" autoAdjust="0"/>
  </p:normalViewPr>
  <p:slideViewPr>
    <p:cSldViewPr snapToGrid="0" snapToObjects="1">
      <p:cViewPr varScale="1">
        <p:scale>
          <a:sx n="50" d="100"/>
          <a:sy n="50" d="100"/>
        </p:scale>
        <p:origin x="12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06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שלום לכולם, אני אוֹפק ויִלקרסטוֹן, סטודנט בהנדסת מערכות מידע, ואני רוצה לספר לכם על פרויקט שניסה לענות על שאלה רפואית פשוטה — האם ספירת דם רגילה יכולה לגלות מחלות אוטואימוניות?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" b="1" dirty="0"/>
              <a:t>"אדם מגיע לרופא עם עייפות וכאבי מפרקים. ספירת הדם שלו נעשית בכל ביקור — אבל הרופא מסתכל רק על WBC ו-HGB. מה אם מהנתונים האלה — שכבר קיימים — אפשר לגלות דלקת מפרקים שגרונית שנים לפני האבחנה?"</a:t>
            </a:r>
            <a:endParaRPr lang="" dirty="0"/>
          </a:p>
          <a:p>
            <a:pPr algn="r" rtl="1"/>
            <a:endParaRPr lang="en-US" dirty="0"/>
          </a:p>
          <a:p>
            <a:pPr algn="r" rtl="1"/>
            <a:r>
              <a:rPr lang="" dirty="0"/>
              <a:t>"ספירת דם היא הבדיקה הנפוצה ביותר בעולם — מיליארדים בשנה. היא זולה, שגרתית, ולא מוסיפה עומס על המטופל. השאלה המחקרית שלנו: האם נוסחאות מתמטיות שנגזרות מ-14 ערכי CBC יכולות לנבא אבחנות של מחלות כרוניות?"</a:t>
            </a:r>
          </a:p>
          <a:p>
            <a:pPr algn="r" rtl="1"/>
            <a:r>
              <a:rPr lang="" dirty="0"/>
              <a:t>"המוטיבציה: לא צריך בדיקות גנטיות, לא ביופסיות — הנתונים כבר קיימים."</a:t>
            </a: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" dirty="0"/>
              <a:t>"אחד האתגרים המרכזיים: חוסר איזון קיצוני בנתונים. ב-RA למשל, רק 1% מהמטופלים חולים. מדד כמו AUC-ROC לא מספיק — השתמשנו ב-AUC-PR Lift."</a:t>
            </a:r>
          </a:p>
          <a:p>
            <a:r>
              <a:rPr lang="" dirty="0"/>
              <a:t>"המטרה שלנו אינה מודל חזאי בלבד, אלא </a:t>
            </a:r>
            <a:r>
              <a:rPr lang="" i="1" dirty="0"/>
              <a:t>נוסחה פשוטה</a:t>
            </a:r>
            <a:r>
              <a:rPr lang="" dirty="0"/>
              <a:t> שאפשר להסביר לרופא."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altLang="en-US" sz="1200" b="1" kern="1200" dirty="0">
                <a:solidFill>
                  <a:srgbClr val="A95B95"/>
                </a:solidFill>
                <a:latin typeface="+mn-lt"/>
                <a:ea typeface="Mukta Light" pitchFamily="34" charset="-122"/>
                <a:cs typeface="Mukta Light" pitchFamily="34" charset="-120"/>
              </a:rPr>
              <a:t>אם ספירת דם פשוטה מכילה מספיק מידע לנבא דלקת מפרקים שגרונית — מה עוד מסתתר בבדיקות שכבר עושים לנו?</a:t>
            </a:r>
            <a:endParaRPr lang="he-IL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  <p:txBody>
          <a:bodyPr/>
          <a:lstStyle/>
          <a:p>
            <a:endParaRPr lang="LID4096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1977" y="2083693"/>
            <a:ext cx="876764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Can a Routine CBC Predict Chronic Disease?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24715" y="3530997"/>
            <a:ext cx="1133268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4300" y="4102695"/>
            <a:ext cx="1072309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  </a:t>
            </a:r>
            <a:r>
              <a:rPr lang="en-US" sz="1650" dirty="0">
                <a:solidFill>
                  <a:srgbClr val="66666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Student: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Ofek Vilkerstone     </a:t>
            </a:r>
            <a:endParaRPr lang="en-US" sz="165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      </a:t>
            </a:r>
            <a:r>
              <a:rPr lang="en-US" sz="1650" dirty="0">
                <a:solidFill>
                  <a:srgbClr val="666666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Advisors: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Prof. Noa Dagan, Dr. Seffi Cohen, Dr. Liat Friedman Antwarg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87147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439962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Can a Routine CBC Predict Chronic Disease?</a:t>
            </a:r>
            <a:endParaRPr lang="en-US" sz="3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97D"/>
                </a:solidFill>
                <a:latin typeface="Calibri"/>
              </a:rPr>
              <a:t>Why Rheumatoid Arthritis?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36576"/>
          </a:xfrm>
          <a:prstGeom prst="rect">
            <a:avLst/>
          </a:prstGeom>
          <a:solidFill>
            <a:srgbClr val="1F3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7D"/>
                </a:solidFill>
                <a:latin typeface="Calibri"/>
              </a:rPr>
              <a:t>THE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Rheumatoid Arthritis is a systemic autoimmune disease affecting ~1% of adults worldwide, causing progressive joint damage and systemic inflammation.
Diagnosis is often delayed 1–2 years: early symptoms are non-specific, and confirmation requires specialist referral, anti-CCP serology, and imaging — resources not always available in primary care.
Early treatment (within 3–6 months of onset) dramatically slows joint destruction. Each month of delay worsens long-term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7D"/>
                </a:solidFill>
                <a:latin typeface="Calibri"/>
              </a:rPr>
              <a:t>WHY A CBC BIOMARKER?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 Complete Blood Count is ordered in virtually every routine hospital visit — cheap (~$15), fast, and universally available.
A CBC-based alert could flag patients for specialist referral before symptoms are clinically obvious, closing the diagnosis gap in primary care.
Why does CBC carry RA signal?
• Chronic inflammation ↑ monocyte %  —  monocytes are key mediators of RA synovial inflammation
• Inflammation suppresses red cell production → anemia of chronic disease  (↓ hematocrit, ↓ MCHC)
• These signals appear directly in the winning formula:
    (mono_pct / neut_pct)² × log(hct − mchc)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Focus disease throughout this presentation. Results for all 6 diseases shown in the multi-disease summary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744736"/>
            <a:ext cx="5752063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Background: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5032" y="1491555"/>
            <a:ext cx="5188713" cy="11296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7537" y="1667867"/>
            <a:ext cx="1994644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Severe Class Imbalance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27537" y="2004318"/>
            <a:ext cx="475990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 prevalence ~1%. A naive model yields 99 false positives per 100 flagged patients.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987" y="2864197"/>
            <a:ext cx="5188713" cy="11296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21492" y="3040508"/>
            <a:ext cx="1890467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Why Not Just Use ML?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521492" y="3376959"/>
            <a:ext cx="4759900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 black-box LR gives no interpretable biomarker. The goal is a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formula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not a model.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6294082" y="5249069"/>
            <a:ext cx="5169664" cy="731441"/>
          </a:xfrm>
          <a:prstGeom prst="roundRect">
            <a:avLst>
              <a:gd name="adj" fmla="val 9035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339" y="5460405"/>
            <a:ext cx="196647" cy="1572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05244" y="5394523"/>
            <a:ext cx="450124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Primary metric: AUC-PR Lift</a:t>
            </a:r>
            <a:r>
              <a:rPr lang="en-US" sz="120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(= AUC-PR / prevalence) — the only fair cross-disease comparison.</a:t>
            </a:r>
            <a:endParaRPr lang="en-US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EE591E1-C2F8-0568-9A6C-98996BF96768}"/>
              </a:ext>
            </a:extLst>
          </p:cNvPr>
          <p:cNvGrpSpPr/>
          <p:nvPr/>
        </p:nvGrpSpPr>
        <p:grpSpPr>
          <a:xfrm>
            <a:off x="448801" y="1910345"/>
            <a:ext cx="4994942" cy="3037308"/>
            <a:chOff x="1549446" y="2062857"/>
            <a:chExt cx="4994942" cy="3037308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066BC74-6129-C9B7-024E-3A3455A072F6}"/>
                </a:ext>
              </a:extLst>
            </p:cNvPr>
            <p:cNvSpPr/>
            <p:nvPr/>
          </p:nvSpPr>
          <p:spPr>
            <a:xfrm>
              <a:off x="2171236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D88CB86-F844-E751-C5D6-33B475EF0A01}"/>
                </a:ext>
              </a:extLst>
            </p:cNvPr>
            <p:cNvSpPr/>
            <p:nvPr/>
          </p:nvSpPr>
          <p:spPr>
            <a:xfrm>
              <a:off x="2774168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4FFAB5-E77C-027B-1A66-17F5E191A263}"/>
                </a:ext>
              </a:extLst>
            </p:cNvPr>
            <p:cNvSpPr/>
            <p:nvPr/>
          </p:nvSpPr>
          <p:spPr>
            <a:xfrm>
              <a:off x="3377101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43B6E75-C017-2FE3-1B1D-5C6A758AE914}"/>
                </a:ext>
              </a:extLst>
            </p:cNvPr>
            <p:cNvSpPr/>
            <p:nvPr/>
          </p:nvSpPr>
          <p:spPr>
            <a:xfrm>
              <a:off x="3980033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194772-3484-CDD6-30F8-544BCF93374C}"/>
                </a:ext>
              </a:extLst>
            </p:cNvPr>
            <p:cNvSpPr/>
            <p:nvPr/>
          </p:nvSpPr>
          <p:spPr>
            <a:xfrm>
              <a:off x="4582013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54F7C84-5A37-EF9D-C75F-55EE181E1518}"/>
                </a:ext>
              </a:extLst>
            </p:cNvPr>
            <p:cNvSpPr/>
            <p:nvPr/>
          </p:nvSpPr>
          <p:spPr>
            <a:xfrm>
              <a:off x="5184946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9C35667-4397-AF4E-A2B2-CA88BA4810DC}"/>
                </a:ext>
              </a:extLst>
            </p:cNvPr>
            <p:cNvSpPr/>
            <p:nvPr/>
          </p:nvSpPr>
          <p:spPr>
            <a:xfrm>
              <a:off x="5787878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C85181E-0016-A6BA-D650-2368D9FB95DA}"/>
                </a:ext>
              </a:extLst>
            </p:cNvPr>
            <p:cNvSpPr/>
            <p:nvPr/>
          </p:nvSpPr>
          <p:spPr>
            <a:xfrm>
              <a:off x="6390811" y="2062857"/>
              <a:ext cx="9525" cy="2524125"/>
            </a:xfrm>
            <a:custGeom>
              <a:avLst/>
              <a:gdLst>
                <a:gd name="csX0" fmla="*/ 0 w 9525"/>
                <a:gd name="csY0" fmla="*/ 0 h 2524125"/>
                <a:gd name="csX1" fmla="*/ 0 w 9525"/>
                <a:gd name="csY1" fmla="*/ 2524125 h 2524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524125">
                  <a:moveTo>
                    <a:pt x="0" y="0"/>
                  </a:moveTo>
                  <a:lnTo>
                    <a:pt x="0" y="2524125"/>
                  </a:lnTo>
                </a:path>
              </a:pathLst>
            </a:custGeom>
            <a:ln w="9525" cap="flat">
              <a:solidFill>
                <a:srgbClr val="D0C0D8"/>
              </a:solidFill>
              <a:custDash>
                <a:ds d="300000" sp="300000"/>
              </a:custDash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BEC8E8B-CF73-FEF7-B618-35C494341186}"/>
                </a:ext>
              </a:extLst>
            </p:cNvPr>
            <p:cNvSpPr/>
            <p:nvPr/>
          </p:nvSpPr>
          <p:spPr>
            <a:xfrm>
              <a:off x="2171236" y="2181919"/>
              <a:ext cx="3810000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39A85494-9AE0-B652-801F-7B1EE1024346}"/>
                </a:ext>
              </a:extLst>
            </p:cNvPr>
            <p:cNvSpPr/>
            <p:nvPr/>
          </p:nvSpPr>
          <p:spPr>
            <a:xfrm>
              <a:off x="2171236" y="2581969"/>
              <a:ext cx="322897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A289AF8-B218-0A6C-9CE6-2A6CC5BF36CE}"/>
                </a:ext>
              </a:extLst>
            </p:cNvPr>
            <p:cNvSpPr/>
            <p:nvPr/>
          </p:nvSpPr>
          <p:spPr>
            <a:xfrm>
              <a:off x="2171236" y="2982019"/>
              <a:ext cx="321945" cy="285750"/>
            </a:xfrm>
            <a:prstGeom prst="roundRect">
              <a:avLst>
                <a:gd name="adj" fmla="val 6666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23C53DE5-CB8E-99BE-784D-C7019AE1BBC9}"/>
                </a:ext>
              </a:extLst>
            </p:cNvPr>
            <p:cNvSpPr/>
            <p:nvPr/>
          </p:nvSpPr>
          <p:spPr>
            <a:xfrm>
              <a:off x="2171236" y="3382069"/>
              <a:ext cx="238125" cy="285750"/>
            </a:xfrm>
            <a:prstGeom prst="roundRect">
              <a:avLst>
                <a:gd name="adj" fmla="val 8000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4365A37-6DE6-2099-8B22-838A92EA5710}"/>
                </a:ext>
              </a:extLst>
            </p:cNvPr>
            <p:cNvSpPr/>
            <p:nvPr/>
          </p:nvSpPr>
          <p:spPr>
            <a:xfrm>
              <a:off x="2171236" y="3782119"/>
              <a:ext cx="171450" cy="285750"/>
            </a:xfrm>
            <a:prstGeom prst="roundRect">
              <a:avLst>
                <a:gd name="adj" fmla="val 11111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7DA1102-527D-08AC-CCE5-80936B423C02}"/>
                </a:ext>
              </a:extLst>
            </p:cNvPr>
            <p:cNvSpPr/>
            <p:nvPr/>
          </p:nvSpPr>
          <p:spPr>
            <a:xfrm>
              <a:off x="2171236" y="4182169"/>
              <a:ext cx="117157" cy="285750"/>
            </a:xfrm>
            <a:prstGeom prst="roundRect">
              <a:avLst>
                <a:gd name="adj" fmla="val 16260"/>
              </a:avLst>
            </a:prstGeom>
            <a:solidFill>
              <a:srgbClr val="C49FC4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28D521C-4AB0-41D7-35E4-CD8DFA7BFFD8}"/>
                </a:ext>
              </a:extLst>
            </p:cNvPr>
            <p:cNvSpPr txBox="1"/>
            <p:nvPr/>
          </p:nvSpPr>
          <p:spPr>
            <a:xfrm>
              <a:off x="5937421" y="2231849"/>
              <a:ext cx="538235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12.73%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57D6BD-EE5F-1E6B-4F55-5041DEFB49BC}"/>
                </a:ext>
              </a:extLst>
            </p:cNvPr>
            <p:cNvSpPr txBox="1"/>
            <p:nvPr/>
          </p:nvSpPr>
          <p:spPr>
            <a:xfrm>
              <a:off x="2450318" y="25842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1.08%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4A170EA-E03B-CC37-2535-90B080F4DBC3}"/>
                </a:ext>
              </a:extLst>
            </p:cNvPr>
            <p:cNvSpPr txBox="1"/>
            <p:nvPr/>
          </p:nvSpPr>
          <p:spPr>
            <a:xfrm>
              <a:off x="2449366" y="298432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1.07%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F021911-086A-B422-8F53-D72C5B2C5B3B}"/>
                </a:ext>
              </a:extLst>
            </p:cNvPr>
            <p:cNvSpPr txBox="1"/>
            <p:nvPr/>
          </p:nvSpPr>
          <p:spPr>
            <a:xfrm>
              <a:off x="2356021" y="33843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0.80%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257F4A-40A7-FC3F-0206-EFB32ED164F6}"/>
                </a:ext>
              </a:extLst>
            </p:cNvPr>
            <p:cNvSpPr txBox="1"/>
            <p:nvPr/>
          </p:nvSpPr>
          <p:spPr>
            <a:xfrm>
              <a:off x="2289346" y="378442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0.57%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C3E4CC-A303-FEA6-E38B-71A36B0FAAFF}"/>
                </a:ext>
              </a:extLst>
            </p:cNvPr>
            <p:cNvSpPr txBox="1"/>
            <p:nvPr/>
          </p:nvSpPr>
          <p:spPr>
            <a:xfrm>
              <a:off x="2235053" y="4184474"/>
              <a:ext cx="479964" cy="2084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rgbClr val="7A5A8A"/>
                  </a:solidFill>
                  <a:latin typeface="Arial"/>
                  <a:cs typeface="Arial"/>
                  <a:sym typeface="Arial"/>
                  <a:rtl val="0"/>
                </a:rPr>
                <a:t>0.39%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D575028-0BFC-E3D8-7A7D-60C4CCB65FE8}"/>
                </a:ext>
              </a:extLst>
            </p:cNvPr>
            <p:cNvSpPr txBox="1"/>
            <p:nvPr/>
          </p:nvSpPr>
          <p:spPr>
            <a:xfrm>
              <a:off x="1797189" y="2175601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T2D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9E04781-ED6F-29D4-C246-89A946A50500}"/>
                </a:ext>
              </a:extLst>
            </p:cNvPr>
            <p:cNvSpPr txBox="1"/>
            <p:nvPr/>
          </p:nvSpPr>
          <p:spPr>
            <a:xfrm>
              <a:off x="1797189" y="2575651"/>
              <a:ext cx="4026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T1D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C19473-969B-9974-A563-13E8DABEA3FC}"/>
                </a:ext>
              </a:extLst>
            </p:cNvPr>
            <p:cNvSpPr txBox="1"/>
            <p:nvPr/>
          </p:nvSpPr>
          <p:spPr>
            <a:xfrm>
              <a:off x="1854339" y="2975701"/>
              <a:ext cx="34496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RA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427411-94F3-3F4B-1ECE-A65A1035A35F}"/>
                </a:ext>
              </a:extLst>
            </p:cNvPr>
            <p:cNvSpPr txBox="1"/>
            <p:nvPr/>
          </p:nvSpPr>
          <p:spPr>
            <a:xfrm>
              <a:off x="1619265" y="3375751"/>
              <a:ext cx="58221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Crohn’s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77D18F6-4500-98CF-F8D1-06346994ACE4}"/>
                </a:ext>
              </a:extLst>
            </p:cNvPr>
            <p:cNvSpPr txBox="1"/>
            <p:nvPr/>
          </p:nvSpPr>
          <p:spPr>
            <a:xfrm>
              <a:off x="1549446" y="3775801"/>
              <a:ext cx="6527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Psoriasis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DCC966-54A5-6B46-889E-B436BB7C30B2}"/>
                </a:ext>
              </a:extLst>
            </p:cNvPr>
            <p:cNvSpPr txBox="1"/>
            <p:nvPr/>
          </p:nvSpPr>
          <p:spPr>
            <a:xfrm>
              <a:off x="1701698" y="4175851"/>
              <a:ext cx="49885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00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Lupus</a:t>
              </a: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C5C2F6F-B57A-DB00-0D65-0D62430A62E3}"/>
                </a:ext>
              </a:extLst>
            </p:cNvPr>
            <p:cNvSpPr/>
            <p:nvPr/>
          </p:nvSpPr>
          <p:spPr>
            <a:xfrm>
              <a:off x="2171236" y="4586982"/>
              <a:ext cx="4219575" cy="9525"/>
            </a:xfrm>
            <a:custGeom>
              <a:avLst/>
              <a:gdLst>
                <a:gd name="csX0" fmla="*/ 0 w 4219575"/>
                <a:gd name="csY0" fmla="*/ 0 h 9525"/>
                <a:gd name="csX1" fmla="*/ 4219575 w 421957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19575" h="9525">
                  <a:moveTo>
                    <a:pt x="0" y="0"/>
                  </a:moveTo>
                  <a:lnTo>
                    <a:pt x="4219575" y="0"/>
                  </a:lnTo>
                </a:path>
              </a:pathLst>
            </a:custGeom>
            <a:ln w="9525" cap="flat">
              <a:solidFill>
                <a:srgbClr val="BBBBBB"/>
              </a:solidFill>
              <a:prstDash val="solid"/>
              <a:miter/>
            </a:ln>
          </p:spPr>
          <p:txBody>
            <a:bodyPr/>
            <a:lstStyle/>
            <a:p>
              <a:endParaRPr lang="LID4096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6170038-34B6-EF3E-23C9-174F9ABA9E21}"/>
                </a:ext>
              </a:extLst>
            </p:cNvPr>
            <p:cNvSpPr txBox="1"/>
            <p:nvPr/>
          </p:nvSpPr>
          <p:spPr>
            <a:xfrm>
              <a:off x="2050660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A878850-1DEF-B41F-0518-E0B1CBA14886}"/>
                </a:ext>
              </a:extLst>
            </p:cNvPr>
            <p:cNvSpPr txBox="1"/>
            <p:nvPr/>
          </p:nvSpPr>
          <p:spPr>
            <a:xfrm>
              <a:off x="2653593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2BA324E-D90A-A9AA-906C-E2258DDADC6B}"/>
                </a:ext>
              </a:extLst>
            </p:cNvPr>
            <p:cNvSpPr txBox="1"/>
            <p:nvPr/>
          </p:nvSpPr>
          <p:spPr>
            <a:xfrm>
              <a:off x="3256525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9114686-5C4D-0DDD-6997-E581B187F609}"/>
                </a:ext>
              </a:extLst>
            </p:cNvPr>
            <p:cNvSpPr txBox="1"/>
            <p:nvPr/>
          </p:nvSpPr>
          <p:spPr>
            <a:xfrm>
              <a:off x="3859458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8F48E6E-0201-233E-BF4E-7D96A33A0E78}"/>
                </a:ext>
              </a:extLst>
            </p:cNvPr>
            <p:cNvSpPr txBox="1"/>
            <p:nvPr/>
          </p:nvSpPr>
          <p:spPr>
            <a:xfrm>
              <a:off x="4461438" y="4608336"/>
              <a:ext cx="24397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5713F1-3382-20B2-0F1F-CDA303DC832F}"/>
                </a:ext>
              </a:extLst>
            </p:cNvPr>
            <p:cNvSpPr txBox="1"/>
            <p:nvPr/>
          </p:nvSpPr>
          <p:spPr>
            <a:xfrm>
              <a:off x="5035235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22EADF9-77A6-9829-8DD0-6F11A4567831}"/>
                </a:ext>
              </a:extLst>
            </p:cNvPr>
            <p:cNvSpPr txBox="1"/>
            <p:nvPr/>
          </p:nvSpPr>
          <p:spPr>
            <a:xfrm>
              <a:off x="5638167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61BCB63-3BC3-3855-157C-3D2010116500}"/>
                </a:ext>
              </a:extLst>
            </p:cNvPr>
            <p:cNvSpPr txBox="1"/>
            <p:nvPr/>
          </p:nvSpPr>
          <p:spPr>
            <a:xfrm>
              <a:off x="6241100" y="4608336"/>
              <a:ext cx="303288" cy="2192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825" spc="0" baseline="0" dirty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14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F113435-2D43-A1D3-32BC-6CD6C34510EA}"/>
                </a:ext>
              </a:extLst>
            </p:cNvPr>
            <p:cNvSpPr txBox="1"/>
            <p:nvPr/>
          </p:nvSpPr>
          <p:spPr>
            <a:xfrm>
              <a:off x="3761591" y="4857791"/>
              <a:ext cx="1035861" cy="2423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975" spc="0" baseline="0">
                  <a:ln/>
                  <a:solidFill>
                    <a:schemeClr val="bg1"/>
                  </a:solidFill>
                  <a:latin typeface="Arial"/>
                  <a:cs typeface="Arial"/>
                  <a:sym typeface="Arial"/>
                  <a:rtl val="0"/>
                </a:rPr>
                <a:t>Prevalence 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9281874-63BE-7C98-425D-EEA81B005BDF}"/>
              </a:ext>
            </a:extLst>
          </p:cNvPr>
          <p:cNvSpPr/>
          <p:nvPr/>
        </p:nvSpPr>
        <p:spPr>
          <a:xfrm>
            <a:off x="2587291" y="3290402"/>
            <a:ext cx="561284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5B3F8A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A70E7D5-5CA6-16BD-4AC9-E1F31402C095}"/>
              </a:ext>
            </a:extLst>
          </p:cNvPr>
          <p:cNvSpPr/>
          <p:nvPr/>
        </p:nvSpPr>
        <p:spPr>
          <a:xfrm>
            <a:off x="3211638" y="1811353"/>
            <a:ext cx="1550209" cy="2981028"/>
          </a:xfrm>
          <a:prstGeom prst="roundRect">
            <a:avLst>
              <a:gd name="adj" fmla="val 6153"/>
            </a:avLst>
          </a:prstGeom>
          <a:solidFill>
            <a:srgbClr val="1E1448"/>
          </a:solidFill>
          <a:ln w="34385" cap="flat">
            <a:noFill/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EC764-7F6F-E8E5-505D-C99E86934321}"/>
              </a:ext>
            </a:extLst>
          </p:cNvPr>
          <p:cNvSpPr txBox="1"/>
          <p:nvPr/>
        </p:nvSpPr>
        <p:spPr>
          <a:xfrm>
            <a:off x="3192774" y="1987956"/>
            <a:ext cx="1590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LID4096" sz="1600" b="1" spc="0" baseline="0" dirty="0">
                <a:ln/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  <a:rtl val="0"/>
              </a:rPr>
              <a:t>Pre-processing</a:t>
            </a:r>
          </a:p>
        </p:txBody>
      </p:sp>
      <p:grpSp>
        <p:nvGrpSpPr>
          <p:cNvPr id="12" name="Graphic 7">
            <a:extLst>
              <a:ext uri="{FF2B5EF4-FFF2-40B4-BE49-F238E27FC236}">
                <a16:creationId xmlns:a16="http://schemas.microsoft.com/office/drawing/2014/main" id="{82BBE98A-B486-C99C-F1E1-83176E9E99F5}"/>
              </a:ext>
            </a:extLst>
          </p:cNvPr>
          <p:cNvGrpSpPr/>
          <p:nvPr/>
        </p:nvGrpSpPr>
        <p:grpSpPr>
          <a:xfrm>
            <a:off x="3287543" y="2598976"/>
            <a:ext cx="1372555" cy="1546050"/>
            <a:chOff x="7447070" y="15043598"/>
            <a:chExt cx="4374303" cy="4637888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11325E-9B93-B7FC-FE5F-442C21747C79}"/>
                </a:ext>
              </a:extLst>
            </p:cNvPr>
            <p:cNvSpPr txBox="1"/>
            <p:nvPr/>
          </p:nvSpPr>
          <p:spPr>
            <a:xfrm>
              <a:off x="8116855" y="15043598"/>
              <a:ext cx="303499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90-day LB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7CAA37C-D6E4-311F-C08B-145354CC9B7F}"/>
                </a:ext>
              </a:extLst>
            </p:cNvPr>
            <p:cNvSpPr txBox="1"/>
            <p:nvPr/>
          </p:nvSpPr>
          <p:spPr>
            <a:xfrm>
              <a:off x="7552824" y="15662700"/>
              <a:ext cx="414890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First 24h index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0BD38F4-F2E8-E3E7-4F7C-3487D890E918}"/>
                </a:ext>
              </a:extLst>
            </p:cNvPr>
            <p:cNvSpPr txBox="1"/>
            <p:nvPr/>
          </p:nvSpPr>
          <p:spPr>
            <a:xfrm>
              <a:off x="7509299" y="16281802"/>
              <a:ext cx="4237802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Last value agg.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46A4636-864B-79A2-8D97-C0503BAA791E}"/>
                </a:ext>
              </a:extLst>
            </p:cNvPr>
            <p:cNvSpPr txBox="1"/>
            <p:nvPr/>
          </p:nvSpPr>
          <p:spPr>
            <a:xfrm>
              <a:off x="7956078" y="16900901"/>
              <a:ext cx="3309238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Imputation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F61D9BB-E0B4-6BBA-0C75-928A561402A1}"/>
                </a:ext>
              </a:extLst>
            </p:cNvPr>
            <p:cNvSpPr txBox="1"/>
            <p:nvPr/>
          </p:nvSpPr>
          <p:spPr>
            <a:xfrm>
              <a:off x="7582281" y="17520003"/>
              <a:ext cx="4085152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Normalization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460FFB8-4812-F2F8-94A3-8CE1EB8AA659}"/>
                </a:ext>
              </a:extLst>
            </p:cNvPr>
            <p:cNvSpPr txBox="1"/>
            <p:nvPr/>
          </p:nvSpPr>
          <p:spPr>
            <a:xfrm>
              <a:off x="7447070" y="18139105"/>
              <a:ext cx="4374303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Train / Test split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27EB56B-0996-A61B-073C-ED316016EB29}"/>
                </a:ext>
              </a:extLst>
            </p:cNvPr>
            <p:cNvSpPr txBox="1"/>
            <p:nvPr/>
          </p:nvSpPr>
          <p:spPr>
            <a:xfrm>
              <a:off x="8304447" y="18758207"/>
              <a:ext cx="2580936" cy="92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spc="0" baseline="0" dirty="0">
                  <a:ln/>
                  <a:solidFill>
                    <a:srgbClr val="A0B0C0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(80 / 20)</a:t>
              </a:r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708AB7E-FB71-D9AB-D04B-1E28A9AD3121}"/>
              </a:ext>
            </a:extLst>
          </p:cNvPr>
          <p:cNvSpPr/>
          <p:nvPr/>
        </p:nvSpPr>
        <p:spPr>
          <a:xfrm flipV="1">
            <a:off x="4761847" y="3250113"/>
            <a:ext cx="432674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7B5EA7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E8A2DB-C5E1-332E-946B-718193B353FC}"/>
              </a:ext>
            </a:extLst>
          </p:cNvPr>
          <p:cNvGrpSpPr/>
          <p:nvPr/>
        </p:nvGrpSpPr>
        <p:grpSpPr>
          <a:xfrm>
            <a:off x="5218883" y="1834213"/>
            <a:ext cx="3993117" cy="2981028"/>
            <a:chOff x="12653766" y="13009188"/>
            <a:chExt cx="12725976" cy="9630468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F0FBA54B-341A-781C-6B6C-23B5BE46455E}"/>
                </a:ext>
              </a:extLst>
            </p:cNvPr>
            <p:cNvSpPr/>
            <p:nvPr/>
          </p:nvSpPr>
          <p:spPr>
            <a:xfrm>
              <a:off x="12653766" y="13009188"/>
              <a:ext cx="12725976" cy="9630468"/>
            </a:xfrm>
            <a:prstGeom prst="roundRect">
              <a:avLst>
                <a:gd name="adj" fmla="val 2666"/>
              </a:avLst>
            </a:prstGeom>
            <a:solidFill>
              <a:srgbClr val="EDE7F6"/>
            </a:solidFill>
            <a:ln w="68771" cap="flat">
              <a:solidFill>
                <a:srgbClr val="7B5EA7"/>
              </a:solidFill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D717263-A24F-18C3-F9D6-BCBDB9821FD0}"/>
                </a:ext>
              </a:extLst>
            </p:cNvPr>
            <p:cNvGrpSpPr/>
            <p:nvPr/>
          </p:nvGrpSpPr>
          <p:grpSpPr>
            <a:xfrm>
              <a:off x="13066501" y="21120719"/>
              <a:ext cx="11900507" cy="1259460"/>
              <a:chOff x="13066500" y="19888094"/>
              <a:chExt cx="11900507" cy="1259460"/>
            </a:xfrm>
          </p:grpSpPr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10D3E15D-BD76-E7A9-7745-B7B274EF129E}"/>
                  </a:ext>
                </a:extLst>
              </p:cNvPr>
              <p:cNvSpPr/>
              <p:nvPr/>
            </p:nvSpPr>
            <p:spPr>
              <a:xfrm>
                <a:off x="13066500" y="19888094"/>
                <a:ext cx="11900507" cy="1238203"/>
              </a:xfrm>
              <a:prstGeom prst="roundRect">
                <a:avLst>
                  <a:gd name="adj" fmla="val 16666"/>
                </a:avLst>
              </a:prstGeom>
              <a:solidFill>
                <a:srgbClr val="7F8C8D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6000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054EEC0-FC58-A556-81E8-85E2CF81D473}"/>
                  </a:ext>
                </a:extLst>
              </p:cNvPr>
              <p:cNvSpPr txBox="1"/>
              <p:nvPr/>
            </p:nvSpPr>
            <p:spPr>
              <a:xfrm>
                <a:off x="13164490" y="20153254"/>
                <a:ext cx="11704521" cy="9943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Baseline: Logistic Regression (all 14 features)</a:t>
                </a: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5D8690-F9FA-985B-4B19-201B6480C0A3}"/>
              </a:ext>
            </a:extLst>
          </p:cNvPr>
          <p:cNvGrpSpPr/>
          <p:nvPr/>
        </p:nvGrpSpPr>
        <p:grpSpPr>
          <a:xfrm>
            <a:off x="5342219" y="2146957"/>
            <a:ext cx="1791506" cy="848446"/>
            <a:chOff x="13130281" y="14109813"/>
            <a:chExt cx="5709491" cy="2545195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2811BC81-7D5F-1258-69B4-B5A0B1128810}"/>
                </a:ext>
              </a:extLst>
            </p:cNvPr>
            <p:cNvSpPr/>
            <p:nvPr/>
          </p:nvSpPr>
          <p:spPr>
            <a:xfrm>
              <a:off x="13130281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1E1448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6F052B8-A715-3FE8-7D06-C82E0F3E43F6}"/>
                </a:ext>
              </a:extLst>
            </p:cNvPr>
            <p:cNvSpPr txBox="1"/>
            <p:nvPr/>
          </p:nvSpPr>
          <p:spPr>
            <a:xfrm>
              <a:off x="14097676" y="14429592"/>
              <a:ext cx="3659002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M1 · Threshold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1D9AFAD-F27A-B91A-74FD-DBB3C44E307B}"/>
                </a:ext>
              </a:extLst>
            </p:cNvPr>
            <p:cNvSpPr txBox="1"/>
            <p:nvPr/>
          </p:nvSpPr>
          <p:spPr>
            <a:xfrm>
              <a:off x="14492375" y="14991183"/>
              <a:ext cx="2292299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Youden's Index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DA4C13E-5BCE-B349-24B1-BE7D5C27D212}"/>
                </a:ext>
              </a:extLst>
            </p:cNvPr>
            <p:cNvSpPr txBox="1"/>
            <p:nvPr/>
          </p:nvSpPr>
          <p:spPr>
            <a:xfrm>
              <a:off x="14286388" y="15541497"/>
              <a:ext cx="2572660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Literature cutoffs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2DEE4D-DCD0-69D3-92B8-6D47839DD15D}"/>
              </a:ext>
            </a:extLst>
          </p:cNvPr>
          <p:cNvGrpSpPr/>
          <p:nvPr/>
        </p:nvGrpSpPr>
        <p:grpSpPr>
          <a:xfrm>
            <a:off x="7297158" y="2159572"/>
            <a:ext cx="1791506" cy="848446"/>
            <a:chOff x="19367904" y="14109813"/>
            <a:chExt cx="5709491" cy="2545195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EBA09055-5AA2-78A8-0991-5EDE18DE293E}"/>
                </a:ext>
              </a:extLst>
            </p:cNvPr>
            <p:cNvSpPr/>
            <p:nvPr/>
          </p:nvSpPr>
          <p:spPr>
            <a:xfrm>
              <a:off x="19367904" y="1410981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1E1448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9EA1AFD-CAA9-0B4C-5515-5F98B182D363}"/>
                </a:ext>
              </a:extLst>
            </p:cNvPr>
            <p:cNvSpPr txBox="1"/>
            <p:nvPr/>
          </p:nvSpPr>
          <p:spPr>
            <a:xfrm>
              <a:off x="19767907" y="14391748"/>
              <a:ext cx="3761133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M2 · Rand. Search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68CE130-F67D-9F8B-8D2A-C5FB9797067C}"/>
                </a:ext>
              </a:extLst>
            </p:cNvPr>
            <p:cNvSpPr txBox="1"/>
            <p:nvPr/>
          </p:nvSpPr>
          <p:spPr>
            <a:xfrm>
              <a:off x="20608298" y="14991183"/>
              <a:ext cx="2465141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10,000 formulas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459009A-0025-FAC0-7B05-3A342F91AD9D}"/>
                </a:ext>
              </a:extLst>
            </p:cNvPr>
            <p:cNvSpPr txBox="1"/>
            <p:nvPr/>
          </p:nvSpPr>
          <p:spPr>
            <a:xfrm>
              <a:off x="21179738" y="15541497"/>
              <a:ext cx="1686364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B0A0D8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± × ÷ √ log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05A54BA-0257-1D38-8952-C4B005C8C97E}"/>
              </a:ext>
            </a:extLst>
          </p:cNvPr>
          <p:cNvGrpSpPr/>
          <p:nvPr/>
        </p:nvGrpSpPr>
        <p:grpSpPr>
          <a:xfrm>
            <a:off x="5342219" y="3233367"/>
            <a:ext cx="1791506" cy="848447"/>
            <a:chOff x="13465942" y="16998953"/>
            <a:chExt cx="5709491" cy="2545195"/>
          </a:xfrm>
        </p:grpSpPr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AC535C54-BB32-B23C-8586-DB9ABB5F3A6A}"/>
                </a:ext>
              </a:extLst>
            </p:cNvPr>
            <p:cNvSpPr/>
            <p:nvPr/>
          </p:nvSpPr>
          <p:spPr>
            <a:xfrm>
              <a:off x="13465942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7B5EA7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106A680-4B58-89A4-A9FD-FDDD38214965}"/>
                </a:ext>
              </a:extLst>
            </p:cNvPr>
            <p:cNvSpPr txBox="1"/>
            <p:nvPr/>
          </p:nvSpPr>
          <p:spPr>
            <a:xfrm>
              <a:off x="13740319" y="17186337"/>
              <a:ext cx="3430824" cy="749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M3 · Genetic Prog.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E38BECB-EE1E-177F-CB67-7D8680462964}"/>
                </a:ext>
              </a:extLst>
            </p:cNvPr>
            <p:cNvSpPr txBox="1"/>
            <p:nvPr/>
          </p:nvSpPr>
          <p:spPr>
            <a:xfrm>
              <a:off x="14478675" y="17880323"/>
              <a:ext cx="2770737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gplearn | pop=500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83050DC0-0DCB-BE6C-8393-6E3E25682E50}"/>
                </a:ext>
              </a:extLst>
            </p:cNvPr>
            <p:cNvSpPr txBox="1"/>
            <p:nvPr/>
          </p:nvSpPr>
          <p:spPr>
            <a:xfrm>
              <a:off x="13472536" y="18430637"/>
              <a:ext cx="4153346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gen=100, pars=0.0001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4565850-925D-EB86-57E1-C21CA9FF620F}"/>
              </a:ext>
            </a:extLst>
          </p:cNvPr>
          <p:cNvGrpSpPr/>
          <p:nvPr/>
        </p:nvGrpSpPr>
        <p:grpSpPr>
          <a:xfrm>
            <a:off x="7297158" y="3243402"/>
            <a:ext cx="1791506" cy="848447"/>
            <a:chOff x="19257516" y="16998953"/>
            <a:chExt cx="5709491" cy="2545195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94452963-FD1D-48C6-BA00-34175E88B9AF}"/>
                </a:ext>
              </a:extLst>
            </p:cNvPr>
            <p:cNvSpPr/>
            <p:nvPr/>
          </p:nvSpPr>
          <p:spPr>
            <a:xfrm>
              <a:off x="19257516" y="16998953"/>
              <a:ext cx="5709491" cy="2545195"/>
            </a:xfrm>
            <a:prstGeom prst="roundRect">
              <a:avLst>
                <a:gd name="adj" fmla="val 8108"/>
              </a:avLst>
            </a:prstGeom>
            <a:solidFill>
              <a:srgbClr val="5B3F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60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53ACBB2-5A8A-3C4F-838C-4618DAC8DB5E}"/>
                </a:ext>
              </a:extLst>
            </p:cNvPr>
            <p:cNvSpPr txBox="1"/>
            <p:nvPr/>
          </p:nvSpPr>
          <p:spPr>
            <a:xfrm>
              <a:off x="21008381" y="17242175"/>
              <a:ext cx="2014961" cy="749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4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M4 · LLM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097B56B-0070-2D8D-8BFC-81DD9188A69C}"/>
                </a:ext>
              </a:extLst>
            </p:cNvPr>
            <p:cNvSpPr txBox="1"/>
            <p:nvPr/>
          </p:nvSpPr>
          <p:spPr>
            <a:xfrm>
              <a:off x="20481847" y="17880323"/>
              <a:ext cx="2484857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>
                  <a:ln/>
                  <a:solidFill>
                    <a:srgbClr val="E2DCF5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Med-Gemma 4B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E14A725-DE81-036F-6DC7-A31967BCB175}"/>
                </a:ext>
              </a:extLst>
            </p:cNvPr>
            <p:cNvSpPr txBox="1"/>
            <p:nvPr/>
          </p:nvSpPr>
          <p:spPr>
            <a:xfrm>
              <a:off x="20484990" y="18430637"/>
              <a:ext cx="2478285" cy="6745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200" spc="0" baseline="0" dirty="0">
                  <a:ln/>
                  <a:solidFill>
                    <a:srgbClr val="E2DCF5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Seeded prompts</a:t>
              </a: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9105D3F-2C81-A3C8-61D3-271EEF84AC1F}"/>
              </a:ext>
            </a:extLst>
          </p:cNvPr>
          <p:cNvSpPr/>
          <p:nvPr/>
        </p:nvSpPr>
        <p:spPr>
          <a:xfrm>
            <a:off x="9217312" y="3337223"/>
            <a:ext cx="387397" cy="45719"/>
          </a:xfrm>
          <a:custGeom>
            <a:avLst/>
            <a:gdLst>
              <a:gd name="csX0" fmla="*/ 0 w 791074"/>
              <a:gd name="csY0" fmla="*/ 0 h 34394"/>
              <a:gd name="csX1" fmla="*/ 791074 w 791074"/>
              <a:gd name="csY1" fmla="*/ 0 h 34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91074" h="34394">
                <a:moveTo>
                  <a:pt x="0" y="0"/>
                </a:moveTo>
                <a:lnTo>
                  <a:pt x="791074" y="0"/>
                </a:lnTo>
              </a:path>
            </a:pathLst>
          </a:custGeom>
          <a:ln w="85963" cap="flat">
            <a:solidFill>
              <a:srgbClr val="5B3F8A"/>
            </a:solidFill>
            <a:prstDash val="solid"/>
            <a:miter/>
          </a:ln>
        </p:spPr>
        <p:txBody>
          <a:bodyPr/>
          <a:lstStyle/>
          <a:p>
            <a:endParaRPr lang="LID4096" sz="60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C907D1-8CE7-38B7-9DDE-4D134D97FA55}"/>
              </a:ext>
            </a:extLst>
          </p:cNvPr>
          <p:cNvGrpSpPr/>
          <p:nvPr/>
        </p:nvGrpSpPr>
        <p:grpSpPr>
          <a:xfrm>
            <a:off x="9604709" y="1846386"/>
            <a:ext cx="1467740" cy="2981028"/>
            <a:chOff x="8946503" y="1799888"/>
            <a:chExt cx="1467740" cy="2981028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3EC9EF7-25E2-526E-39B3-E3D044D5CC6A}"/>
                </a:ext>
              </a:extLst>
            </p:cNvPr>
            <p:cNvSpPr/>
            <p:nvPr/>
          </p:nvSpPr>
          <p:spPr>
            <a:xfrm>
              <a:off x="8946503" y="1799888"/>
              <a:ext cx="1467740" cy="2981028"/>
            </a:xfrm>
            <a:prstGeom prst="roundRect">
              <a:avLst>
                <a:gd name="adj" fmla="val 5882"/>
              </a:avLst>
            </a:prstGeom>
            <a:solidFill>
              <a:srgbClr val="5B3F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60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0410551-C0CF-3C13-30F4-356B093EC9EC}"/>
                </a:ext>
              </a:extLst>
            </p:cNvPr>
            <p:cNvSpPr txBox="1"/>
            <p:nvPr/>
          </p:nvSpPr>
          <p:spPr>
            <a:xfrm>
              <a:off x="9026491" y="1861886"/>
              <a:ext cx="11716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6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Evaluation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97151C8-47A4-91F0-F4A4-8D9EF4F60CD4}"/>
                </a:ext>
              </a:extLst>
            </p:cNvPr>
            <p:cNvGrpSpPr/>
            <p:nvPr/>
          </p:nvGrpSpPr>
          <p:grpSpPr>
            <a:xfrm>
              <a:off x="9076009" y="2227748"/>
              <a:ext cx="1208727" cy="463853"/>
              <a:chOff x="27004575" y="14689881"/>
              <a:chExt cx="3852187" cy="1391480"/>
            </a:xfrm>
          </p:grpSpPr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59019F99-C1D0-A6B3-D4EB-1560A7DA9CC6}"/>
                  </a:ext>
                </a:extLst>
              </p:cNvPr>
              <p:cNvSpPr/>
              <p:nvPr/>
            </p:nvSpPr>
            <p:spPr>
              <a:xfrm>
                <a:off x="27004575" y="14689881"/>
                <a:ext cx="3852187" cy="1208446"/>
              </a:xfrm>
              <a:prstGeom prst="roundRect">
                <a:avLst>
                  <a:gd name="adj" fmla="val 14285"/>
                </a:avLst>
              </a:prstGeom>
              <a:solidFill>
                <a:srgbClr val="7B5EA7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99478D8-008C-432F-7DC0-0F638C5E0F9B}"/>
                  </a:ext>
                </a:extLst>
              </p:cNvPr>
              <p:cNvSpPr txBox="1"/>
              <p:nvPr/>
            </p:nvSpPr>
            <p:spPr>
              <a:xfrm>
                <a:off x="27125543" y="14689932"/>
                <a:ext cx="3610245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b="1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AUC-PR Lift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1A3CE67-DF21-755A-21C3-6246E1A70CF6}"/>
                  </a:ext>
                </a:extLst>
              </p:cNvPr>
              <p:cNvSpPr txBox="1"/>
              <p:nvPr/>
            </p:nvSpPr>
            <p:spPr>
              <a:xfrm>
                <a:off x="27071329" y="15250411"/>
                <a:ext cx="3692185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Primary metric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456A3B-BC39-3F72-E1EF-F09595AB6C8B}"/>
                </a:ext>
              </a:extLst>
            </p:cNvPr>
            <p:cNvGrpSpPr/>
            <p:nvPr/>
          </p:nvGrpSpPr>
          <p:grpSpPr>
            <a:xfrm>
              <a:off x="9076009" y="2703659"/>
              <a:ext cx="1208727" cy="307777"/>
              <a:chOff x="27004575" y="16064618"/>
              <a:chExt cx="3852187" cy="923277"/>
            </a:xfrm>
          </p:grpSpPr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278BBC2C-1559-436E-DAF1-88F0733B58CF}"/>
                  </a:ext>
                </a:extLst>
              </p:cNvPr>
              <p:cNvSpPr/>
              <p:nvPr/>
            </p:nvSpPr>
            <p:spPr>
              <a:xfrm>
                <a:off x="27004575" y="16173485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EAA0EAF-A5A0-03C5-45F5-943602BB50E0}"/>
                  </a:ext>
                </a:extLst>
              </p:cNvPr>
              <p:cNvSpPr txBox="1"/>
              <p:nvPr/>
            </p:nvSpPr>
            <p:spPr>
              <a:xfrm>
                <a:off x="27248838" y="16064618"/>
                <a:ext cx="3058091" cy="9232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AUC-ROC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F31A78-EE35-F97F-99F3-3C1837D5C291}"/>
                </a:ext>
              </a:extLst>
            </p:cNvPr>
            <p:cNvGrpSpPr/>
            <p:nvPr/>
          </p:nvGrpSpPr>
          <p:grpSpPr>
            <a:xfrm>
              <a:off x="9076009" y="3089900"/>
              <a:ext cx="1208727" cy="307777"/>
              <a:chOff x="27004575" y="17159656"/>
              <a:chExt cx="3852187" cy="923279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40AF60C9-EEB0-0DF2-2729-2880F6E2BABE}"/>
                  </a:ext>
                </a:extLst>
              </p:cNvPr>
              <p:cNvSpPr/>
              <p:nvPr/>
            </p:nvSpPr>
            <p:spPr>
              <a:xfrm>
                <a:off x="27004575" y="17205321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73F2D6E-79F8-3F02-91F2-34BFB26A88B3}"/>
                  </a:ext>
                </a:extLst>
              </p:cNvPr>
              <p:cNvSpPr txBox="1"/>
              <p:nvPr/>
            </p:nvSpPr>
            <p:spPr>
              <a:xfrm>
                <a:off x="27071327" y="17159656"/>
                <a:ext cx="3672164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Bootstrap CI</a:t>
                </a: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7A5F857-A94A-6FA4-EB68-44165EA91AC6}"/>
                </a:ext>
              </a:extLst>
            </p:cNvPr>
            <p:cNvGrpSpPr/>
            <p:nvPr/>
          </p:nvGrpSpPr>
          <p:grpSpPr>
            <a:xfrm>
              <a:off x="9076009" y="3479189"/>
              <a:ext cx="1208727" cy="307986"/>
              <a:chOff x="27010121" y="18795583"/>
              <a:chExt cx="3852187" cy="923905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99150DAF-6151-CC1F-C2A3-24B013063C43}"/>
                  </a:ext>
                </a:extLst>
              </p:cNvPr>
              <p:cNvSpPr/>
              <p:nvPr/>
            </p:nvSpPr>
            <p:spPr>
              <a:xfrm>
                <a:off x="27010121" y="18795583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D1ADBA-5D18-52CC-C5FD-37E5A15C0A71}"/>
                  </a:ext>
                </a:extLst>
              </p:cNvPr>
              <p:cNvSpPr txBox="1"/>
              <p:nvPr/>
            </p:nvSpPr>
            <p:spPr>
              <a:xfrm>
                <a:off x="27171038" y="18796209"/>
                <a:ext cx="3530340" cy="92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400" spc="0" baseline="0" dirty="0">
                    <a:ln/>
                    <a:solidFill>
                      <a:srgbClr val="FFFFFF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vs. Baseline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2DCDF99-DEFD-C416-872E-0A61FDCD6F93}"/>
                </a:ext>
              </a:extLst>
            </p:cNvPr>
            <p:cNvGrpSpPr/>
            <p:nvPr/>
          </p:nvGrpSpPr>
          <p:grpSpPr>
            <a:xfrm>
              <a:off x="8980937" y="3821528"/>
              <a:ext cx="1421799" cy="594246"/>
              <a:chOff x="26701583" y="19761659"/>
              <a:chExt cx="4531243" cy="1782637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A9C8B88C-59FF-18BB-88FE-DF9400971518}"/>
                  </a:ext>
                </a:extLst>
              </p:cNvPr>
              <p:cNvSpPr/>
              <p:nvPr/>
            </p:nvSpPr>
            <p:spPr>
              <a:xfrm>
                <a:off x="27004575" y="19819436"/>
                <a:ext cx="3852187" cy="1724860"/>
              </a:xfrm>
              <a:prstGeom prst="roundRect">
                <a:avLst>
                  <a:gd name="adj" fmla="val 18181"/>
                </a:avLst>
              </a:prstGeom>
              <a:solidFill>
                <a:srgbClr val="3D25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600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3E9C1D6-0DE6-0A81-A896-DAAF953618F0}"/>
                  </a:ext>
                </a:extLst>
              </p:cNvPr>
              <p:cNvSpPr txBox="1"/>
              <p:nvPr/>
            </p:nvSpPr>
            <p:spPr>
              <a:xfrm>
                <a:off x="26701583" y="19761659"/>
                <a:ext cx="4531243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External</a:t>
                </a:r>
                <a:r>
                  <a:rPr lang="en-US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 Validation</a:t>
                </a:r>
                <a:endParaRPr lang="LID4096" sz="1200" spc="0" baseline="0" dirty="0">
                  <a:ln/>
                  <a:solidFill>
                    <a:schemeClr val="bg1"/>
                  </a:solidFill>
                  <a:latin typeface="Aptos"/>
                  <a:ea typeface="Aptos"/>
                  <a:cs typeface="Aptos"/>
                  <a:sym typeface="Aptos"/>
                  <a:rtl val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758048-E867-3EF0-6E94-47F5B630393A}"/>
                  </a:ext>
                </a:extLst>
              </p:cNvPr>
              <p:cNvSpPr txBox="1"/>
              <p:nvPr/>
            </p:nvSpPr>
            <p:spPr>
              <a:xfrm>
                <a:off x="28039945" y="20208790"/>
                <a:ext cx="2468544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NHANES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A344D90-9997-473C-B3D0-A46FD06AF885}"/>
                  </a:ext>
                </a:extLst>
              </p:cNvPr>
              <p:cNvSpPr txBox="1"/>
              <p:nvPr/>
            </p:nvSpPr>
            <p:spPr>
              <a:xfrm>
                <a:off x="27892576" y="20655918"/>
                <a:ext cx="2705385" cy="830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1200" spc="0" baseline="0" dirty="0">
                    <a:ln/>
                    <a:solidFill>
                      <a:schemeClr val="bg1"/>
                    </a:solidFill>
                    <a:latin typeface="Aptos"/>
                    <a:ea typeface="Aptos"/>
                    <a:cs typeface="Aptos"/>
                    <a:sym typeface="Aptos"/>
                    <a:rtl val="0"/>
                  </a:rPr>
                  <a:t>EHRSHOT</a:t>
                </a:r>
              </a:p>
            </p:txBody>
          </p:sp>
        </p:grpSp>
      </p:grp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1113D95-1960-4652-89DE-A0136AB925D2}"/>
              </a:ext>
            </a:extLst>
          </p:cNvPr>
          <p:cNvSpPr/>
          <p:nvPr/>
        </p:nvSpPr>
        <p:spPr>
          <a:xfrm>
            <a:off x="863102" y="1790493"/>
            <a:ext cx="1803946" cy="2981113"/>
          </a:xfrm>
          <a:prstGeom prst="roundRect">
            <a:avLst>
              <a:gd name="adj" fmla="val 4242"/>
            </a:avLst>
          </a:prstGeom>
          <a:solidFill>
            <a:srgbClr val="5B3F8A"/>
          </a:solidFill>
          <a:ln w="14028" cap="flat">
            <a:noFill/>
            <a:prstDash val="solid"/>
            <a:miter/>
          </a:ln>
        </p:spPr>
        <p:txBody>
          <a:bodyPr/>
          <a:lstStyle/>
          <a:p>
            <a:pPr algn="ctr"/>
            <a:endParaRPr lang="LID4096" sz="8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5C2C30-5126-96B5-E4A2-1E0B9998DB79}"/>
              </a:ext>
            </a:extLst>
          </p:cNvPr>
          <p:cNvSpPr txBox="1"/>
          <p:nvPr/>
        </p:nvSpPr>
        <p:spPr>
          <a:xfrm>
            <a:off x="1496028" y="1904184"/>
            <a:ext cx="538092" cy="27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LID4096" sz="1600" b="1" spc="0" baseline="0" dirty="0">
                <a:ln/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  <a:rtl val="0"/>
              </a:rPr>
              <a:t>Dataset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AB4400-3439-6CAE-0715-B9502E526FB5}"/>
              </a:ext>
            </a:extLst>
          </p:cNvPr>
          <p:cNvSpPr txBox="1"/>
          <p:nvPr/>
        </p:nvSpPr>
        <p:spPr>
          <a:xfrm>
            <a:off x="1310172" y="2141054"/>
            <a:ext cx="909807" cy="212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ID4096" sz="1050" spc="0" baseline="0" dirty="0">
                <a:ln/>
                <a:solidFill>
                  <a:srgbClr val="C6BFEE"/>
                </a:solidFill>
                <a:latin typeface="Aptos"/>
                <a:ea typeface="Aptos"/>
                <a:cs typeface="Aptos"/>
                <a:sym typeface="Aptos"/>
                <a:rtl val="0"/>
              </a:rPr>
              <a:t>MIMIC-IV v3.1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91A92F-32CE-DE31-465F-C0A3AB72E617}"/>
              </a:ext>
            </a:extLst>
          </p:cNvPr>
          <p:cNvGrpSpPr/>
          <p:nvPr/>
        </p:nvGrpSpPr>
        <p:grpSpPr>
          <a:xfrm>
            <a:off x="961664" y="2350648"/>
            <a:ext cx="1606821" cy="317744"/>
            <a:chOff x="1144336" y="15349256"/>
            <a:chExt cx="5120904" cy="953179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468888BC-4A3A-418E-4EC5-FFB1C9D3B95D}"/>
                </a:ext>
              </a:extLst>
            </p:cNvPr>
            <p:cNvSpPr/>
            <p:nvPr/>
          </p:nvSpPr>
          <p:spPr>
            <a:xfrm>
              <a:off x="1144336" y="15349256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3D257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7EAB306-A08D-5352-A26E-307263CAA5B9}"/>
                </a:ext>
              </a:extLst>
            </p:cNvPr>
            <p:cNvSpPr txBox="1"/>
            <p:nvPr/>
          </p:nvSpPr>
          <p:spPr>
            <a:xfrm>
              <a:off x="1163936" y="15471484"/>
              <a:ext cx="5081704" cy="830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~223,000 patients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227A92-08BA-2731-0423-02C820CD0B50}"/>
              </a:ext>
            </a:extLst>
          </p:cNvPr>
          <p:cNvGrpSpPr/>
          <p:nvPr/>
        </p:nvGrpSpPr>
        <p:grpSpPr>
          <a:xfrm>
            <a:off x="961664" y="2763534"/>
            <a:ext cx="1606821" cy="317744"/>
            <a:chOff x="1144336" y="16192167"/>
            <a:chExt cx="5120904" cy="95317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EEC8E47A-5D26-6D21-D00F-F9BC9C3722DA}"/>
                </a:ext>
              </a:extLst>
            </p:cNvPr>
            <p:cNvSpPr/>
            <p:nvPr/>
          </p:nvSpPr>
          <p:spPr>
            <a:xfrm>
              <a:off x="1144336" y="16192167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3D257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CFF43E4-D5C5-1BF3-BB30-40B0CCCF1D25}"/>
                </a:ext>
              </a:extLst>
            </p:cNvPr>
            <p:cNvSpPr txBox="1"/>
            <p:nvPr/>
          </p:nvSpPr>
          <p:spPr>
            <a:xfrm>
              <a:off x="1384548" y="16314395"/>
              <a:ext cx="4640483" cy="830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1,950 cases (RA)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C7D3640-8037-6DC7-1B82-6887E9D8CF1F}"/>
              </a:ext>
            </a:extLst>
          </p:cNvPr>
          <p:cNvGrpSpPr/>
          <p:nvPr/>
        </p:nvGrpSpPr>
        <p:grpSpPr>
          <a:xfrm>
            <a:off x="961664" y="3176418"/>
            <a:ext cx="1606821" cy="294328"/>
            <a:chOff x="1144336" y="17035078"/>
            <a:chExt cx="5120904" cy="88293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E8120B3-17C5-373E-4319-2958DD25AD95}"/>
                </a:ext>
              </a:extLst>
            </p:cNvPr>
            <p:cNvSpPr/>
            <p:nvPr/>
          </p:nvSpPr>
          <p:spPr>
            <a:xfrm>
              <a:off x="1144336" y="17035078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11D443D-4B90-C34E-B36E-0F6ABCC53BAC}"/>
                </a:ext>
              </a:extLst>
            </p:cNvPr>
            <p:cNvSpPr txBox="1"/>
            <p:nvPr/>
          </p:nvSpPr>
          <p:spPr>
            <a:xfrm>
              <a:off x="1339150" y="17087062"/>
              <a:ext cx="4731274" cy="830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221,502 ctrl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1C389E-B45C-7BFA-B763-C43DCD562884}"/>
              </a:ext>
            </a:extLst>
          </p:cNvPr>
          <p:cNvGrpSpPr/>
          <p:nvPr/>
        </p:nvGrpSpPr>
        <p:grpSpPr>
          <a:xfrm>
            <a:off x="961664" y="3565889"/>
            <a:ext cx="1606821" cy="294329"/>
            <a:chOff x="1144336" y="17877988"/>
            <a:chExt cx="5120904" cy="88293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67EB1630-084E-C5EA-9B3A-183C3D90B67D}"/>
                </a:ext>
              </a:extLst>
            </p:cNvPr>
            <p:cNvSpPr/>
            <p:nvPr/>
          </p:nvSpPr>
          <p:spPr>
            <a:xfrm>
              <a:off x="1144336" y="17877988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EDBE06-023C-F2EC-70F7-F325F2846473}"/>
                </a:ext>
              </a:extLst>
            </p:cNvPr>
            <p:cNvSpPr txBox="1"/>
            <p:nvPr/>
          </p:nvSpPr>
          <p:spPr>
            <a:xfrm>
              <a:off x="1463165" y="17929975"/>
              <a:ext cx="4483247" cy="8309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2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~1% prevalence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BAD8267-26CF-F8BB-A02C-11943775957E}"/>
              </a:ext>
            </a:extLst>
          </p:cNvPr>
          <p:cNvGrpSpPr/>
          <p:nvPr/>
        </p:nvGrpSpPr>
        <p:grpSpPr>
          <a:xfrm>
            <a:off x="961664" y="3955357"/>
            <a:ext cx="1606821" cy="267169"/>
            <a:chOff x="1144336" y="18720899"/>
            <a:chExt cx="5120904" cy="801463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8F7BB1EF-C644-9A96-104E-BDAB5AC4BF75}"/>
                </a:ext>
              </a:extLst>
            </p:cNvPr>
            <p:cNvSpPr/>
            <p:nvPr/>
          </p:nvSpPr>
          <p:spPr>
            <a:xfrm>
              <a:off x="1144336" y="18720899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786A09C-DAE6-9BE3-DB6F-9E21FB25523E}"/>
                </a:ext>
              </a:extLst>
            </p:cNvPr>
            <p:cNvSpPr txBox="1"/>
            <p:nvPr/>
          </p:nvSpPr>
          <p:spPr>
            <a:xfrm>
              <a:off x="1375272" y="18772884"/>
              <a:ext cx="4659031" cy="7494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14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90-day LB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94B36C8-FDF7-31ED-F219-03394E5AD711}"/>
              </a:ext>
            </a:extLst>
          </p:cNvPr>
          <p:cNvGrpSpPr/>
          <p:nvPr/>
        </p:nvGrpSpPr>
        <p:grpSpPr>
          <a:xfrm>
            <a:off x="948836" y="4344827"/>
            <a:ext cx="1606821" cy="259858"/>
            <a:chOff x="1144336" y="19563810"/>
            <a:chExt cx="5120904" cy="77953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B0B0DA-2748-37FB-0ABE-E45645A91BAE}"/>
                </a:ext>
              </a:extLst>
            </p:cNvPr>
            <p:cNvSpPr/>
            <p:nvPr/>
          </p:nvSpPr>
          <p:spPr>
            <a:xfrm>
              <a:off x="1144336" y="19563810"/>
              <a:ext cx="5120904" cy="707886"/>
            </a:xfrm>
            <a:prstGeom prst="roundRect">
              <a:avLst>
                <a:gd name="adj" fmla="val 15384"/>
              </a:avLst>
            </a:prstGeom>
            <a:solidFill>
              <a:srgbClr val="2A1850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 sz="140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019E669-7E60-BC74-2526-2C6CDA9C2AAA}"/>
                </a:ext>
              </a:extLst>
            </p:cNvPr>
            <p:cNvSpPr txBox="1"/>
            <p:nvPr/>
          </p:nvSpPr>
          <p:spPr>
            <a:xfrm>
              <a:off x="1912544" y="19593862"/>
              <a:ext cx="3584477" cy="749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1400" b="1" spc="0" baseline="0" dirty="0">
                  <a:ln/>
                  <a:solidFill>
                    <a:srgbClr val="C6BFEE"/>
                  </a:solidFill>
                  <a:latin typeface="Aptos"/>
                  <a:ea typeface="Aptos"/>
                  <a:cs typeface="Aptos"/>
                  <a:sym typeface="Aptos"/>
                  <a:rtl val="0"/>
                </a:rPr>
                <a:t>24h index admit</a:t>
              </a:r>
            </a:p>
          </p:txBody>
        </p:sp>
      </p:grpSp>
      <p:sp>
        <p:nvSpPr>
          <p:cNvPr id="90" name="Text 0">
            <a:extLst>
              <a:ext uri="{FF2B5EF4-FFF2-40B4-BE49-F238E27FC236}">
                <a16:creationId xmlns:a16="http://schemas.microsoft.com/office/drawing/2014/main" id="{C9F898ED-7069-CD2E-C630-F0A48C0C2E8B}"/>
              </a:ext>
            </a:extLst>
          </p:cNvPr>
          <p:cNvSpPr/>
          <p:nvPr/>
        </p:nvSpPr>
        <p:spPr>
          <a:xfrm>
            <a:off x="1823397" y="477837"/>
            <a:ext cx="8526646" cy="46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Framework: Plug-and-Play Architecture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221300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37295"/>
            <a:ext cx="6151409" cy="815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Three Methods + Two Baselines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1707257"/>
            <a:ext cx="734200" cy="8811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1189" y="1854101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B1  ·  Threshold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571189" y="2119709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Single CBC feature + optimal cutoff (Youden’s index). Simplest interpretable rule.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2588419"/>
            <a:ext cx="734200" cy="8811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71189" y="2735263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M2 · Random Search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1571189" y="3000871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Random formulas from operator set. 10,000 attempts.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3469580"/>
            <a:ext cx="734200" cy="8811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71189" y="3616424"/>
            <a:ext cx="2334460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M3 · Genetic Programming ★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1571189" y="3882033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Evolutionary symbolic regression (gplearn). pop=500, gen=100. </a:t>
            </a:r>
            <a:r>
              <a:rPr lang="en-US" sz="11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Best performer.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4350742"/>
            <a:ext cx="734200" cy="8811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71189" y="4497586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M4 · LLM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1571189" y="4763195"/>
            <a:ext cx="531442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Med-Gemma 4B generates formulas. 94 unique valid outputs. </a:t>
            </a:r>
            <a:r>
              <a:rPr lang="en-US" sz="11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Best Formula complexity/performance</a:t>
            </a:r>
            <a:endParaRPr lang="en-US" sz="1150" b="1" dirty="0"/>
          </a:p>
        </p:txBody>
      </p:sp>
      <p:sp>
        <p:nvSpPr>
          <p:cNvPr id="16" name="Shape 9"/>
          <p:cNvSpPr/>
          <p:nvPr/>
        </p:nvSpPr>
        <p:spPr>
          <a:xfrm>
            <a:off x="734200" y="5347494"/>
            <a:ext cx="6151409" cy="657622"/>
          </a:xfrm>
          <a:prstGeom prst="roundRect">
            <a:avLst>
              <a:gd name="adj" fmla="val 9379"/>
            </a:avLst>
          </a:prstGeom>
          <a:solidFill>
            <a:srgbClr val="321A2C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040" y="5535910"/>
            <a:ext cx="183550" cy="1468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211431" y="5476677"/>
            <a:ext cx="552733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Two baselines: (B1) single-feature threshold · (B2) logistic regression using the same features as the winning formula. Methods M2–M4 compete against both.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300" y="906760"/>
            <a:ext cx="5271757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Results: Method Comparison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358076" y="2013843"/>
            <a:ext cx="4935712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GP Wins on RA — But Could </a:t>
            </a:r>
            <a:r>
              <a:rPr lang="en-US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It Do Better?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58076" y="2514997"/>
            <a:ext cx="5105669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 discovered </a:t>
            </a:r>
            <a:r>
              <a:rPr lang="en-US" sz="16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multiplicative interactions</a:t>
            </a:r>
            <a:r>
              <a:rPr lang="en-US" sz="16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no other method found. The winning formula: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743503" y="3815522"/>
            <a:ext cx="540063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(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mono_pct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/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neut_pct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)² × log(</a:t>
            </a:r>
            <a:r>
              <a:rPr lang="en-US" sz="1650" dirty="0" err="1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hct−mchc</a:t>
            </a:r>
            <a:r>
              <a:rPr lang="en-US" sz="1650" dirty="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rPr>
              <a:t>)</a:t>
            </a:r>
            <a:endParaRPr lang="en-US" sz="1650" dirty="0"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931A98-FDC9-C9F9-29EF-29AA4C7C81F1}"/>
              </a:ext>
            </a:extLst>
          </p:cNvPr>
          <p:cNvSpPr/>
          <p:nvPr/>
        </p:nvSpPr>
        <p:spPr>
          <a:xfrm>
            <a:off x="970391" y="2368244"/>
            <a:ext cx="4725356" cy="2598945"/>
          </a:xfrm>
          <a:prstGeom prst="roundRect">
            <a:avLst>
              <a:gd name="adj" fmla="val 2424"/>
            </a:avLst>
          </a:prstGeom>
          <a:noFill/>
          <a:ln w="11020" cap="flat">
            <a:solidFill>
              <a:srgbClr val="C8A4CC"/>
            </a:solidFill>
            <a:custDash>
              <a:ds d="45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A5649F5-E16F-833E-C0CA-D50839168FDE}"/>
              </a:ext>
            </a:extLst>
          </p:cNvPr>
          <p:cNvSpPr/>
          <p:nvPr/>
        </p:nvSpPr>
        <p:spPr>
          <a:xfrm>
            <a:off x="970391" y="4560809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BC4402E-6FFC-F48E-B366-603F4FFB3944}"/>
              </a:ext>
            </a:extLst>
          </p:cNvPr>
          <p:cNvSpPr/>
          <p:nvPr/>
        </p:nvSpPr>
        <p:spPr>
          <a:xfrm>
            <a:off x="970391" y="415521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C484D66-97EA-1893-4D1B-B61AA5DB6EA0}"/>
              </a:ext>
            </a:extLst>
          </p:cNvPr>
          <p:cNvSpPr/>
          <p:nvPr/>
        </p:nvSpPr>
        <p:spPr>
          <a:xfrm>
            <a:off x="970391" y="374883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C924AF0-2578-0EA6-C203-284AA14C5424}"/>
              </a:ext>
            </a:extLst>
          </p:cNvPr>
          <p:cNvSpPr/>
          <p:nvPr/>
        </p:nvSpPr>
        <p:spPr>
          <a:xfrm>
            <a:off x="970391" y="3343243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7993920-6344-292F-84C4-30FA742084B2}"/>
              </a:ext>
            </a:extLst>
          </p:cNvPr>
          <p:cNvSpPr/>
          <p:nvPr/>
        </p:nvSpPr>
        <p:spPr>
          <a:xfrm>
            <a:off x="970391" y="2936862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C5295CD-65C1-D0C7-D2D1-8E8F581F38A8}"/>
              </a:ext>
            </a:extLst>
          </p:cNvPr>
          <p:cNvSpPr/>
          <p:nvPr/>
        </p:nvSpPr>
        <p:spPr>
          <a:xfrm>
            <a:off x="970391" y="2530481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7871" cap="flat">
            <a:solidFill>
              <a:srgbClr val="DDD0E8"/>
            </a:solidFill>
            <a:custDash>
              <a:ds d="300000" sp="300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C465D79-C15F-BE23-C70A-32330BF49F1F}"/>
              </a:ext>
            </a:extLst>
          </p:cNvPr>
          <p:cNvSpPr/>
          <p:nvPr/>
        </p:nvSpPr>
        <p:spPr>
          <a:xfrm>
            <a:off x="970391" y="3755136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9446" cap="flat">
            <a:solidFill>
              <a:srgbClr val="7A2E6E">
                <a:alpha val="45000"/>
              </a:srgbClr>
            </a:solidFill>
            <a:custDash>
              <a:ds d="600000" sp="375000"/>
            </a:custDash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C3063B3-15C2-041C-61D6-DD03630B45B6}"/>
              </a:ext>
            </a:extLst>
          </p:cNvPr>
          <p:cNvSpPr/>
          <p:nvPr/>
        </p:nvSpPr>
        <p:spPr>
          <a:xfrm>
            <a:off x="1088525" y="3988197"/>
            <a:ext cx="551291" cy="979737"/>
          </a:xfrm>
          <a:prstGeom prst="roundRect">
            <a:avLst>
              <a:gd name="adj" fmla="val 4285"/>
            </a:avLst>
          </a:prstGeom>
          <a:solidFill>
            <a:srgbClr val="9E9E9E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44BBAD-7D06-879F-7A0C-1EAEAC815350}"/>
              </a:ext>
            </a:extLst>
          </p:cNvPr>
          <p:cNvSpPr/>
          <p:nvPr/>
        </p:nvSpPr>
        <p:spPr>
          <a:xfrm>
            <a:off x="1876084" y="3849643"/>
            <a:ext cx="551291" cy="1117546"/>
          </a:xfrm>
          <a:prstGeom prst="roundRect">
            <a:avLst>
              <a:gd name="adj" fmla="val 4285"/>
            </a:avLst>
          </a:prstGeom>
          <a:solidFill>
            <a:srgbClr val="9E9E9E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1CD7FE-276B-4772-2250-FD3A355F6494}"/>
              </a:ext>
            </a:extLst>
          </p:cNvPr>
          <p:cNvSpPr/>
          <p:nvPr/>
        </p:nvSpPr>
        <p:spPr>
          <a:xfrm>
            <a:off x="2663644" y="3897684"/>
            <a:ext cx="551291" cy="1069505"/>
          </a:xfrm>
          <a:prstGeom prst="roundRect">
            <a:avLst>
              <a:gd name="adj" fmla="val 4285"/>
            </a:avLst>
          </a:prstGeom>
          <a:solidFill>
            <a:srgbClr val="AE72A8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C04B39-184E-03B8-9894-576FB62A37A4}"/>
              </a:ext>
            </a:extLst>
          </p:cNvPr>
          <p:cNvSpPr/>
          <p:nvPr/>
        </p:nvSpPr>
        <p:spPr>
          <a:xfrm>
            <a:off x="3451203" y="3675593"/>
            <a:ext cx="551291" cy="1291597"/>
          </a:xfrm>
          <a:prstGeom prst="roundRect">
            <a:avLst>
              <a:gd name="adj" fmla="val 4285"/>
            </a:avLst>
          </a:prstGeom>
          <a:solidFill>
            <a:srgbClr val="C69CC1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D23027-4483-C07C-F0FE-2B52DF50E1FE}"/>
              </a:ext>
            </a:extLst>
          </p:cNvPr>
          <p:cNvSpPr/>
          <p:nvPr/>
        </p:nvSpPr>
        <p:spPr>
          <a:xfrm>
            <a:off x="4238763" y="3540920"/>
            <a:ext cx="551291" cy="1426269"/>
          </a:xfrm>
          <a:prstGeom prst="roundRect">
            <a:avLst>
              <a:gd name="adj" fmla="val 4285"/>
            </a:avLst>
          </a:prstGeom>
          <a:solidFill>
            <a:srgbClr val="D7B8D6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D747A8-8C7C-04BB-8711-9A5CC6B48E94}"/>
              </a:ext>
            </a:extLst>
          </p:cNvPr>
          <p:cNvSpPr/>
          <p:nvPr/>
        </p:nvSpPr>
        <p:spPr>
          <a:xfrm>
            <a:off x="5026322" y="3786639"/>
            <a:ext cx="551291" cy="1180551"/>
          </a:xfrm>
          <a:prstGeom prst="roundRect">
            <a:avLst>
              <a:gd name="adj" fmla="val 4285"/>
            </a:avLst>
          </a:prstGeom>
          <a:solidFill>
            <a:srgbClr val="E3CBE3"/>
          </a:solidFill>
          <a:ln w="7871" cap="flat">
            <a:noFill/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F4CD691-E797-BD90-0933-36C03786FD8C}"/>
              </a:ext>
            </a:extLst>
          </p:cNvPr>
          <p:cNvSpPr/>
          <p:nvPr/>
        </p:nvSpPr>
        <p:spPr>
          <a:xfrm>
            <a:off x="2151730" y="3849643"/>
            <a:ext cx="7875" cy="530815"/>
          </a:xfrm>
          <a:custGeom>
            <a:avLst/>
            <a:gdLst>
              <a:gd name="csX0" fmla="*/ 0 w 7875"/>
              <a:gd name="csY0" fmla="*/ 0 h 530815"/>
              <a:gd name="csX1" fmla="*/ 0 w 7875"/>
              <a:gd name="csY1" fmla="*/ 530815 h 53081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530815">
                <a:moveTo>
                  <a:pt x="0" y="0"/>
                </a:moveTo>
                <a:lnTo>
                  <a:pt x="0" y="530815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F390483-938E-05C7-3490-B9B2E94BA66D}"/>
              </a:ext>
            </a:extLst>
          </p:cNvPr>
          <p:cNvSpPr/>
          <p:nvPr/>
        </p:nvSpPr>
        <p:spPr>
          <a:xfrm>
            <a:off x="2088726" y="3849643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12E40FC-B496-5EB7-BB5B-388FF97C3526}"/>
              </a:ext>
            </a:extLst>
          </p:cNvPr>
          <p:cNvSpPr/>
          <p:nvPr/>
        </p:nvSpPr>
        <p:spPr>
          <a:xfrm>
            <a:off x="2088726" y="4380458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4717788D-8AFC-2B74-E763-58695F3638AB}"/>
              </a:ext>
            </a:extLst>
          </p:cNvPr>
          <p:cNvSpPr/>
          <p:nvPr/>
        </p:nvSpPr>
        <p:spPr>
          <a:xfrm>
            <a:off x="2939290" y="3351118"/>
            <a:ext cx="7875" cy="878916"/>
          </a:xfrm>
          <a:custGeom>
            <a:avLst/>
            <a:gdLst>
              <a:gd name="csX0" fmla="*/ 0 w 7875"/>
              <a:gd name="csY0" fmla="*/ 0 h 878916"/>
              <a:gd name="csX1" fmla="*/ 0 w 7875"/>
              <a:gd name="csY1" fmla="*/ 878916 h 8789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878916">
                <a:moveTo>
                  <a:pt x="0" y="0"/>
                </a:moveTo>
                <a:lnTo>
                  <a:pt x="0" y="878916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1B905E4D-EBB9-C552-EA4B-F0D2E40E1D6D}"/>
              </a:ext>
            </a:extLst>
          </p:cNvPr>
          <p:cNvSpPr/>
          <p:nvPr/>
        </p:nvSpPr>
        <p:spPr>
          <a:xfrm>
            <a:off x="2876285" y="3351118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AC9A8E2-7247-297F-2831-AAB1C782F34D}"/>
              </a:ext>
            </a:extLst>
          </p:cNvPr>
          <p:cNvSpPr/>
          <p:nvPr/>
        </p:nvSpPr>
        <p:spPr>
          <a:xfrm>
            <a:off x="2876285" y="423003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F3F1035-DBEE-E40F-0448-B6CE878116B4}"/>
              </a:ext>
            </a:extLst>
          </p:cNvPr>
          <p:cNvSpPr/>
          <p:nvPr/>
        </p:nvSpPr>
        <p:spPr>
          <a:xfrm>
            <a:off x="3726849" y="2558046"/>
            <a:ext cx="7875" cy="1513689"/>
          </a:xfrm>
          <a:custGeom>
            <a:avLst/>
            <a:gdLst>
              <a:gd name="csX0" fmla="*/ 0 w 7875"/>
              <a:gd name="csY0" fmla="*/ 0 h 1513689"/>
              <a:gd name="csX1" fmla="*/ 0 w 7875"/>
              <a:gd name="csY1" fmla="*/ 1513689 h 15136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1513689">
                <a:moveTo>
                  <a:pt x="0" y="0"/>
                </a:moveTo>
                <a:lnTo>
                  <a:pt x="0" y="1513689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B4C081A-7690-F86B-C6E8-262FAD81692C}"/>
              </a:ext>
            </a:extLst>
          </p:cNvPr>
          <p:cNvSpPr/>
          <p:nvPr/>
        </p:nvSpPr>
        <p:spPr>
          <a:xfrm>
            <a:off x="3663844" y="2558046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238685C-4B84-7AE2-8736-BF409D63C5D9}"/>
              </a:ext>
            </a:extLst>
          </p:cNvPr>
          <p:cNvSpPr/>
          <p:nvPr/>
        </p:nvSpPr>
        <p:spPr>
          <a:xfrm>
            <a:off x="3663844" y="407173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2578DF76-D219-8A91-1A96-4F59B18FF812}"/>
              </a:ext>
            </a:extLst>
          </p:cNvPr>
          <p:cNvSpPr/>
          <p:nvPr/>
        </p:nvSpPr>
        <p:spPr>
          <a:xfrm>
            <a:off x="5301968" y="3080985"/>
            <a:ext cx="7875" cy="1062417"/>
          </a:xfrm>
          <a:custGeom>
            <a:avLst/>
            <a:gdLst>
              <a:gd name="csX0" fmla="*/ 0 w 7875"/>
              <a:gd name="csY0" fmla="*/ 0 h 1062417"/>
              <a:gd name="csX1" fmla="*/ 0 w 7875"/>
              <a:gd name="csY1" fmla="*/ 1062418 h 106241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875" h="1062417">
                <a:moveTo>
                  <a:pt x="0" y="0"/>
                </a:moveTo>
                <a:lnTo>
                  <a:pt x="0" y="1062418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6490C4F-7BD5-9099-E188-83B4E9195725}"/>
              </a:ext>
            </a:extLst>
          </p:cNvPr>
          <p:cNvSpPr/>
          <p:nvPr/>
        </p:nvSpPr>
        <p:spPr>
          <a:xfrm>
            <a:off x="5238963" y="3080985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6DE6F20F-CD87-10D6-02D1-87E0D1D72DC7}"/>
              </a:ext>
            </a:extLst>
          </p:cNvPr>
          <p:cNvSpPr/>
          <p:nvPr/>
        </p:nvSpPr>
        <p:spPr>
          <a:xfrm>
            <a:off x="5238963" y="4143403"/>
            <a:ext cx="126009" cy="7875"/>
          </a:xfrm>
          <a:custGeom>
            <a:avLst/>
            <a:gdLst>
              <a:gd name="csX0" fmla="*/ 0 w 126009"/>
              <a:gd name="csY0" fmla="*/ 0 h 7875"/>
              <a:gd name="csX1" fmla="*/ 126010 w 126009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009" h="7875">
                <a:moveTo>
                  <a:pt x="0" y="0"/>
                </a:moveTo>
                <a:lnTo>
                  <a:pt x="126010" y="0"/>
                </a:lnTo>
              </a:path>
            </a:pathLst>
          </a:custGeom>
          <a:ln w="13381" cap="flat">
            <a:solidFill>
              <a:srgbClr val="5A2058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BC2112-86E2-37F4-3153-9BA7DD4BA479}"/>
              </a:ext>
            </a:extLst>
          </p:cNvPr>
          <p:cNvSpPr txBox="1"/>
          <p:nvPr/>
        </p:nvSpPr>
        <p:spPr>
          <a:xfrm>
            <a:off x="1158148" y="3796173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1.21×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3F1870-FB79-5E63-B063-2903310246E0}"/>
              </a:ext>
            </a:extLst>
          </p:cNvPr>
          <p:cNvSpPr txBox="1"/>
          <p:nvPr/>
        </p:nvSpPr>
        <p:spPr>
          <a:xfrm>
            <a:off x="1945708" y="3658141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1.38×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74A9EE-6B6F-7D56-9F15-016142073795}"/>
              </a:ext>
            </a:extLst>
          </p:cNvPr>
          <p:cNvSpPr txBox="1"/>
          <p:nvPr/>
        </p:nvSpPr>
        <p:spPr>
          <a:xfrm>
            <a:off x="2733267" y="3161979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1.32×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12B573-ACDB-5ED8-5275-E56F90E1C980}"/>
              </a:ext>
            </a:extLst>
          </p:cNvPr>
          <p:cNvSpPr txBox="1"/>
          <p:nvPr/>
        </p:nvSpPr>
        <p:spPr>
          <a:xfrm>
            <a:off x="3520827" y="2374419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1.59×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7E637B-FAD8-084F-9349-0C5E97FD8CC3}"/>
              </a:ext>
            </a:extLst>
          </p:cNvPr>
          <p:cNvSpPr txBox="1"/>
          <p:nvPr/>
        </p:nvSpPr>
        <p:spPr>
          <a:xfrm>
            <a:off x="4308386" y="3350993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1.76×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BF2673-0CAD-3A2B-888B-D98994C0D634}"/>
              </a:ext>
            </a:extLst>
          </p:cNvPr>
          <p:cNvSpPr txBox="1"/>
          <p:nvPr/>
        </p:nvSpPr>
        <p:spPr>
          <a:xfrm>
            <a:off x="5095945" y="2894208"/>
            <a:ext cx="461986" cy="22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63" b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1.45×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9A026E-9165-88DB-F84B-58FC9B02D3A2}"/>
              </a:ext>
            </a:extLst>
          </p:cNvPr>
          <p:cNvSpPr txBox="1"/>
          <p:nvPr/>
        </p:nvSpPr>
        <p:spPr>
          <a:xfrm>
            <a:off x="926205" y="3609395"/>
            <a:ext cx="965329" cy="202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13" i="1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Matched LR (B2): 1.21×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B24287-923D-A673-BD58-07F691507AF2}"/>
              </a:ext>
            </a:extLst>
          </p:cNvPr>
          <p:cNvSpPr/>
          <p:nvPr/>
        </p:nvSpPr>
        <p:spPr>
          <a:xfrm>
            <a:off x="970391" y="4967190"/>
            <a:ext cx="4725356" cy="7875"/>
          </a:xfrm>
          <a:custGeom>
            <a:avLst/>
            <a:gdLst>
              <a:gd name="csX0" fmla="*/ 0 w 4725356"/>
              <a:gd name="csY0" fmla="*/ 0 h 7875"/>
              <a:gd name="csX1" fmla="*/ 4725357 w 4725356"/>
              <a:gd name="csY1" fmla="*/ 0 h 78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725356" h="7875">
                <a:moveTo>
                  <a:pt x="0" y="0"/>
                </a:moveTo>
                <a:lnTo>
                  <a:pt x="4725357" y="0"/>
                </a:lnTo>
              </a:path>
            </a:pathLst>
          </a:custGeom>
          <a:ln w="6297" cap="flat">
            <a:solidFill>
              <a:srgbClr val="CCC0D0"/>
            </a:solidFill>
            <a:prstDash val="solid"/>
            <a:miter/>
          </a:ln>
        </p:spPr>
        <p:txBody>
          <a:bodyPr/>
          <a:lstStyle/>
          <a:p>
            <a:endParaRPr lang="LID4096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782993-176B-4408-FF6D-333FE5F58381}"/>
              </a:ext>
            </a:extLst>
          </p:cNvPr>
          <p:cNvSpPr txBox="1"/>
          <p:nvPr/>
        </p:nvSpPr>
        <p:spPr>
          <a:xfrm>
            <a:off x="1217359" y="4961179"/>
            <a:ext cx="32092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Matched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5C4747-0CE8-04E3-916B-7C2933BCF5A9}"/>
              </a:ext>
            </a:extLst>
          </p:cNvPr>
          <p:cNvSpPr txBox="1"/>
          <p:nvPr/>
        </p:nvSpPr>
        <p:spPr>
          <a:xfrm>
            <a:off x="1106574" y="5071437"/>
            <a:ext cx="59343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LR (B2)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242A63-56F4-8F85-1691-A80FE0AC7522}"/>
              </a:ext>
            </a:extLst>
          </p:cNvPr>
          <p:cNvSpPr txBox="1"/>
          <p:nvPr/>
        </p:nvSpPr>
        <p:spPr>
          <a:xfrm>
            <a:off x="2000118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B1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220FD7-B9CC-0C8A-D6F7-CF94E25515C4}"/>
              </a:ext>
            </a:extLst>
          </p:cNvPr>
          <p:cNvSpPr txBox="1"/>
          <p:nvPr/>
        </p:nvSpPr>
        <p:spPr>
          <a:xfrm>
            <a:off x="1867675" y="5071437"/>
            <a:ext cx="65755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Threshold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0F3CF2-143A-BEEF-0901-481838CCB0FD}"/>
              </a:ext>
            </a:extLst>
          </p:cNvPr>
          <p:cNvSpPr txBox="1"/>
          <p:nvPr/>
        </p:nvSpPr>
        <p:spPr>
          <a:xfrm>
            <a:off x="2787677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FA21BB-A47C-9FD8-5DAC-4EB991C8B6C9}"/>
              </a:ext>
            </a:extLst>
          </p:cNvPr>
          <p:cNvSpPr txBox="1"/>
          <p:nvPr/>
        </p:nvSpPr>
        <p:spPr>
          <a:xfrm>
            <a:off x="2684125" y="5071437"/>
            <a:ext cx="587020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Random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44216F-2F49-CCA9-3435-BFA618AD2581}"/>
              </a:ext>
            </a:extLst>
          </p:cNvPr>
          <p:cNvSpPr txBox="1"/>
          <p:nvPr/>
        </p:nvSpPr>
        <p:spPr>
          <a:xfrm>
            <a:off x="3575237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419E19-16F9-8CE9-1894-005FBB8EE05D}"/>
              </a:ext>
            </a:extLst>
          </p:cNvPr>
          <p:cNvSpPr txBox="1"/>
          <p:nvPr/>
        </p:nvSpPr>
        <p:spPr>
          <a:xfrm>
            <a:off x="3572825" y="5071437"/>
            <a:ext cx="33695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GP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20C1F9C-579A-764A-2617-960DAD4C6324}"/>
              </a:ext>
            </a:extLst>
          </p:cNvPr>
          <p:cNvSpPr txBox="1"/>
          <p:nvPr/>
        </p:nvSpPr>
        <p:spPr>
          <a:xfrm>
            <a:off x="4288178" y="4961179"/>
            <a:ext cx="51328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 GP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A9EA5D9-09D3-FAF8-C03E-81104D7107C6}"/>
              </a:ext>
            </a:extLst>
          </p:cNvPr>
          <p:cNvSpPr txBox="1"/>
          <p:nvPr/>
        </p:nvSpPr>
        <p:spPr>
          <a:xfrm>
            <a:off x="4273626" y="5071437"/>
            <a:ext cx="551754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Seeded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49F5B6-071B-A4EB-EF06-0C5FBBE9945B}"/>
              </a:ext>
            </a:extLst>
          </p:cNvPr>
          <p:cNvSpPr txBox="1"/>
          <p:nvPr/>
        </p:nvSpPr>
        <p:spPr>
          <a:xfrm>
            <a:off x="5150356" y="4961179"/>
            <a:ext cx="332142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B8773B-8F31-EE7E-7A4C-A9285CB1E7C9}"/>
              </a:ext>
            </a:extLst>
          </p:cNvPr>
          <p:cNvSpPr txBox="1"/>
          <p:nvPr/>
        </p:nvSpPr>
        <p:spPr>
          <a:xfrm>
            <a:off x="5126265" y="5071437"/>
            <a:ext cx="391454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82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LLM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187D00B-B46D-2241-FF28-114632E4AFDB}"/>
              </a:ext>
            </a:extLst>
          </p:cNvPr>
          <p:cNvSpPr txBox="1"/>
          <p:nvPr/>
        </p:nvSpPr>
        <p:spPr>
          <a:xfrm>
            <a:off x="3070883" y="5277695"/>
            <a:ext cx="599844" cy="2423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75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Method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A7E8723-150A-516D-5298-DC2980398CD5}"/>
              </a:ext>
            </a:extLst>
          </p:cNvPr>
          <p:cNvSpPr txBox="1"/>
          <p:nvPr/>
        </p:nvSpPr>
        <p:spPr>
          <a:xfrm>
            <a:off x="5659437" y="4850174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20BBB5F-861D-3EAB-AB79-7A2CF5F98E5C}"/>
              </a:ext>
            </a:extLst>
          </p:cNvPr>
          <p:cNvSpPr txBox="1"/>
          <p:nvPr/>
        </p:nvSpPr>
        <p:spPr>
          <a:xfrm>
            <a:off x="5659437" y="4443794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0.5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1354B9-7BE1-ED9F-AD33-1856ADFF2818}"/>
              </a:ext>
            </a:extLst>
          </p:cNvPr>
          <p:cNvSpPr txBox="1"/>
          <p:nvPr/>
        </p:nvSpPr>
        <p:spPr>
          <a:xfrm>
            <a:off x="5659437" y="4038201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2C46FA3-FB88-0073-31B5-D6E8CFC02F18}"/>
              </a:ext>
            </a:extLst>
          </p:cNvPr>
          <p:cNvSpPr txBox="1"/>
          <p:nvPr/>
        </p:nvSpPr>
        <p:spPr>
          <a:xfrm>
            <a:off x="5659437" y="3631820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1.5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B59E60-BD1D-87D7-4E7B-785AE726734B}"/>
              </a:ext>
            </a:extLst>
          </p:cNvPr>
          <p:cNvSpPr txBox="1"/>
          <p:nvPr/>
        </p:nvSpPr>
        <p:spPr>
          <a:xfrm>
            <a:off x="5659437" y="3226227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DFA59A-C4F1-1A33-5426-AB58453A10F6}"/>
              </a:ext>
            </a:extLst>
          </p:cNvPr>
          <p:cNvSpPr txBox="1"/>
          <p:nvPr/>
        </p:nvSpPr>
        <p:spPr>
          <a:xfrm>
            <a:off x="5659437" y="2819846"/>
            <a:ext cx="31771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2.5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5281D4-76EE-56A4-4748-8DCDCE84C18D}"/>
              </a:ext>
            </a:extLst>
          </p:cNvPr>
          <p:cNvSpPr txBox="1"/>
          <p:nvPr/>
        </p:nvSpPr>
        <p:spPr>
          <a:xfrm>
            <a:off x="5659437" y="2413466"/>
            <a:ext cx="237566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75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30C2AF-8D3D-1A40-898D-C6D6C330C6B9}"/>
              </a:ext>
            </a:extLst>
          </p:cNvPr>
          <p:cNvSpPr txBox="1"/>
          <p:nvPr/>
        </p:nvSpPr>
        <p:spPr>
          <a:xfrm rot="16200000">
            <a:off x="5499072" y="3552301"/>
            <a:ext cx="98937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00" spc="0" baseline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AUC-PR Lift (×)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B6DE00-B7AB-96A7-D870-FB6926B6E4CC}"/>
              </a:ext>
            </a:extLst>
          </p:cNvPr>
          <p:cNvSpPr txBox="1"/>
          <p:nvPr/>
        </p:nvSpPr>
        <p:spPr>
          <a:xfrm>
            <a:off x="758119" y="5874038"/>
            <a:ext cx="62985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LID4096" sz="900" i="1" spc="0" baseline="0" dirty="0">
                <a:ln/>
                <a:solidFill>
                  <a:schemeClr val="bg1"/>
                </a:solidFill>
                <a:latin typeface="Arial"/>
                <a:cs typeface="Arial"/>
                <a:sym typeface="Arial"/>
                <a:rtl val="0"/>
              </a:rPr>
              <a:t>M3 GP Seeded: best frozen-test run (gpt4o seeds, no bootstrap CI). Error bars = 95 % bootstrap CI on held-out test set.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595449-DE9C-D69F-A805-A6665F9A1333}"/>
              </a:ext>
            </a:extLst>
          </p:cNvPr>
          <p:cNvSpPr txBox="1"/>
          <p:nvPr/>
        </p:nvSpPr>
        <p:spPr>
          <a:xfrm>
            <a:off x="6358076" y="3246735"/>
            <a:ext cx="6096000" cy="40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>
              <a:lnSpc>
                <a:spcPct val="133000"/>
              </a:lnSpc>
              <a:defRPr sz="1650">
                <a:solidFill>
                  <a:srgbClr val="DAD8E9"/>
                </a:solidFill>
                <a:latin typeface="Aptos" panose="020B0004020202020204" pitchFamily="34" charset="0"/>
                <a:ea typeface="Mukta Light" pitchFamily="34" charset="-122"/>
                <a:cs typeface="Mukta Light" pitchFamily="34" charset="-120"/>
              </a:defRPr>
            </a:lvl1pPr>
          </a:lstStyle>
          <a:p>
            <a:r>
              <a:rPr lang="LID4096" dirty="0"/>
              <a:t>mono_pct × log(−(mono_pct−√rbc)) + log(hct−mchc)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4224528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• mono_pct / neut_pct  →  immune imbalance ratio  (↑ in autoimmune disease)
• hct − mchc  →  anemia severity signal  (↓ in chronic inflammation)</a:t>
            </a:r>
          </a:p>
        </p:txBody>
      </p:sp>
    </p:spTree>
    <p:extLst>
      <p:ext uri="{BB962C8B-B14F-4D97-AF65-F5344CB8AC3E}">
        <p14:creationId xmlns:p14="http://schemas.microsoft.com/office/powerpoint/2010/main" val="125301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 animBg="1"/>
      <p:bldP spid="43" grpId="0"/>
      <p:bldP spid="55" grpId="0"/>
      <p:bldP spid="56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7D"/>
                </a:solidFill>
                <a:latin typeface="Calibri"/>
              </a:rPr>
              <a:t>AUC-PR Lift Across All 6 Diseases — MIMIC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Lift = AUC-PR / prevalence. Values &gt; 1 mean the formula outperforms random flagging. Y-axis capped at 8× (M2 Lupus = 11.36×, M2 Psoriasis = 7.02×).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8872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  <a:latin typeface="Calibri"/>
              </a:rPr>
              <a:t>B1 = single-feature threshold baseline. M5 (dark green) = Seeded GP using LLM-generated formula seeds. T2D has no M5 (seeding not applied). M2’s high MIMIC lift on lup/psr reflects feature count overfitting — see next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397D"/>
                </a:solidFill>
                <a:latin typeface="Calibri"/>
              </a:rPr>
              <a:t>Why M5? M2 Overfits — M5 Generalises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5895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M2 (Random Search) uses 4–13 features and achieves very high MIMIC test-set lift. On EHRSHOT (unseen Stanford data) that advantage nearly vanishes. M5 (Seeded GP, 3–6 features) is more consistent across both datasets.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8872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Features used:  RA: M2=9, M5=4   |   Crohn: M2=13, M5=4   |   T1D: M2=6, M5=9   |   Psoriasis: M2=4, M5=3   |   Lupus: M2=8, M5=6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895945"/>
            <a:ext cx="615140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External Validation &amp; Generalization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34200" y="2811959"/>
            <a:ext cx="2999903" cy="2026940"/>
          </a:xfrm>
          <a:prstGeom prst="roundRect">
            <a:avLst>
              <a:gd name="adj" fmla="val 369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3"/>
          <p:cNvSpPr/>
          <p:nvPr/>
        </p:nvSpPr>
        <p:spPr>
          <a:xfrm>
            <a:off x="918842" y="2996605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MIMIC-IV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8842" y="3335139"/>
            <a:ext cx="2630620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 + internal test. ~223K patients, 6 diseases. Bootstrap CI (n=1,000).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85607" y="2811959"/>
            <a:ext cx="3000002" cy="2026940"/>
          </a:xfrm>
          <a:prstGeom prst="roundRect">
            <a:avLst>
              <a:gd name="adj" fmla="val 3695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6"/>
          <p:cNvSpPr/>
          <p:nvPr/>
        </p:nvSpPr>
        <p:spPr>
          <a:xfrm>
            <a:off x="4070248" y="2996605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NHANES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070248" y="3335139"/>
            <a:ext cx="2630719" cy="13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US national population survey. External validation for RA and Psoriasis only — other diseases excluded after questionnaire variable audit.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4200" y="4990405"/>
            <a:ext cx="6151409" cy="971649"/>
          </a:xfrm>
          <a:prstGeom prst="roundRect">
            <a:avLst>
              <a:gd name="adj" fmla="val 7708"/>
            </a:avLst>
          </a:prstGeom>
          <a:solidFill>
            <a:srgbClr val="542C49"/>
          </a:solidFill>
          <a:ln w="6350">
            <a:solidFill>
              <a:srgbClr val="6D456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918842" y="5175052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EHRSHOT (Stanford)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918842" y="5513586"/>
            <a:ext cx="5782126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External clinical validation. OMOP CDM format, different hospital system.</a:t>
            </a:r>
            <a:endParaRPr lang="en-US" sz="1400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4173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7D"/>
                </a:solidFill>
                <a:latin typeface="Calibri"/>
              </a:rPr>
              <a:t>EHRSHOT (Stanford EHR) — AUC-PR Lift  (lift = AUC-PR / cohort prevalence)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737360"/>
            <a:ext cx="11612880" cy="3931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NHANES (US population survey, RA + Psoriasis only): RA AUC-PR — M1: 0.082, M2: 0.077, M3: 0.079, M4: 0.102.  Psoriasis — M1: 0.022, M2: 0.033, M3: 0.038, M4: 0.035.  (Lift not computed: NHANES prevalence unknown due to self-report inflation.)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045766"/>
            <a:ext cx="3873105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Summary &amp; Closing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1607840"/>
            <a:ext cx="3024310" cy="18217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8251" y="1717973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00090" y="2195215"/>
            <a:ext cx="2692531" cy="407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Mathematical Structure &gt; Feature Selection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1299" y="1607840"/>
            <a:ext cx="3024310" cy="182175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85350" y="1717973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027188" y="2195215"/>
            <a:ext cx="2013793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Evolutionary Search Wins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027188" y="2460823"/>
            <a:ext cx="2692531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 beat all methods including a medical LLM. 50,000 structured evaluations over 100 generations found what random attempts and expert heuristics couldn't.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532386"/>
            <a:ext cx="6151409" cy="14181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21801" y="3642519"/>
            <a:ext cx="17620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00090" y="4119761"/>
            <a:ext cx="278013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Framework Is the Contribution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734200" y="5181699"/>
            <a:ext cx="593114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 rtl="1">
              <a:lnSpc>
                <a:spcPct val="113000"/>
              </a:lnSpc>
              <a:buNone/>
            </a:pPr>
            <a:endParaRPr lang="he-IL" sz="115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168933421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A181E9-547F-4EBE-88E5-970BE2F785E0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8d4609aa-1532-482e-a49f-ac0f4a2deb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1310</Words>
  <Application>Microsoft Office PowerPoint</Application>
  <PresentationFormat>Widescreen</PresentationFormat>
  <Paragraphs>160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Prompt Medium</vt:lpstr>
      <vt:lpstr>Mukta Light</vt:lpstr>
      <vt:lpstr>Aptos</vt:lpstr>
      <vt:lpstr>Calibri</vt:lpstr>
      <vt:lpstr>Arial</vt:lpstr>
      <vt:lpstr>Office Theme [1781168933421]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Ofek Vilkerstone</cp:lastModifiedBy>
  <cp:revision>9</cp:revision>
  <dcterms:created xsi:type="dcterms:W3CDTF">2026-06-11T07:51:33Z</dcterms:created>
  <dcterms:modified xsi:type="dcterms:W3CDTF">2026-06-22T20:42:48Z</dcterms:modified>
</cp:coreProperties>
</file>